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  <Relationship Id="rId32" Type="http://schemas.openxmlformats.org/officeDocument/2006/relationships/slide" Target="slides/slide31.xml"/>
  <Relationship Id="rId33" Type="http://schemas.openxmlformats.org/officeDocument/2006/relationships/slide" Target="slides/slide32.xml"/>
  <Relationship Id="rId34" Type="http://schemas.openxmlformats.org/officeDocument/2006/relationships/slide" Target="slides/slide3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8-bottom-grid-map.png"/>
  <Relationship Id="rId3" Type="http://schemas.openxmlformats.org/officeDocument/2006/relationships/image" Target="../media/latest-30-export-summary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1-home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2-inspection-setup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3-tank-profile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4-orientation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5-tank-overview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6-bottom-mfl-report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7-location-mode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8-bottom-grid-map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09-manual-xy-entry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0-plate-id-picker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1-confirm-location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2-defect-type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3-defect-details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4-measurements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5-evidence-required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6-evidence-with-photo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7-defect-saved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8-saved-defect-map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19-surface-review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0-shell-setup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1-shell-map.pn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2-roof-setup.pn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3-roof-map.pn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4-annular-setup.pn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5-annular-map.pn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6-nozzle-registry.pn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7-nozzle-list.pn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8-nozzle-clock-map.pn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29-inspection-validation.pn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30-export-summary.png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atest-31-submission-success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 w="9525">
            <a:solidFill>
              <a:srgbClr val="F4F7F6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4" name="Shape 4"/>
          <p:cNvSpPr/>
          <p:nvPr/>
        </p:nvSpPr>
        <p:spPr>
          <a:xfrm>
            <a:off x="594360" y="713232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800" b="1">
                <a:solidFill>
                  <a:srgbClr val="17201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21792" y="1371600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50" b="1">
                <a:solidFill>
                  <a:srgbClr val="075F5C"/>
                </a:solidFill>
                <a:latin typeface="Aptos"/>
              </a:rPr>
              <a:t>Latest screen-by-screen customer validation deck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621792" y="1828800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>
                <a:solidFill>
                  <a:srgbClr val="52625E"/>
                </a:solidFill>
                <a:latin typeface="Aptos"/>
              </a:rPr>
              <a:t>31 current mobile screens covering setup, tank profile, orientation, MFL import, surface geometry, defect capture, QA validation, export, and submission.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621792" y="2542032"/>
            <a:ext cx="530352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8" name="Shape 8"/>
          <p:cNvSpPr/>
          <p:nvPr/>
        </p:nvSpPr>
        <p:spPr>
          <a:xfrm>
            <a:off x="621792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52625E"/>
                </a:solidFill>
                <a:latin typeface="Aptos"/>
              </a:rPr>
              <a:t>Prepared for customer validation - April 20, 2026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621792" y="3127248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52625E"/>
                </a:solidFill>
                <a:latin typeface="Aptos"/>
              </a:rPr>
              <a:t>Workflow: setup -&gt; tank definition -&gt; surface geometry -&gt; location -&gt; defect capture -&gt; review -&gt; export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665976" y="870062"/>
            <a:ext cx="2441448" cy="51635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1" name="latest-08-bottom-gri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24926"/>
            <a:ext cx="2331720" cy="5053868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12" name="Shape 12"/>
          <p:cNvSpPr/>
          <p:nvPr/>
        </p:nvSpPr>
        <p:spPr>
          <a:xfrm>
            <a:off x="9290304" y="1068253"/>
            <a:ext cx="2258568" cy="476721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3" name="latest-30-export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123117"/>
            <a:ext cx="2148840" cy="4657486"/>
          </a:xfrm>
          <a:prstGeom prst="rect">
            <a:avLst/>
          </a:prstGeom>
          <a:ln>
            <a:solidFill>
              <a:srgbClr val="CBD8D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 w="9525">
            <a:solidFill>
              <a:srgbClr val="F4F7F6"/>
            </a:solidFill>
          </a:ln>
        </p:spPr>
      </p:sp>
      <p:sp>
        <p:nvSpPr>
          <p:cNvPr id="3" name="Shape 3"/>
          <p:cNvSpPr/>
          <p:nvPr/>
        </p:nvSpPr>
        <p:spPr>
          <a:xfrm>
            <a:off x="530352" y="347472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Validation Coverage</a:t>
            </a:r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548640" y="841248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100">
                <a:solidFill>
                  <a:srgbClr val="52625E"/>
                </a:solidFill>
                <a:latin typeface="Aptos"/>
              </a:rPr>
              <a:t>Screens included in this latest pass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48640" y="1152144"/>
            <a:ext cx="1106424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6" name="Shape 6"/>
          <p:cNvSpPr/>
          <p:nvPr/>
        </p:nvSpPr>
        <p:spPr>
          <a:xfrm>
            <a:off x="658368" y="1508760"/>
            <a:ext cx="3246120" cy="68580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7" name="Shape 7"/>
          <p:cNvSpPr/>
          <p:nvPr/>
        </p:nvSpPr>
        <p:spPr>
          <a:xfrm>
            <a:off x="822960" y="161848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Start and resume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822960" y="18745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 screens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4407408" y="1508760"/>
            <a:ext cx="3246120" cy="68580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4572000" y="161848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Tank definition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4572000" y="18745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 screens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8156448" y="1508760"/>
            <a:ext cx="3246120" cy="68580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3" name="Shape 13"/>
          <p:cNvSpPr/>
          <p:nvPr/>
        </p:nvSpPr>
        <p:spPr>
          <a:xfrm>
            <a:off x="8321040" y="161848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Surface selection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321040" y="18745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 screen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658368" y="2468880"/>
            <a:ext cx="3246120" cy="68580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22960" y="257860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Bottom inspection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22960" y="28346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 screen</a:t>
            </a:r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4407408" y="2468880"/>
            <a:ext cx="3246120" cy="68580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9" name="Shape 19"/>
          <p:cNvSpPr/>
          <p:nvPr/>
        </p:nvSpPr>
        <p:spPr>
          <a:xfrm>
            <a:off x="4572000" y="257860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4572000" y="28346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5 screens</a:t>
            </a:r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8156448" y="2468880"/>
            <a:ext cx="3246120" cy="685800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321040" y="257860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8321040" y="28346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5 screens</a:t>
            </a:r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658368" y="3429000"/>
            <a:ext cx="3246120" cy="68580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22960" y="353872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822960" y="379476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 screens</a:t>
            </a:r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4407408" y="3429000"/>
            <a:ext cx="3246120" cy="68580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28" name="Shape 28"/>
          <p:cNvSpPr/>
          <p:nvPr/>
        </p:nvSpPr>
        <p:spPr>
          <a:xfrm>
            <a:off x="4572000" y="353872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4572000" y="379476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9 screens</a:t>
            </a:r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8156448" y="3429000"/>
            <a:ext cx="3246120" cy="685800"/>
          </a:xfrm>
          <a:prstGeom prst="rect">
            <a:avLst/>
          </a:prstGeom>
          <a:solidFill>
            <a:srgbClr val="FEE2E2"/>
          </a:solidFill>
          <a:ln w="9525">
            <a:solidFill>
              <a:srgbClr val="CBD8D4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321040" y="3538728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 b="1">
                <a:solidFill>
                  <a:srgbClr val="075F5C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8321040" y="379476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 screens</a:t>
            </a:r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658368" y="4096512"/>
            <a:ext cx="10972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4" name="Shape 34"/>
          <p:cNvSpPr/>
          <p:nvPr/>
        </p:nvSpPr>
        <p:spPr>
          <a:xfrm>
            <a:off x="841248" y="42702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How to use this deck</a:t>
            </a:r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841248" y="4645152"/>
            <a:ext cx="1046988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Each screen slide includes the current screenshot, the customer-facing purpose, and validation questions.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Use the right-side validation points as the meeting checklist for feature sign-off.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The screenshots were captured from the current React app on localhost at mobile viewport 430 x 932.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Start and resume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01 - Home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Entry point for field inspection work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Lets an inspector start a new tank inspection, resume the current draft, or review prior work while keeping the active tank context visible.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active draft summary uses customer-recognisable site, tank, inspection type, and inspector fields.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that Start New Inspection and Resume Draft Inspection are the right primary actions for field users.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sync badge language - Draft, Unsynced, Synced - is understandable to non-technical inspectors.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3 / 33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Start and resume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2-inspection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02 - Inspection Setup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Define the inspection context before capture begins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Captures site, client, tank ID, and inspection type so every defect record is tied to the correct asset and inspection session.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Validate required setup fields: Site, Tank ID, and Inspection Type.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Confirm the pre-filled TK-201 demo values are credible for customer walkthroughs.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Save Draft behavior is clear for interrupted field work.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4 / 33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Tank definition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3-tank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03 - Tank Profile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Capture tank dimensions and construction standard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Collects physical tank data required to generate repeatable floor, shell, roof, annular, and nozzle location maps.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design code choices reflect customer language: API 650, API 653, or Other.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diameter, height, capacity, roof type, and foundation type as the right minimum profile fields.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these fields are sufficient for downstream layout drawing and defect overlay generation.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5 / 33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Tank definition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4-ori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04 - Tank Orientation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Set GPS position and azimuth reference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Defines how shell and top-view defect positions map to real-world orientation using True North or a physical reference marker.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True North versus Physical Marker matches customer field practice.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GPS should be optional, required, or manually entered when device GPS is unavailable.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compass preview is enough to explain 0 degree orientation during customer review.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6 / 33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selection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5-tank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05 - Tank Overview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Choose the tank surface to inspect next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all inspectable surfaces and whether each surface is ready, requires setup, has defects, or is complete.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Validate the surface list: Bottom, Shell, Roof, Annular ring, and Nozzle area.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Confirm setup-required badges make sense before shell, roof, annular, and nozzle inspection begins.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Bottom should route to MFL import before manual defect capture.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7 / 33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Bottom inspection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6-bottom-mfl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06 - Bottom MFL Report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Import contractor MFL results for tank bottom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Records the Magnetic Flux Leakage report for the bottom surface, including contractor, report reference, date, coverage, anomaly count, severity, and notes.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Validate MFL as the default bottom inspection path for customer operations.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Confirm severity labels: Clean, Minor findings, Significant findings, Critical findings.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Add Manual Observations is the right secondary action when MFL does not capture all observations.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8 / 33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7-locatio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07 - Location Mode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Select the most practical way to locate a defect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Offers three capture methods: tap the surface map, type X/Y coordinates, or search a plate ID from the drawing.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Tap on Grid Map should remain the recommended mode.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Manual X,Y Entry for checklist-driven inspections.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Validate Plate ID Entry for inspectors working from tank drawings.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9 / 33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8-bottom-gri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08 - Bottom Grid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Pick a valid bottom plate partition on the map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Renders the bottom surface as a grid with disabled outside cells, annular edge highlighting, plate IDs, prior defects, repairs, and a selected location summary.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grid abstraction is understandable for bottom plate inspection.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the overlay controls: Plate IDs, Grid labels, Prior defects, and Repairs.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selected X/Y, Grid ID, and Plate ID summary provides enough audit detail.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10 / 33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09-manual-xy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09 - Manual X,Y Entry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Type coordinates when map tapping is impractical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Accepts integer X and Y partitions and validates them against the active surface grid and inspectable footprint.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integer X/Y input is enough for field checklist workflows.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the valid/invalid partition message wording.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Preview on Map and Confirm Location are the right next actions.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11 / 33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0-plate-id-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10 - Plate ID Picker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Search a drawing plate ID to resolve coordinates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Lets the inspector choose a known plate number and automatically maps it to X/Y grid coordinates.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plate search matches customer drawing conventions.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which plate metadata should appear in each result: ID, subzone, and grid coordinate.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Show on Map is useful before locking the location.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12 / 33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Location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1-confirm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11 - Confirm Location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Lock the selected surface position before defect typing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a final location summary and preview map so spatial data is confirmed before the inspector records defect details.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location cannot advance without a valid selected position.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the mini map is enough to catch an incorrect plate or grid cell.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Edit Location should return to the original location method.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13 / 33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2-defect-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12 - Defect Type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Classify the defect at the locked location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Starts the defect record by selecting the primary defect type linked to the confirmed surface and grid ID.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Validate the eight defect types against customer taxonomy.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Confirm one-tap selection is acceptable or whether a confirmation step is needed.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location in the subtitle is visible enough as context.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14 / 33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3-defect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13 - Defect Details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Capture severity, extent, subtype, weld context, and notes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Collects qualitative defect details before numeric measurements and evidence are added.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severity choices: Minor, Moderate, Severe.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weld seam options for shell, bottom, roof, annular, and nozzle contexts.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required fields before moving to measurements.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15 / 33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4-measu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14 - Measurements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Record numeric readings based on defect type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Provides dynamic measurement fields for UT thickness, minimum thickness, pit depth, crack sizing, or deformation.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measurement method field is needed for audit traceability.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corrosion measurement fields: UT thickness, minimum thickness, and pit depth.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non-blocking warnings are acceptable before final QA review.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16 / 33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5-evidence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15 - Evidence Required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Block save until photo evidence is attached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Requires at least one photo before the defect record can be saved locally.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photo evidence should be mandatory for all saved defects.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Take Photo versus Upload Photo as the right field actions.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disabled Save Defect state is obvious enough.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17 / 33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F3C7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Defect capture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6-evidence-with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16 - Evidence With Photo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Link each photo to the surface and grid coordinate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attached evidence cards with photo preview, surface link, coordinate link, and delete control.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linked location metadata is sufficient for customer reporting.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multiple photos per defect are needed.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Delete is enough for replacing incorrect or blurred evidence.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18 / 33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7-defect-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17 - Defect Saved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Confirm the local defect record was saved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Summarizes the saved defect and lets the inspector add another defect, return to the surface map, or finish the surface.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saved summary has the right fields: type, severity, location, and photo count.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Add Another Defect behavior for repeated observations at the same area.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Finish Surface is the right path into QA review.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19 / 33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8-saved-defec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18 - Saved Defect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Review spatial defect markers for the active surface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Displays all saved defects on the surface map alongside overlays and MFL status where applicable.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saved defect markers are visible enough on the grid.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MFL-not-imported warnings should appear on the bottom surface map.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Add New Defect and Finish Surface are the right review actions.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20 / 33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19-surface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19 - Surface Review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Run per-surface QA before marking complete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surface metrics, warnings, MFL status, and completion actions before the surface is marked complete.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warning language for missing MFL, missing photos, missing subtype, and empty surfaces.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Mark Surface Complete should be allowed with non-blocking warnings.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metrics panel is enough for customer QA review.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21 / 33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0-shell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20 - Shell Setup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Define shell course and plate geometry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Calculates shell layout from tank diameter, height, course count, plate width, and seam offset rules.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shell course count and plate width are the right minimum drawing inputs.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seam offset rules: half plate, third plate, or custom.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derived layout values are meaningful to inspectors and engineers.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22 / 33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1-shell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21 - Shell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Inspect shell using an unwrapped course-by-plate map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Renders the shell as an unwrapped cylinder with course rows, plate columns, seam origins, azimuth ticks, and defect markers.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unwrapped shell representation is acceptable for customer field users.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course and plate terminology: C1, C2, P1, P2.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azimuth and elevation summaries are sufficient for report handoff.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23 / 33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2-roof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22 - Roof Setup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Configure roof sectors and radial rings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Defines a polar roof grid using angular sectors and concentric radial rings.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typical sector and ring counts for customer tank roofs.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floating roof handling and whether apex height should be hidden or optional.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preview communicates the roof map convention.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24 / 33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3-roof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23 - Roof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Locate roof observations by sector and ring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Provides a polar roof map with selected sector, ring, azimuth range, and zone summary.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sector/ring location language matches how customers inspect roofs.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0 degree reference placement against the orientation screen.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selected roof zone is obvious on touch devices.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25 / 33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4-annular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24 - Annular Ring Setup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Define annular inspection band width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Captures annular ring width and previews the band around the floor-to-shell junction.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default annular width and API 650 guidance text with customers.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width should be imported from drawings instead of entered manually.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this setup should route directly to the annular map.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26 / 33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5-annular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25 - Annular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Inspect annular defects by azimuth zone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the annular band as 36 ten-degree zones around the tank floor edge.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10 degree annular zones are the right resolution for customer use.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customers need plate IDs in addition to azimuth zones.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zone selection and range labels are easy to explain.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27 / 33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6-nozzle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26 - Nozzle Registry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Register nozzles and manways before inspection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Stores nozzle ID, type, azimuth, elevation, diameter, and optional description to support nozzle-specific defect maps.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the nozzle registry fields match customer asset drawings.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whether nozzle data should be manually entered or imported.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add/remove behavior is sufficient for the prototype.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28 / 33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7-nozzl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27 - Nozzle Inspection List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Choose a nozzle or manway to inspect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Lists registered nozzles with azimuth, elevation, diameter, and per-nozzle defect count.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registered nozzle metadata is enough to identify the correct feature in the field.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defect count badges for completed or in-progress nozzle inspection.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Edit Nozzle Registry remains accessible during inspection.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29 / 33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Surface geometry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8-nozzle-clock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28 - Nozzle Clock Map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Locate nozzle defects by clock position and radial distance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Maps defects around a selected nozzle using 12 clock positions and 3 radial distance rings from the nozzle centerline.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clock-position language is familiar to inspectors.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50 mm, 100 mm, and 150 mm rings for nozzle weld inspection.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the selected zone summary should include nozzle ID, position, and distance.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30 / 33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E2E2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29-inspection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29 - Inspection Validation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Run whole-inspection QA before export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Checks required surfaces, photo evidence, and location validity before submission.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Bottom and Shell are the required surfaces for the current inspection type.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warning language when required surfaces are incomplete.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disabled Submit Inspection behavior when blocking warnings exist.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31 / 33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E2E2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30-export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30 - Export &amp; Summary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Review summary metrics and download report-ready data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Shows the inspection summary, tank profile, orientation, findings, MFL status, and export actions for JSON and CSV.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JSON package and defect CSV are the right export formats for the next reporting step.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executive summary fields for customer reporting.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Confirm &amp; Submit Inspection should live on this screen after QA passes.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32 / 33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3" name="Shape 3"/>
          <p:cNvSpPr/>
          <p:nvPr/>
        </p:nvSpPr>
        <p:spPr>
          <a:xfrm>
            <a:off x="219456" y="219456"/>
            <a:ext cx="2889504" cy="402336"/>
          </a:xfrm>
          <a:prstGeom prst="rect">
            <a:avLst/>
          </a:prstGeom>
          <a:solidFill>
            <a:srgbClr val="FEE2E2"/>
          </a:solidFill>
          <a:ln w="9525">
            <a:solidFill>
              <a:srgbClr val="CBD8D4"/>
            </a:solidFill>
          </a:ln>
        </p:spPr>
      </p:sp>
      <p:sp>
        <p:nvSpPr>
          <p:cNvPr id="4" name="Shape 4"/>
          <p:cNvSpPr/>
          <p:nvPr/>
        </p:nvSpPr>
        <p:spPr>
          <a:xfrm>
            <a:off x="310896" y="237744"/>
            <a:ext cx="2706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64008" tIns="36576" rIns="64008" bIns="36576"/>
          <a:lstStyle/>
          <a:p>
            <a:pPr algn="l"/>
            <a:r>
              <a:rPr lang="en-US" sz="950" b="1">
                <a:solidFill>
                  <a:srgbClr val="075F5C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2257" y="731520"/>
            <a:ext cx="2674757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latest-31-submission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21" y="786384"/>
            <a:ext cx="2565029" cy="555955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 7"/>
          <p:cNvSpPr/>
          <p:nvPr/>
        </p:nvSpPr>
        <p:spPr>
          <a:xfrm>
            <a:off x="3493008" y="219456"/>
            <a:ext cx="54864" cy="635508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8" name="Shape 8"/>
          <p:cNvSpPr/>
          <p:nvPr/>
        </p:nvSpPr>
        <p:spPr>
          <a:xfrm>
            <a:off x="3749040" y="27432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2050" b="1">
                <a:solidFill>
                  <a:srgbClr val="075F5C"/>
                </a:solidFill>
                <a:latin typeface="Aptos"/>
              </a:rPr>
              <a:t>Screen 31 - Submission Success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749040" y="786384"/>
            <a:ext cx="8092440" cy="13716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749040" y="896112"/>
            <a:ext cx="7955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300" b="1">
                <a:solidFill>
                  <a:srgbClr val="17201E"/>
                </a:solidFill>
                <a:latin typeface="Aptos"/>
              </a:rPr>
              <a:t>Confirm the inspection dataset has been generated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749040" y="1261872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40">
                <a:solidFill>
                  <a:srgbClr val="52625E"/>
                </a:solidFill>
                <a:latin typeface="Aptos"/>
              </a:rPr>
              <a:t>Closes the workflow and gives the inspector options to review the defect map, start another inspection, or return home.</a:t>
            </a:r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49040" y="22128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200" b="1">
                <a:solidFill>
                  <a:srgbClr val="075F5C"/>
                </a:solidFill>
                <a:latin typeface="Aptos"/>
              </a:rPr>
              <a:t>Customer validation points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3749040" y="2578608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913632" y="2670048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1. Confirm success wording reflects the real integration state for the prototype.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3749040" y="3602736"/>
            <a:ext cx="8092440" cy="80467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913632" y="3694176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2. Validate next actions after submission.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3749040" y="4626864"/>
            <a:ext cx="8092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913632" y="4718304"/>
            <a:ext cx="7754112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1000">
                <a:solidFill>
                  <a:srgbClr val="17201E"/>
                </a:solidFill>
                <a:latin typeface="Aptos"/>
              </a:rPr>
              <a:t>3. Confirm sync status changes to Synced after final submission.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02920" y="65653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l"/>
            <a:r>
              <a:rPr lang="en-US" sz="800">
                <a:solidFill>
                  <a:srgbClr val="52625E"/>
                </a:solidFill>
                <a:latin typeface="Aptos"/>
              </a:rPr>
              <a:t>Tank Inspection Copilot - Latest Screen Review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11384280" y="656539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64008" tIns="36576" rIns="64008" bIns="36576"/>
          <a:lstStyle/>
          <a:p>
            <a:pPr algn="r"/>
            <a:r>
              <a:rPr lang="en-US" sz="800">
                <a:solidFill>
                  <a:srgbClr val="52625E"/>
                </a:solidFill>
                <a:latin typeface="Aptos"/>
              </a:rPr>
              <a:t>33 / 33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kInspection">
  <a:themeElements>
    <a:clrScheme name="TankInspection">
      <a:dk1>
        <a:srgbClr val="17201E"/>
      </a:dk1>
      <a:lt1>
        <a:srgbClr val="FFFFFF"/>
      </a:lt1>
      <a:dk2>
        <a:srgbClr val="0E3432"/>
      </a:dk2>
      <a:lt2>
        <a:srgbClr val="F4F7F6"/>
      </a:lt2>
      <a:accent1>
        <a:srgbClr val="075F5C"/>
      </a:accent1>
      <a:accent2>
        <a:srgbClr val="DCEFE9"/>
      </a:accent2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Tank Inspection Copilot</Application>
  <PresentationFormat>On-screen Show (16:9)</PresentationFormat>
  <Slides>33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Tank Inspection Copilot - Latest Screen Review</dc:title>
  <dc:creator>Oscar</dc:creator>
  <dcterms:created xsi:type="dcterms:W3CDTF">2026-04-20T00:00:00Z</dcterms:created>
  <dcterms:modified xsi:type="dcterms:W3CDTF">2026-04-20T00:00:00Z</dcterms:modified>
</cp:coreProperties>
</file>