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3-grid-location-picker-main.png"/>
  <Relationship Id="rId3" Type="http://schemas.openxmlformats.org/officeDocument/2006/relationships/image" Target="../media/10-defect-saved-main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1-home.png"/>
  <Relationship Id="rId3" Type="http://schemas.openxmlformats.org/officeDocument/2006/relationships/image" Target="../media/03-grid-location-picker.png"/>
  <Relationship Id="rId4" Type="http://schemas.openxmlformats.org/officeDocument/2006/relationships/image" Target="../media/08-evidence-required-main.png"/>
  <Relationship Id="rId5" Type="http://schemas.openxmlformats.org/officeDocument/2006/relationships/image" Target="../media/13-inspection-validation-main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1-home.png"/>
  <Relationship Id="rId3" Type="http://schemas.openxmlformats.org/officeDocument/2006/relationships/image" Target="../media/02-surface-overview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3-grid-location-picker-main.png"/>
  <Relationship Id="rId3" Type="http://schemas.openxmlformats.org/officeDocument/2006/relationships/image" Target="../media/04-location-confirmation-main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3-grid-location-picker-main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5-defect-type-main.png"/>
  <Relationship Id="rId3" Type="http://schemas.openxmlformats.org/officeDocument/2006/relationships/image" Target="../media/06-defect-details-main.png"/>
  <Relationship Id="rId4" Type="http://schemas.openxmlformats.org/officeDocument/2006/relationships/image" Target="../media/07-measurements-main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8-evidence-required-main.png"/>
  <Relationship Id="rId3" Type="http://schemas.openxmlformats.org/officeDocument/2006/relationships/image" Target="../media/09-evidence-with-photo-main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0-defect-saved-main.png"/>
  <Relationship Id="rId3" Type="http://schemas.openxmlformats.org/officeDocument/2006/relationships/image" Target="../media/11-saved-defect-map-main.png"/>
  <Relationship Id="rId4" Type="http://schemas.openxmlformats.org/officeDocument/2006/relationships/image" Target="../media/12-surface-review-main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3-inspection-validation-main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 w="9525">
            <a:solidFill>
              <a:srgbClr val="F4F7F6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75F5C"/>
          </a:solidFill>
          <a:ln w="9525">
            <a:solidFill>
              <a:srgbClr val="075F5C"/>
            </a:solidFill>
          </a:ln>
        </p:spPr>
      </p:sp>
      <p:sp>
        <p:nvSpPr>
          <p:cNvPr id="4" name="Shape"/>
          <p:cNvSpPr/>
          <p:nvPr/>
        </p:nvSpPr>
        <p:spPr>
          <a:xfrm>
            <a:off x="594360" y="685800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800" b="1">
                <a:solidFill>
                  <a:srgbClr val="17201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5" name="Shape"/>
          <p:cNvSpPr/>
          <p:nvPr/>
        </p:nvSpPr>
        <p:spPr>
          <a:xfrm>
            <a:off x="621792" y="1353312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Mobile app UI product report</a:t>
            </a:r>
            <a:endParaRPr lang="en-US"/>
          </a:p>
        </p:txBody>
      </p:sp>
      <p:sp>
        <p:nvSpPr>
          <p:cNvPr id="6" name="Shape"/>
          <p:cNvSpPr/>
          <p:nvPr/>
        </p:nvSpPr>
        <p:spPr>
          <a:xfrm>
            <a:off x="621792" y="1847088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200">
                <a:solidFill>
                  <a:srgbClr val="52625E"/>
                </a:solidFill>
                <a:latin typeface="Aptos"/>
              </a:rPr>
              <a:t>16:9 presentation deck generated from the Word report and mobile UI screenshots.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621792" y="2788920"/>
            <a:ext cx="4937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8" name="Shape"/>
          <p:cNvSpPr/>
          <p:nvPr/>
        </p:nvSpPr>
        <p:spPr>
          <a:xfrm>
            <a:off x="786384" y="2916936"/>
            <a:ext cx="46085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Core idea</a:t>
            </a:r>
            <a:endParaRPr lang="en-US"/>
          </a:p>
        </p:txBody>
      </p:sp>
      <p:sp>
        <p:nvSpPr>
          <p:cNvPr id="9" name="Shape"/>
          <p:cNvSpPr/>
          <p:nvPr/>
        </p:nvSpPr>
        <p:spPr>
          <a:xfrm>
            <a:off x="786384" y="3291840"/>
            <a:ext cx="4608576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Flatten each tank surface into a 2D matrix.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Record every defect by surface, X, Y, optional plate ID, severity, and photo evidence.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621792" y="4443984"/>
            <a:ext cx="4937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1" name="Shape"/>
          <p:cNvSpPr/>
          <p:nvPr/>
        </p:nvSpPr>
        <p:spPr>
          <a:xfrm>
            <a:off x="786384" y="4572000"/>
            <a:ext cx="460857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Audience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786384" y="4946904"/>
            <a:ext cx="460857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Field engineers capturing API 653-style tank inspection records in unreliable connectivity conditions.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6844374" y="521208"/>
            <a:ext cx="1810332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14" name="03-grid-location-picker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526" y="594360"/>
            <a:ext cx="1664028" cy="562356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15" name="Shape"/>
          <p:cNvSpPr/>
          <p:nvPr/>
        </p:nvSpPr>
        <p:spPr>
          <a:xfrm>
            <a:off x="9208008" y="1083916"/>
            <a:ext cx="2203704" cy="4598729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16" name="10-defect-saved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157068"/>
            <a:ext cx="2057400" cy="4452425"/>
          </a:xfrm>
          <a:prstGeom prst="rect">
            <a:avLst/>
          </a:prstGeom>
          <a:ln>
            <a:solidFill>
              <a:srgbClr val="CBD8D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Executive Summary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What the prototype is designed to prove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594360" y="1417320"/>
            <a:ext cx="34747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758952" y="1545336"/>
            <a:ext cx="3145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Problem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758952" y="1920240"/>
            <a:ext cx="3145536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Inspection defects need repeatable, report-ready spatial locations.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Paper notes and photos are hard to reconcile later.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4343400" y="1417320"/>
            <a:ext cx="34747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4507992" y="1545336"/>
            <a:ext cx="3145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Solution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4507992" y="1920240"/>
            <a:ext cx="3145536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A guided mobile workflow captures tank, surface, X/Y grid location, defect details, and required evidence.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8092440" y="1417320"/>
            <a:ext cx="34747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8257032" y="1545336"/>
            <a:ext cx="3145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MVP focus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8257032" y="1920240"/>
            <a:ext cx="3145536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Location capture first.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Defect inventory and evidence linkage before CAD export or automatic detection.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594360" y="3703320"/>
            <a:ext cx="5303520" cy="155448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758952" y="3831336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Designed for field use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758952" y="4206240"/>
            <a:ext cx="4974336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Offline draft persistence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Large touch targets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Minimal typing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Clear validation before submit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263640" y="3703320"/>
            <a:ext cx="5303520" cy="1554480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6428232" y="3831336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Report-ready output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6428232" y="4206240"/>
            <a:ext cx="4974336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Surface, X, Y, grid ID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Optional plate ID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Defect type and severity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Measurements and evidence metadata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1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At-a-Glance Workflow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From inspection setup to report-ready defect dataset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594360" y="1463040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758952" y="1591056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400" b="1">
                <a:solidFill>
                  <a:srgbClr val="075F5C"/>
                </a:solidFill>
                <a:latin typeface="Aptos"/>
              </a:rPr>
              <a:t>Start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758952" y="1965960"/>
            <a:ext cx="1700784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Home, setup, tank overview</a:t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/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Open or create draft and select surface.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2651760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&gt;</a:t>
            </a:r>
            <a:endParaRPr lang="en-US"/>
          </a:p>
        </p:txBody>
      </p:sp>
      <p:sp>
        <p:nvSpPr>
          <p:cNvPr id="9" name="Shape"/>
          <p:cNvSpPr/>
          <p:nvPr/>
        </p:nvSpPr>
        <p:spPr>
          <a:xfrm>
            <a:off x="2880360" y="1463040"/>
            <a:ext cx="2029968" cy="324612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0" name="Shape"/>
          <p:cNvSpPr/>
          <p:nvPr/>
        </p:nvSpPr>
        <p:spPr>
          <a:xfrm>
            <a:off x="3044952" y="1591056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400" b="1">
                <a:solidFill>
                  <a:srgbClr val="075F5C"/>
                </a:solidFill>
                <a:latin typeface="Aptos"/>
              </a:rPr>
              <a:t>Location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3044952" y="1965960"/>
            <a:ext cx="1700784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Mode, grid, manual, plate, confirm</a:t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/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Capture surface, X, Y, grid ID, plate ID.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4937760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&gt;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5166360" y="1463040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"/>
          <p:cNvSpPr/>
          <p:nvPr/>
        </p:nvSpPr>
        <p:spPr>
          <a:xfrm>
            <a:off x="5330952" y="1591056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400" b="1">
                <a:solidFill>
                  <a:srgbClr val="075F5C"/>
                </a:solidFill>
                <a:latin typeface="Aptos"/>
              </a:rPr>
              <a:t>Defect</a:t>
            </a:r>
            <a:endParaRPr lang="en-US"/>
          </a:p>
        </p:txBody>
      </p:sp>
      <p:sp>
        <p:nvSpPr>
          <p:cNvPr id="15" name="Shape"/>
          <p:cNvSpPr/>
          <p:nvPr/>
        </p:nvSpPr>
        <p:spPr>
          <a:xfrm>
            <a:off x="5330952" y="1965960"/>
            <a:ext cx="1700784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Type, details, measurements, evidence</a:t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/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Record defect facts and proof.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7223760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&gt;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7452360" y="1463040"/>
            <a:ext cx="2029968" cy="324612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7616952" y="1591056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400" b="1">
                <a:solidFill>
                  <a:srgbClr val="075F5C"/>
                </a:solidFill>
                <a:latin typeface="Aptos"/>
              </a:rPr>
              <a:t>Review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7616952" y="1965960"/>
            <a:ext cx="1700784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Saved, map, surface review</a:t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/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Inspect spatial records and warnings.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9509760" y="28346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&gt;</a:t>
            </a:r>
            <a:endParaRPr lang="en-US"/>
          </a:p>
        </p:txBody>
      </p:sp>
      <p:sp>
        <p:nvSpPr>
          <p:cNvPr id="21" name="Shape"/>
          <p:cNvSpPr/>
          <p:nvPr/>
        </p:nvSpPr>
        <p:spPr>
          <a:xfrm>
            <a:off x="9738360" y="1463040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22" name="Shape"/>
          <p:cNvSpPr/>
          <p:nvPr/>
        </p:nvSpPr>
        <p:spPr>
          <a:xfrm>
            <a:off x="9902952" y="1591056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400" b="1">
                <a:solidFill>
                  <a:srgbClr val="075F5C"/>
                </a:solidFill>
                <a:latin typeface="Aptos"/>
              </a:rPr>
              <a:t>Submit</a:t>
            </a:r>
            <a:endParaRPr lang="en-US"/>
          </a:p>
        </p:txBody>
      </p:sp>
      <p:sp>
        <p:nvSpPr>
          <p:cNvPr id="23" name="Shape"/>
          <p:cNvSpPr/>
          <p:nvPr/>
        </p:nvSpPr>
        <p:spPr>
          <a:xfrm>
            <a:off x="9902952" y="1965960"/>
            <a:ext cx="1700784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Validation, success</a:t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/>
            </a:r>
            <a:endParaRPr lang="en-US"/>
          </a:p>
          <a:p>
            <a:pPr algn="l"/>
            <a:r>
              <a:rPr lang="en-US" sz="1020">
                <a:solidFill>
                  <a:srgbClr val="17201E"/>
                </a:solidFill>
                <a:latin typeface="Aptos"/>
              </a:rPr>
              <a:t>Block invalid submission and close workflow.</a:t>
            </a:r>
            <a:endParaRPr lang="en-US"/>
          </a:p>
        </p:txBody>
      </p:sp>
      <p:sp>
        <p:nvSpPr>
          <p:cNvPr id="24" name="Shape"/>
          <p:cNvSpPr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Workflow states: Home - Setup - Overview - Location Mode - Map / Manual / Plate - Confirm - Type - Details - Measurements - Evidence - Saved - Surface Map - Surface Review - Validation - Success</a:t>
            </a:r>
            <a:endParaRPr lang="en-US"/>
          </a:p>
        </p:txBody>
      </p:sp>
      <p:sp>
        <p:nvSpPr>
          <p:cNvPr id="25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6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Mobile UX Principles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The design is intentionally practical rather than fancy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594360" y="141732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758952" y="1545336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Mobile only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758952" y="1920240"/>
            <a:ext cx="2414016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Single-column flow.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Large primary buttons.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Short screen tasks.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3584448" y="141732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3749040" y="1545336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Offline first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3749040" y="1920240"/>
            <a:ext cx="2414016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Local draft save.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Unsynced badge.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Resume after restart.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574536" y="141732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6739128" y="1545336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Grid location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6739128" y="1920240"/>
            <a:ext cx="2414016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Tap X/Y cell.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Validate footprint.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Show origin and plate ID.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9564624" y="1417320"/>
            <a:ext cx="2011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9729216" y="1545336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QA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9729216" y="1920240"/>
            <a:ext cx="1682496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Photo required.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Missing data warnings.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Blocked submit.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1252078" y="3630168"/>
            <a:ext cx="1244884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18" name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30" y="3703320"/>
            <a:ext cx="1098580" cy="237744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19" name="Shape"/>
          <p:cNvSpPr/>
          <p:nvPr/>
        </p:nvSpPr>
        <p:spPr>
          <a:xfrm>
            <a:off x="3629518" y="3630168"/>
            <a:ext cx="1244884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20" name="03-grid-location-p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670" y="3703320"/>
            <a:ext cx="1098580" cy="237744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21" name="Shape"/>
          <p:cNvSpPr/>
          <p:nvPr/>
        </p:nvSpPr>
        <p:spPr>
          <a:xfrm>
            <a:off x="6006958" y="3630168"/>
            <a:ext cx="1244884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22" name="08-evidence-required-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10" y="3703320"/>
            <a:ext cx="1098580" cy="237744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23" name="Shape"/>
          <p:cNvSpPr/>
          <p:nvPr/>
        </p:nvSpPr>
        <p:spPr>
          <a:xfrm>
            <a:off x="8384398" y="3630168"/>
            <a:ext cx="1244884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24" name="13-inspection-validation-m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550" y="3703320"/>
            <a:ext cx="1098580" cy="237744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25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6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Start Screens: 01-03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Home, setup context, and surface selection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658368" y="1369842"/>
            <a:ext cx="2340864" cy="4895557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2994"/>
            <a:ext cx="2194560" cy="4749253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"/>
          <p:cNvSpPr/>
          <p:nvPr/>
        </p:nvSpPr>
        <p:spPr>
          <a:xfrm>
            <a:off x="3264408" y="1369842"/>
            <a:ext cx="2340864" cy="4895557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8" name="02-surfac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442994"/>
            <a:ext cx="2194560" cy="4749253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9" name="Shape"/>
          <p:cNvSpPr/>
          <p:nvPr/>
        </p:nvSpPr>
        <p:spPr>
          <a:xfrm>
            <a:off x="6172200" y="1417320"/>
            <a:ext cx="5303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0" name="Shape"/>
          <p:cNvSpPr/>
          <p:nvPr/>
        </p:nvSpPr>
        <p:spPr>
          <a:xfrm>
            <a:off x="6336792" y="1545336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01 Home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336792" y="1920240"/>
            <a:ext cx="4974336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Start new inspection, resume draft, view past inspections, show sync status and draft metrics.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6172200" y="2971800"/>
            <a:ext cx="5303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3" name="Shape"/>
          <p:cNvSpPr/>
          <p:nvPr/>
        </p:nvSpPr>
        <p:spPr>
          <a:xfrm>
            <a:off x="6336792" y="3099816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02 Inspection Setup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6336792" y="3474720"/>
            <a:ext cx="4974336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Capture site, client, tank ID, inspection type; continue only after required fields are present.</a:t>
            </a:r>
            <a:endParaRPr lang="en-US"/>
          </a:p>
        </p:txBody>
      </p:sp>
      <p:sp>
        <p:nvSpPr>
          <p:cNvPr id="15" name="Shape"/>
          <p:cNvSpPr/>
          <p:nvPr/>
        </p:nvSpPr>
        <p:spPr>
          <a:xfrm>
            <a:off x="6172200" y="4526280"/>
            <a:ext cx="5303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6" name="Shape"/>
          <p:cNvSpPr/>
          <p:nvPr/>
        </p:nvSpPr>
        <p:spPr>
          <a:xfrm>
            <a:off x="6336792" y="4654296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03 Tank Overview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336792" y="5029200"/>
            <a:ext cx="4974336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Choose bottom, shell, roof, annular, nozzle, or weld zone; show complete/not started/defect count.</a:t>
            </a:r>
            <a:endParaRPr lang="en-US"/>
          </a:p>
        </p:txBody>
      </p:sp>
      <p:sp>
        <p:nvSpPr>
          <p:cNvPr id="18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Location Screens: 04-06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Primary spatial capture and confirmation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1000609" y="1252728"/>
            <a:ext cx="1702102" cy="540410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03-grid-location-picker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61" y="1325880"/>
            <a:ext cx="1555798" cy="525780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"/>
          <p:cNvSpPr/>
          <p:nvPr/>
        </p:nvSpPr>
        <p:spPr>
          <a:xfrm>
            <a:off x="3428285" y="1252728"/>
            <a:ext cx="1967389" cy="540410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8" name="04-location-confirmation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437" y="1325880"/>
            <a:ext cx="1821085" cy="525780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9" name="Shape"/>
          <p:cNvSpPr/>
          <p:nvPr/>
        </p:nvSpPr>
        <p:spPr>
          <a:xfrm>
            <a:off x="6172200" y="1417320"/>
            <a:ext cx="5303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0" name="Shape"/>
          <p:cNvSpPr/>
          <p:nvPr/>
        </p:nvSpPr>
        <p:spPr>
          <a:xfrm>
            <a:off x="6336792" y="1545336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04 Location Mode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336792" y="1920240"/>
            <a:ext cx="4974336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Choose tap-on-grid, manual X/Y entry, or plate ID entry. Tap-on-grid is the recommended path.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6172200" y="2816352"/>
            <a:ext cx="5303520" cy="155448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3" name="Shape"/>
          <p:cNvSpPr/>
          <p:nvPr/>
        </p:nvSpPr>
        <p:spPr>
          <a:xfrm>
            <a:off x="6336792" y="2944368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05A Grid Map Picker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6336792" y="3319272"/>
            <a:ext cx="4974336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SVG grid, disabled outside-tank cells, origin label, annular band, layer toggles, selected X/Y summary.</a:t>
            </a:r>
            <a:endParaRPr lang="en-US"/>
          </a:p>
        </p:txBody>
      </p:sp>
      <p:sp>
        <p:nvSpPr>
          <p:cNvPr id="15" name="Shape"/>
          <p:cNvSpPr/>
          <p:nvPr/>
        </p:nvSpPr>
        <p:spPr>
          <a:xfrm>
            <a:off x="6172200" y="4590288"/>
            <a:ext cx="5303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6" name="Shape"/>
          <p:cNvSpPr/>
          <p:nvPr/>
        </p:nvSpPr>
        <p:spPr>
          <a:xfrm>
            <a:off x="6336792" y="4718304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06 Confirm Location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336792" y="5093208"/>
            <a:ext cx="497433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Lock surface, X, Y, grid ID, and plate ID before defect typing. Edit returns to the selected location mode.</a:t>
            </a:r>
            <a:endParaRPr lang="en-US"/>
          </a:p>
        </p:txBody>
      </p:sp>
      <p:sp>
        <p:nvSpPr>
          <p:cNvPr id="18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Fallback Location Modes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Manual entry and plate ID support field realities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685800" y="1325880"/>
            <a:ext cx="5257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850392" y="1453896"/>
            <a:ext cx="49286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05B Manual X,Y Entry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850392" y="1828800"/>
            <a:ext cx="4928616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Input X and Y integer partitions.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Live validation checks bounds and tank footprint.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Preview on map for visual confirmation.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Creates same GridLocation as tap mode.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6263640" y="1325880"/>
            <a:ext cx="5257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6428232" y="1453896"/>
            <a:ext cx="49286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05C Plate ID Picker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6428232" y="1828800"/>
            <a:ext cx="4928616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Search known plate IDs from the drawing map.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Plate cards show plate ID, subzone, and mapped X/Y.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Selection auto-fills plateId and grid coordinates.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Show on Map supports visual confirmation.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85800" y="3840480"/>
            <a:ext cx="10835640" cy="141732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850392" y="3968496"/>
            <a:ext cx="10506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MVP location object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850392" y="4343400"/>
            <a:ext cx="10506456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{ surface: "bottom", x: 12, y: 4, gridId: "12-4", plateId: "A12", locationMode: "tap_map", isAnnular: false }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15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Grid Map Behavior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The highest-value interaction in the product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1238540" y="1161288"/>
            <a:ext cx="1729160" cy="54955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03-grid-location-picker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92" y="1234440"/>
            <a:ext cx="1582856" cy="534924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"/>
          <p:cNvSpPr/>
          <p:nvPr/>
        </p:nvSpPr>
        <p:spPr>
          <a:xfrm>
            <a:off x="3977640" y="132588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8" name="Shape"/>
          <p:cNvSpPr/>
          <p:nvPr/>
        </p:nvSpPr>
        <p:spPr>
          <a:xfrm>
            <a:off x="4142232" y="145389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Selectable cells</a:t>
            </a:r>
            <a:endParaRPr lang="en-US"/>
          </a:p>
        </p:txBody>
      </p:sp>
      <p:sp>
        <p:nvSpPr>
          <p:cNvPr id="9" name="Shape"/>
          <p:cNvSpPr/>
          <p:nvPr/>
        </p:nvSpPr>
        <p:spPr>
          <a:xfrm>
            <a:off x="4142232" y="1828800"/>
            <a:ext cx="3191256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Rectangular grid abstraction.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Bottom and roof use circular validity mask.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Shell uses full unwrapped rectangle.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Invalid cells are disabled.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7818120" y="132588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1" name="Shape"/>
          <p:cNvSpPr/>
          <p:nvPr/>
        </p:nvSpPr>
        <p:spPr>
          <a:xfrm>
            <a:off x="7982712" y="145389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Useful overlays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7982712" y="1828800"/>
            <a:ext cx="3191256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Plate IDs.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Grid labels.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Prior defects.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Repair overlay.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Annular band border.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3977640" y="3703320"/>
            <a:ext cx="3520440" cy="150876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4" name="Shape"/>
          <p:cNvSpPr/>
          <p:nvPr/>
        </p:nvSpPr>
        <p:spPr>
          <a:xfrm>
            <a:off x="4142232" y="383133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On tap</a:t>
            </a:r>
            <a:endParaRPr lang="en-US"/>
          </a:p>
        </p:txBody>
      </p:sp>
      <p:sp>
        <p:nvSpPr>
          <p:cNvPr id="15" name="Shape"/>
          <p:cNvSpPr/>
          <p:nvPr/>
        </p:nvSpPr>
        <p:spPr>
          <a:xfrm>
            <a:off x="4142232" y="4206240"/>
            <a:ext cx="3191256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Selected cell highlights strongly.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Footer updates X, Y, grid ID, plate ID.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Confirm enables only for valid cells.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7818120" y="3703320"/>
            <a:ext cx="3520440" cy="1508760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17" name="Shape"/>
          <p:cNvSpPr/>
          <p:nvPr/>
        </p:nvSpPr>
        <p:spPr>
          <a:xfrm>
            <a:off x="7982712" y="383133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Coordinate convention</a:t>
            </a:r>
            <a:endParaRPr lang="en-US"/>
          </a:p>
        </p:txBody>
      </p:sp>
      <p:sp>
        <p:nvSpPr>
          <p:cNvPr id="18" name="Shape"/>
          <p:cNvSpPr/>
          <p:nvPr/>
        </p:nvSpPr>
        <p:spPr>
          <a:xfrm>
            <a:off x="7982712" y="4206240"/>
            <a:ext cx="3191256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Bottom/roof origin: top-left.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Shell origin: lower-left.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MVP uses integer partitions only.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Defect Capture: 07-09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Select type, add details, capture measurements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726948" y="1252728"/>
            <a:ext cx="1929384" cy="46725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05-defect-type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325880"/>
            <a:ext cx="1783080" cy="452628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"/>
          <p:cNvSpPr/>
          <p:nvPr/>
        </p:nvSpPr>
        <p:spPr>
          <a:xfrm>
            <a:off x="2944368" y="1339127"/>
            <a:ext cx="2157984" cy="4499786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8" name="06-defect-details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412279"/>
            <a:ext cx="2011680" cy="435348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9" name="Shape"/>
          <p:cNvSpPr/>
          <p:nvPr/>
        </p:nvSpPr>
        <p:spPr>
          <a:xfrm>
            <a:off x="5276088" y="1339127"/>
            <a:ext cx="2157984" cy="4499786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10" name="07-measurements-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412279"/>
            <a:ext cx="2011680" cy="4353482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11" name="Shape"/>
          <p:cNvSpPr/>
          <p:nvPr/>
        </p:nvSpPr>
        <p:spPr>
          <a:xfrm>
            <a:off x="7909560" y="1417320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8074152" y="154533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07 Defect Type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8074152" y="192024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Large type buttons tied to confirmed location.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7909560" y="283464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8074152" y="296265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08 Details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8074152" y="3337560"/>
            <a:ext cx="31912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Subtype, severity, extent, and description. Severity is required before measurements.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7909560" y="4297680"/>
            <a:ext cx="3520440" cy="123444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8074152" y="442569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09 Measurements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8074152" y="4800600"/>
            <a:ext cx="31912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Dynamic fields for corrosion, crack, or deformation. Missing key values produce warnings.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1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Evidence Capture: 10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Required photo proof before saving a defect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850511" y="1344168"/>
            <a:ext cx="2322338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08-evidence-required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63" y="1417320"/>
            <a:ext cx="2176034" cy="470916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"/>
          <p:cNvSpPr/>
          <p:nvPr/>
        </p:nvSpPr>
        <p:spPr>
          <a:xfrm>
            <a:off x="3456551" y="1344168"/>
            <a:ext cx="2322338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8" name="09-evidence-with-photo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703" y="1417320"/>
            <a:ext cx="2176034" cy="470916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9" name="Shape"/>
          <p:cNvSpPr/>
          <p:nvPr/>
        </p:nvSpPr>
        <p:spPr>
          <a:xfrm>
            <a:off x="6400800" y="1417320"/>
            <a:ext cx="5074920" cy="1325880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10" name="Shape"/>
          <p:cNvSpPr/>
          <p:nvPr/>
        </p:nvSpPr>
        <p:spPr>
          <a:xfrm>
            <a:off x="6565392" y="154533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Before photo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565392" y="1920240"/>
            <a:ext cx="4745736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Save Defect is blocked and the user sees a clear validation message.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6400800" y="2971800"/>
            <a:ext cx="5074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3" name="Shape"/>
          <p:cNvSpPr/>
          <p:nvPr/>
        </p:nvSpPr>
        <p:spPr>
          <a:xfrm>
            <a:off x="6565392" y="309981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After photo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6565392" y="3474720"/>
            <a:ext cx="4745736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Evidence card is linked to the selected surface and X/Y location. Delete remains available before save.</a:t>
            </a:r>
            <a:endParaRPr lang="en-US"/>
          </a:p>
        </p:txBody>
      </p:sp>
      <p:sp>
        <p:nvSpPr>
          <p:cNvPr id="15" name="Shape"/>
          <p:cNvSpPr/>
          <p:nvPr/>
        </p:nvSpPr>
        <p:spPr>
          <a:xfrm>
            <a:off x="6400800" y="4526280"/>
            <a:ext cx="5074920" cy="114300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6" name="Shape"/>
          <p:cNvSpPr/>
          <p:nvPr/>
        </p:nvSpPr>
        <p:spPr>
          <a:xfrm>
            <a:off x="6565392" y="465429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Production note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565392" y="5029200"/>
            <a:ext cx="474573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The data model supports photo, video, and audio. The MVP UI implements photo first.</a:t>
            </a:r>
            <a:endParaRPr lang="en-US"/>
          </a:p>
        </p:txBody>
      </p:sp>
      <p:sp>
        <p:nvSpPr>
          <p:cNvPr id="18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Review Screens: 11-13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Local save, spatial review, and surface QA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521208" y="1483790"/>
            <a:ext cx="2066544" cy="4301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10-defect-saved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6942"/>
            <a:ext cx="1920240" cy="4155596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"/>
          <p:cNvSpPr/>
          <p:nvPr/>
        </p:nvSpPr>
        <p:spPr>
          <a:xfrm>
            <a:off x="2912790" y="1252728"/>
            <a:ext cx="1672500" cy="47640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8" name="11-saved-defect-map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942" y="1325880"/>
            <a:ext cx="1526196" cy="461772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9" name="Shape"/>
          <p:cNvSpPr/>
          <p:nvPr/>
        </p:nvSpPr>
        <p:spPr>
          <a:xfrm>
            <a:off x="4910328" y="1483790"/>
            <a:ext cx="2066544" cy="4301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10" name="12-surface-review-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56942"/>
            <a:ext cx="1920240" cy="4155596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11" name="Shape"/>
          <p:cNvSpPr/>
          <p:nvPr/>
        </p:nvSpPr>
        <p:spPr>
          <a:xfrm>
            <a:off x="7406640" y="1417320"/>
            <a:ext cx="3977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7571232" y="1545336"/>
            <a:ext cx="3648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11 Defect Saved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7571232" y="1920240"/>
            <a:ext cx="364845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Shows type, severity, location, photo count, and next field action.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7406640" y="2788920"/>
            <a:ext cx="3977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7571232" y="2916936"/>
            <a:ext cx="3648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12 Surface Map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7571232" y="3291840"/>
            <a:ext cx="36484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Saved defects render as map markers. Engineer can add another defect or finish the surface.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7406640" y="4251960"/>
            <a:ext cx="3977640" cy="123444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7571232" y="4379976"/>
            <a:ext cx="3648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13 Surface Review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7571232" y="4754880"/>
            <a:ext cx="36484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Summarizes defects/photos/grid and surfaces warnings such as missing subtype or annular review.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1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Inspection Validation: 14-15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Submission is blocked until required QA passes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880305" y="1252728"/>
            <a:ext cx="2491350" cy="52212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pic>
        <p:nvPicPr>
          <p:cNvPr id="6" name="13-inspection-validation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7" y="1325880"/>
            <a:ext cx="2345046" cy="5074920"/>
          </a:xfrm>
          <a:prstGeom prst="rect">
            <a:avLst/>
          </a:prstGeom>
          <a:ln>
            <a:solidFill>
              <a:srgbClr val="CBD8D4"/>
            </a:solidFill>
          </a:ln>
        </p:spPr>
      </p:pic>
      <p:sp>
        <p:nvSpPr>
          <p:cNvPr id="7" name="Shape"/>
          <p:cNvSpPr/>
          <p:nvPr/>
        </p:nvSpPr>
        <p:spPr>
          <a:xfrm>
            <a:off x="3931920" y="1417320"/>
            <a:ext cx="3474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8" name="Shape"/>
          <p:cNvSpPr/>
          <p:nvPr/>
        </p:nvSpPr>
        <p:spPr>
          <a:xfrm>
            <a:off x="4096512" y="1545336"/>
            <a:ext cx="3145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14 Validation</a:t>
            </a:r>
            <a:endParaRPr lang="en-US"/>
          </a:p>
        </p:txBody>
      </p:sp>
      <p:sp>
        <p:nvSpPr>
          <p:cNvPr id="9" name="Shape"/>
          <p:cNvSpPr/>
          <p:nvPr/>
        </p:nvSpPr>
        <p:spPr>
          <a:xfrm>
            <a:off x="4096512" y="1920240"/>
            <a:ext cx="3145536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Required surface completion.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Photo requirement.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Invalid coordinate checks.</a:t>
            </a:r>
            <a:endParaRPr lang="en-US"/>
          </a:p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- Fix Issues route.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7726680" y="1417320"/>
            <a:ext cx="3474720" cy="1463040"/>
          </a:xfrm>
          <a:prstGeom prst="rect">
            <a:avLst/>
          </a:prstGeom>
          <a:solidFill>
            <a:srgbClr val="FFF7D6"/>
          </a:solidFill>
          <a:ln w="9525">
            <a:solidFill>
              <a:srgbClr val="CBD8D4"/>
            </a:solidFill>
          </a:ln>
        </p:spPr>
      </p:sp>
      <p:sp>
        <p:nvSpPr>
          <p:cNvPr id="11" name="Shape"/>
          <p:cNvSpPr/>
          <p:nvPr/>
        </p:nvSpPr>
        <p:spPr>
          <a:xfrm>
            <a:off x="7891272" y="1545336"/>
            <a:ext cx="3145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Submit blocking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7891272" y="1920240"/>
            <a:ext cx="3145536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Submit Inspection is disabled while blocking warnings exist.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3931920" y="3520440"/>
            <a:ext cx="3474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4" name="Shape"/>
          <p:cNvSpPr/>
          <p:nvPr/>
        </p:nvSpPr>
        <p:spPr>
          <a:xfrm>
            <a:off x="4096512" y="3648456"/>
            <a:ext cx="3145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15 Success</a:t>
            </a:r>
            <a:endParaRPr lang="en-US"/>
          </a:p>
        </p:txBody>
      </p:sp>
      <p:sp>
        <p:nvSpPr>
          <p:cNvPr id="15" name="Shape"/>
          <p:cNvSpPr/>
          <p:nvPr/>
        </p:nvSpPr>
        <p:spPr>
          <a:xfrm>
            <a:off x="4096512" y="4023360"/>
            <a:ext cx="3145536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When valid, sync status changes to synced and the workflow closes with a report-ready dataset.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7726680" y="3520440"/>
            <a:ext cx="3474720" cy="141732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7" name="Shape"/>
          <p:cNvSpPr/>
          <p:nvPr/>
        </p:nvSpPr>
        <p:spPr>
          <a:xfrm>
            <a:off x="7891272" y="3648456"/>
            <a:ext cx="31455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Next actions</a:t>
            </a:r>
            <a:endParaRPr lang="en-US"/>
          </a:p>
        </p:txBody>
      </p:sp>
      <p:sp>
        <p:nvSpPr>
          <p:cNvPr id="18" name="Shape"/>
          <p:cNvSpPr/>
          <p:nvPr/>
        </p:nvSpPr>
        <p:spPr>
          <a:xfrm>
            <a:off x="7891272" y="4023360"/>
            <a:ext cx="3145536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View Defect Map, Start Another Inspection, or Return Home.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Data Model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Report-ready records, not just screenshots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685800" y="132588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850392" y="1453896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InspectionSession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850392" y="1828800"/>
            <a:ext cx="479145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site, client, tankId, type, inspector, surfaces, syncStatus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6263640" y="132588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6428232" y="1453896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SurfaceInspection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6428232" y="1828800"/>
            <a:ext cx="479145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surface, gridCols, gridRows, completed, defects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85800" y="2743200"/>
            <a:ext cx="5120640" cy="1005840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850392" y="2871216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GridLocation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850392" y="3246120"/>
            <a:ext cx="479145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surface, x, y, gridId, plateId, locationMode, isAnnular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6263640" y="274320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6428232" y="2871216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DefectRecord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6428232" y="3246120"/>
            <a:ext cx="479145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location, type, subtype, severity, extent, description, measurements, evidence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85800" y="4160520"/>
            <a:ext cx="10835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850392" y="4288536"/>
            <a:ext cx="10506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EvidenceItem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850392" y="4663440"/>
            <a:ext cx="1050645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17201E"/>
                </a:solidFill>
                <a:latin typeface="Aptos"/>
              </a:rPr>
              <a:t>uri, timestamp, optional GPS, linked surface, linked X/Y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1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Validation Logic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What prevents poor field data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896112" y="1499616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Record-level checks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896112" y="1874520"/>
            <a:ext cx="4974336" cy="35204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Location requires surface, X, and Y.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Selected cell must be inside valid surface footprint.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Defect type and severity are required.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At least one photo is required before save.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Manual X/Y must be integer and inside bounds.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6309360" y="1371600"/>
            <a:ext cx="5120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6473952" y="1499616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Review and submission checks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6473952" y="1874520"/>
            <a:ext cx="4791456" cy="35204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Corrosion without UT/min thickness produces warning.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Crack without size produces warning.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Deformation without dimension produces warning.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Required surfaces must be complete.</a:t>
            </a:r>
            <a:endParaRPr lang="en-US"/>
          </a:p>
          <a:p>
            <a:pPr algn="l"/>
            <a:r>
              <a:rPr lang="en-US" sz="1200">
                <a:solidFill>
                  <a:srgbClr val="17201E"/>
                </a:solidFill>
                <a:latin typeface="Aptos"/>
              </a:rPr>
              <a:t>- Submit blocks invalid coordinates or missing photos.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Screen Inventory Appendix: 01-05C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Every screen in the workflow is accounted for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685800" y="1234440"/>
            <a:ext cx="50749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850392" y="136245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00" b="1">
                <a:solidFill>
                  <a:srgbClr val="075F5C"/>
                </a:solidFill>
                <a:latin typeface="Aptos"/>
              </a:rPr>
              <a:t>01 Home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850392" y="1737360"/>
            <a:ext cx="4745736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20">
                <a:solidFill>
                  <a:srgbClr val="17201E"/>
                </a:solidFill>
                <a:latin typeface="Aptos"/>
              </a:rPr>
              <a:t>Start/resume draft, show sync status and field context.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685800" y="2441448"/>
            <a:ext cx="5074920" cy="932688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850392" y="2569464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00" b="1">
                <a:solidFill>
                  <a:srgbClr val="075F5C"/>
                </a:solidFill>
                <a:latin typeface="Aptos"/>
              </a:rPr>
              <a:t>02 Inspection Setup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850392" y="2944368"/>
            <a:ext cx="4745736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20">
                <a:solidFill>
                  <a:srgbClr val="17201E"/>
                </a:solidFill>
                <a:latin typeface="Aptos"/>
              </a:rPr>
              <a:t>Capture site, client, tank ID, inspection type, date, inspector.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85800" y="3648456"/>
            <a:ext cx="50749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850392" y="3776472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00" b="1">
                <a:solidFill>
                  <a:srgbClr val="075F5C"/>
                </a:solidFill>
                <a:latin typeface="Aptos"/>
              </a:rPr>
              <a:t>03 Tank Overview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850392" y="4151376"/>
            <a:ext cx="4745736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20">
                <a:solidFill>
                  <a:srgbClr val="17201E"/>
                </a:solidFill>
                <a:latin typeface="Aptos"/>
              </a:rPr>
              <a:t>Choose bottom, shell, roof, annular, nozzle, or weld surface.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685800" y="4855464"/>
            <a:ext cx="5074920" cy="932688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850392" y="4983480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00" b="1">
                <a:solidFill>
                  <a:srgbClr val="075F5C"/>
                </a:solidFill>
                <a:latin typeface="Aptos"/>
              </a:rPr>
              <a:t>04 Location Mode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850392" y="5358384"/>
            <a:ext cx="4745736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20">
                <a:solidFill>
                  <a:srgbClr val="17201E"/>
                </a:solidFill>
                <a:latin typeface="Aptos"/>
              </a:rPr>
              <a:t>Choose tap map, manual X/Y, or plate ID mode.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172200" y="1234440"/>
            <a:ext cx="50749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6336792" y="136245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00" b="1">
                <a:solidFill>
                  <a:srgbClr val="075F5C"/>
                </a:solidFill>
                <a:latin typeface="Aptos"/>
              </a:rPr>
              <a:t>05A Grid Map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6336792" y="1737360"/>
            <a:ext cx="4745736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20">
                <a:solidFill>
                  <a:srgbClr val="17201E"/>
                </a:solidFill>
                <a:latin typeface="Aptos"/>
              </a:rPr>
              <a:t>Tap valid grid cell, view overlays, confirm X/Y summary.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6172200" y="2441448"/>
            <a:ext cx="5074920" cy="932688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21" name="Shape"/>
          <p:cNvSpPr/>
          <p:nvPr/>
        </p:nvSpPr>
        <p:spPr>
          <a:xfrm>
            <a:off x="6336792" y="2569464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00" b="1">
                <a:solidFill>
                  <a:srgbClr val="075F5C"/>
                </a:solidFill>
                <a:latin typeface="Aptos"/>
              </a:rPr>
              <a:t>05B Manual X/Y</a:t>
            </a:r>
            <a:endParaRPr lang="en-US"/>
          </a:p>
        </p:txBody>
      </p:sp>
      <p:sp>
        <p:nvSpPr>
          <p:cNvPr id="22" name="Shape"/>
          <p:cNvSpPr/>
          <p:nvPr/>
        </p:nvSpPr>
        <p:spPr>
          <a:xfrm>
            <a:off x="6336792" y="2944368"/>
            <a:ext cx="4745736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20">
                <a:solidFill>
                  <a:srgbClr val="17201E"/>
                </a:solidFill>
                <a:latin typeface="Aptos"/>
              </a:rPr>
              <a:t>Validate typed integer coordinates against bounds and footprint.</a:t>
            </a:r>
            <a:endParaRPr lang="en-US"/>
          </a:p>
        </p:txBody>
      </p:sp>
      <p:sp>
        <p:nvSpPr>
          <p:cNvPr id="23" name="Shape"/>
          <p:cNvSpPr/>
          <p:nvPr/>
        </p:nvSpPr>
        <p:spPr>
          <a:xfrm>
            <a:off x="6172200" y="3648456"/>
            <a:ext cx="50749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24" name="Shape"/>
          <p:cNvSpPr/>
          <p:nvPr/>
        </p:nvSpPr>
        <p:spPr>
          <a:xfrm>
            <a:off x="6336792" y="3776472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00" b="1">
                <a:solidFill>
                  <a:srgbClr val="075F5C"/>
                </a:solidFill>
                <a:latin typeface="Aptos"/>
              </a:rPr>
              <a:t>05C Plate ID</a:t>
            </a:r>
            <a:endParaRPr lang="en-US"/>
          </a:p>
        </p:txBody>
      </p:sp>
      <p:sp>
        <p:nvSpPr>
          <p:cNvPr id="25" name="Shape"/>
          <p:cNvSpPr/>
          <p:nvPr/>
        </p:nvSpPr>
        <p:spPr>
          <a:xfrm>
            <a:off x="6336792" y="4151376"/>
            <a:ext cx="4745736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20">
                <a:solidFill>
                  <a:srgbClr val="17201E"/>
                </a:solidFill>
                <a:latin typeface="Aptos"/>
              </a:rPr>
              <a:t>Search mapped plate ID and auto-fill X/Y.</a:t>
            </a:r>
            <a:endParaRPr lang="en-US"/>
          </a:p>
        </p:txBody>
      </p:sp>
      <p:sp>
        <p:nvSpPr>
          <p:cNvPr id="26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7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Screen Inventory Appendix: 06-10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Confirmed location through evidence capture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685800" y="132588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850392" y="145389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06 Confirm Location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850392" y="182880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Lock surface, X, Y, grid ID, and optional plate before typing.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685800" y="2743200"/>
            <a:ext cx="5074920" cy="107899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850392" y="287121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07 Defect Type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850392" y="324612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Select corrosion, crack, deformation, leakage, weld defect, repair, or other.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85800" y="416052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850392" y="428853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08 Defect Details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850392" y="466344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Capture subtype, severity, extent, and description.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6172200" y="1325880"/>
            <a:ext cx="5074920" cy="107899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6336792" y="145389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09 Measurements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6336792" y="182880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Capture UT, pit depth, crack size, or deformation dimension.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172200" y="274320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6336792" y="287121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10 Evidence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6336792" y="324612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Attach required photo, show linked metadata, enable save.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1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Screen Inventory Appendix: 11-15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Review, validation, and closing workflow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685800" y="132588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850392" y="145389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11 Defect Saved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850392" y="182880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Summarize local record and choose next field action.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685800" y="2743200"/>
            <a:ext cx="5074920" cy="107899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850392" y="287121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12 Surface Map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850392" y="324612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Review saved markers, overlays, legend, and add more defects.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685800" y="416052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2" name="Shape"/>
          <p:cNvSpPr/>
          <p:nvPr/>
        </p:nvSpPr>
        <p:spPr>
          <a:xfrm>
            <a:off x="850392" y="428853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13 Surface Review</a:t>
            </a:r>
            <a:endParaRPr lang="en-US"/>
          </a:p>
        </p:txBody>
      </p:sp>
      <p:sp>
        <p:nvSpPr>
          <p:cNvPr id="13" name="Shape"/>
          <p:cNvSpPr/>
          <p:nvPr/>
        </p:nvSpPr>
        <p:spPr>
          <a:xfrm>
            <a:off x="850392" y="466344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Show surface metrics and warnings before completion.</a:t>
            </a:r>
            <a:endParaRPr lang="en-US"/>
          </a:p>
        </p:txBody>
      </p:sp>
      <p:sp>
        <p:nvSpPr>
          <p:cNvPr id="14" name="Shape"/>
          <p:cNvSpPr/>
          <p:nvPr/>
        </p:nvSpPr>
        <p:spPr>
          <a:xfrm>
            <a:off x="6172200" y="1325880"/>
            <a:ext cx="5074920" cy="1078992"/>
          </a:xfrm>
          <a:prstGeom prst="rect">
            <a:avLst/>
          </a:prstGeom>
          <a:solidFill>
            <a:srgbClr val="DCEFE9"/>
          </a:solidFill>
          <a:ln w="9525">
            <a:solidFill>
              <a:srgbClr val="CBD8D4"/>
            </a:solidFill>
          </a:ln>
        </p:spPr>
      </p:sp>
      <p:sp>
        <p:nvSpPr>
          <p:cNvPr id="15" name="Shape"/>
          <p:cNvSpPr/>
          <p:nvPr/>
        </p:nvSpPr>
        <p:spPr>
          <a:xfrm>
            <a:off x="6336792" y="145389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14 Inspection Validation</a:t>
            </a:r>
            <a:endParaRPr lang="en-US"/>
          </a:p>
        </p:txBody>
      </p:sp>
      <p:sp>
        <p:nvSpPr>
          <p:cNvPr id="16" name="Shape"/>
          <p:cNvSpPr/>
          <p:nvPr/>
        </p:nvSpPr>
        <p:spPr>
          <a:xfrm>
            <a:off x="6336792" y="182880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Block submission for incomplete surfaces, no photo, invalid location.</a:t>
            </a:r>
            <a:endParaRPr lang="en-US"/>
          </a:p>
        </p:txBody>
      </p:sp>
      <p:sp>
        <p:nvSpPr>
          <p:cNvPr id="17" name="Shape"/>
          <p:cNvSpPr/>
          <p:nvPr/>
        </p:nvSpPr>
        <p:spPr>
          <a:xfrm>
            <a:off x="6172200" y="2743200"/>
            <a:ext cx="5074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18" name="Shape"/>
          <p:cNvSpPr/>
          <p:nvPr/>
        </p:nvSpPr>
        <p:spPr>
          <a:xfrm>
            <a:off x="6336792" y="2871216"/>
            <a:ext cx="474573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 b="1">
                <a:solidFill>
                  <a:srgbClr val="075F5C"/>
                </a:solidFill>
                <a:latin typeface="Aptos"/>
              </a:rPr>
              <a:t>15 Submission Success</a:t>
            </a:r>
            <a:endParaRPr lang="en-US"/>
          </a:p>
        </p:txBody>
      </p:sp>
      <p:sp>
        <p:nvSpPr>
          <p:cNvPr id="19" name="Shape"/>
          <p:cNvSpPr/>
          <p:nvPr/>
        </p:nvSpPr>
        <p:spPr>
          <a:xfrm>
            <a:off x="6336792" y="3246120"/>
            <a:ext cx="4745736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950">
                <a:solidFill>
                  <a:srgbClr val="17201E"/>
                </a:solidFill>
                <a:latin typeface="Aptos"/>
              </a:rPr>
              <a:t>Confirm report-ready dataset and offer next actions.</a:t>
            </a:r>
            <a:endParaRPr lang="en-US"/>
          </a:p>
        </p:txBody>
      </p:sp>
      <p:sp>
        <p:nvSpPr>
          <p:cNvPr id="20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21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502920" y="310896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2400" b="1">
                <a:solidFill>
                  <a:srgbClr val="075F5C"/>
                </a:solidFill>
                <a:latin typeface="Aptos"/>
              </a:rPr>
              <a:t>Recommended Next Steps</a:t>
            </a:r>
            <a:endParaRPr lang="en-US"/>
          </a:p>
        </p:txBody>
      </p:sp>
      <p:sp>
        <p:nvSpPr>
          <p:cNvPr id="3" name="Shape"/>
          <p:cNvSpPr/>
          <p:nvPr/>
        </p:nvSpPr>
        <p:spPr>
          <a:xfrm>
            <a:off x="512064" y="7498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050">
                <a:solidFill>
                  <a:srgbClr val="52625E"/>
                </a:solidFill>
                <a:latin typeface="Aptos"/>
              </a:rPr>
              <a:t>Implementation decisions to lock before production mobile work</a:t>
            </a:r>
            <a:endParaRPr lang="en-US"/>
          </a:p>
        </p:txBody>
      </p:sp>
      <p:sp>
        <p:nvSpPr>
          <p:cNvPr id="4" name="Shape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CBD8D4"/>
          </a:solidFill>
          <a:ln w="9525">
            <a:solidFill>
              <a:srgbClr val="CBD8D4"/>
            </a:solidFill>
          </a:ln>
        </p:spPr>
      </p:sp>
      <p:sp>
        <p:nvSpPr>
          <p:cNvPr id="5" name="Shape"/>
          <p:cNvSpPr/>
          <p:nvPr/>
        </p:nvSpPr>
        <p:spPr>
          <a:xfrm>
            <a:off x="685800" y="1325880"/>
            <a:ext cx="51206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6" name="Shape"/>
          <p:cNvSpPr/>
          <p:nvPr/>
        </p:nvSpPr>
        <p:spPr>
          <a:xfrm>
            <a:off x="850392" y="1453896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Product decisions</a:t>
            </a:r>
            <a:endParaRPr lang="en-US"/>
          </a:p>
        </p:txBody>
      </p:sp>
      <p:sp>
        <p:nvSpPr>
          <p:cNvPr id="7" name="Shape"/>
          <p:cNvSpPr/>
          <p:nvPr/>
        </p:nvSpPr>
        <p:spPr>
          <a:xfrm>
            <a:off x="850392" y="1828800"/>
            <a:ext cx="4791456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Freeze grid calibration rules by tank and surface.</a:t>
            </a:r>
            <a:endParaRPr lang="en-US"/>
          </a:p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Define plate ID to X/Y mapping source from TK 201 drawings.</a:t>
            </a:r>
            <a:endParaRPr lang="en-US"/>
          </a:p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Decide which surfaces are required for each inspection type.</a:t>
            </a:r>
            <a:endParaRPr lang="en-US"/>
          </a:p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Define how annular review is represented when no defect is found.</a:t>
            </a:r>
            <a:endParaRPr lang="en-US"/>
          </a:p>
        </p:txBody>
      </p:sp>
      <p:sp>
        <p:nvSpPr>
          <p:cNvPr id="8" name="Shape"/>
          <p:cNvSpPr/>
          <p:nvPr/>
        </p:nvSpPr>
        <p:spPr>
          <a:xfrm>
            <a:off x="6263640" y="1325880"/>
            <a:ext cx="51206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8D4"/>
            </a:solidFill>
          </a:ln>
        </p:spPr>
      </p:sp>
      <p:sp>
        <p:nvSpPr>
          <p:cNvPr id="9" name="Shape"/>
          <p:cNvSpPr/>
          <p:nvPr/>
        </p:nvSpPr>
        <p:spPr>
          <a:xfrm>
            <a:off x="6428232" y="1453896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300" b="1">
                <a:solidFill>
                  <a:srgbClr val="075F5C"/>
                </a:solidFill>
                <a:latin typeface="Aptos"/>
              </a:rPr>
              <a:t>Technical work</a:t>
            </a:r>
            <a:endParaRPr lang="en-US"/>
          </a:p>
        </p:txBody>
      </p:sp>
      <p:sp>
        <p:nvSpPr>
          <p:cNvPr id="10" name="Shape"/>
          <p:cNvSpPr/>
          <p:nvPr/>
        </p:nvSpPr>
        <p:spPr>
          <a:xfrm>
            <a:off x="6428232" y="1828800"/>
            <a:ext cx="4791456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Replace mock photos with native camera and offline file storage.</a:t>
            </a:r>
            <a:endParaRPr lang="en-US"/>
          </a:p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Add durable sync queue with retry state.</a:t>
            </a:r>
            <a:endParaRPr lang="en-US"/>
          </a:p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Add multi-cell region selection.</a:t>
            </a:r>
            <a:endParaRPr lang="en-US"/>
          </a:p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Import prior repairs and historical defects as overlays.</a:t>
            </a:r>
            <a:endParaRPr lang="en-US"/>
          </a:p>
          <a:p>
            <a:pPr algn="l"/>
            <a:r>
              <a:rPr lang="en-US" sz="1150">
                <a:solidFill>
                  <a:srgbClr val="17201E"/>
                </a:solidFill>
                <a:latin typeface="Aptos"/>
              </a:rPr>
              <a:t>- Move persistence from localStorage to mobile-grade storage.</a:t>
            </a:r>
            <a:endParaRPr lang="en-US"/>
          </a:p>
        </p:txBody>
      </p:sp>
      <p:sp>
        <p:nvSpPr>
          <p:cNvPr id="11" name="Shape"/>
          <p:cNvSpPr/>
          <p:nvPr/>
        </p:nvSpPr>
        <p:spPr>
          <a:xfrm>
            <a:off x="512064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US" sz="850">
                <a:solidFill>
                  <a:srgbClr val="52625E"/>
                </a:solidFill>
                <a:latin typeface="Aptos"/>
              </a:rPr>
              <a:t>Tank Inspection Copilot</a:t>
            </a:r>
            <a:endParaRPr lang="en-US"/>
          </a:p>
        </p:txBody>
      </p:sp>
      <p:sp>
        <p:nvSpPr>
          <p:cNvPr id="12" name="Shape"/>
          <p:cNvSpPr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US" sz="850">
                <a:solidFill>
                  <a:srgbClr val="52625E"/>
                </a:solidFill>
                <a:latin typeface="Aptos"/>
              </a:rPr>
              <a:t>18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nk Inspection">
  <a:themeElements>
    <a:clrScheme name="Tank Inspection">
      <a:dk1>
        <a:srgbClr val="17201E"/>
      </a:dk1>
      <a:lt1>
        <a:srgbClr val="FFFFFF"/>
      </a:lt1>
      <a:dk2>
        <a:srgbClr val="0E3432"/>
      </a:dk2>
      <a:lt2>
        <a:srgbClr val="F4F7F6"/>
      </a:lt2>
      <a:accent1>
        <a:srgbClr val="075F5C"/>
      </a:accent1>
      <a:accent2>
        <a:srgbClr val="DCEFE9"/>
      </a:accent2>
      <a:accent3>
        <a:srgbClr val="F2C078"/>
      </a:accent3>
      <a:accent4>
        <a:srgbClr val="B42318"/>
      </a:accent4>
      <a:accent5>
        <a:srgbClr val="CBD8D4"/>
      </a:accent5>
      <a:accent6>
        <a:srgbClr val="52625E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Tank Inspection Copilot Product Report</dc:title>
  <dc:creator>Codex</dc:creator>
  <cp:lastModifiedBy>Codex</cp:lastModifiedBy>
  <dcterms:created xsi:type="dcterms:W3CDTF">2026-04-14T00:00:00Z</dcterms:created>
  <dcterms:modified xsi:type="dcterms:W3CDTF">2026-04-14T00:00:00Z</dcterms:modified>
</cp:coreProperties>
</file>