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73752" y="0"/>
            <a:ext cx="91440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4320"/>
            <a:ext cx="593296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002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CEFE9"/>
                </a:solidFill>
                <a:latin typeface="Arial"/>
              </a:rPr>
              <a:t>TANK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04288"/>
            <a:ext cx="4114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64992"/>
            <a:ext cx="3474720" cy="4572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930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CEFE9"/>
                </a:solidFill>
                <a:latin typeface="Arial"/>
              </a:rPr>
              <a:t>Field inspection → Structured data → Report package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41648"/>
            <a:ext cx="4114800" cy="868680"/>
          </a:xfrm>
          <a:prstGeom prst="rect">
            <a:avLst/>
          </a:prstGeom>
          <a:noFill/>
          <a:ln w="12700">
            <a:solidFill>
              <a:srgbClr val="DC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13308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EFE9"/>
                </a:solidFill>
                <a:latin typeface="Arial"/>
              </a:rPr>
              <a:t>LAIQ 3U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074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Upskill People  ·  Uplift the Standard  ·  Uptime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EFE9"/>
                </a:solidFill>
                <a:latin typeface="Arial"/>
              </a:rPr>
              <a:t>Commercial Deck V3  · 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4" y="521207"/>
            <a:ext cx="2760354" cy="596188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21808" y="438912"/>
            <a:ext cx="2760354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9914" y="475488"/>
            <a:ext cx="1104141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tas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548640"/>
            <a:ext cx="2668914" cy="57607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759952" y="1024128"/>
            <a:ext cx="3127248" cy="1508760"/>
          </a:xfrm>
          <a:prstGeom prst="rect">
            <a:avLst/>
          </a:prstGeom>
          <a:solidFill>
            <a:srgbClr val="F4F7F6"/>
          </a:solidFill>
          <a:ln w="635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143000"/>
            <a:ext cx="28163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Capture readings, findings,
photos, and location in one
guided field flow.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59952" y="2633472"/>
            <a:ext cx="3127248" cy="713232"/>
          </a:xfrm>
          <a:prstGeom prst="rect">
            <a:avLst/>
          </a:prstGeom>
          <a:solidFill>
            <a:srgbClr val="DCEFE9"/>
          </a:solidFill>
          <a:ln w="635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72491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Leave site with a
report-ready output package.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Today's inspection workflow has a broken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Field data and the report are generated in two separate, disconnected workflows.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Field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UT readings, notes, photos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4327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8608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8608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Separate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Notebook + phone photos +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5384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62272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62272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60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Back-office re-keying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Transfer into report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7336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64224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64224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82512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Rebuild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Match photos, findings, locations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0184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66176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66176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84464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84464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Merge MFL separately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Contractor PDF handled outside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32136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68128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68128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86416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86416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43616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Final report &amp; QA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77856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Gaps found after leaving site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3364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Arial"/>
              </a:rPr>
              <a:t>Where the workflow breaks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368503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2376" y="3858768"/>
            <a:ext cx="5440680" cy="65836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" y="3794760"/>
            <a:ext cx="5440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" y="3794760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" y="388620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Duplicate entry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3886200"/>
            <a:ext cx="3273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Same reading captured in the field, then typed again in the report.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9944" y="3858768"/>
            <a:ext cx="5440680" cy="65836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45936" y="3794760"/>
            <a:ext cx="5440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45936" y="3794760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47103" y="388620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Broken evidence links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9327" y="3886200"/>
            <a:ext cx="3273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Findings, photos, and UT rows are not connected when observed.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2376" y="4663440"/>
            <a:ext cx="5440680" cy="65836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8368" y="4599432"/>
            <a:ext cx="5440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8368" y="4599432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" y="4690872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Weak location traceability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1760" y="4690872"/>
            <a:ext cx="3273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Prose descriptions cannot be trended or returned to next cycle.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9944" y="4663440"/>
            <a:ext cx="5440680" cy="65836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45936" y="4599432"/>
            <a:ext cx="5440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45936" y="4599432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47103" y="4690872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Fragmented deliverables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9327" y="4690872"/>
            <a:ext cx="3273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Shell, nozzles, and MFL often end up as separate, unlinked outputs.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5559552"/>
            <a:ext cx="11137392" cy="475488"/>
          </a:xfrm>
          <a:prstGeom prst="rect">
            <a:avLst/>
          </a:prstGeom>
          <a:solidFill>
            <a:srgbClr val="DCEFE9"/>
          </a:solidFill>
          <a:ln w="1016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672" y="5669280"/>
            <a:ext cx="10863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75F5C"/>
                </a:solidFill>
                <a:latin typeface="Arial"/>
              </a:rPr>
              <a:t>Field capture and report generation are still two separate workflows — that gap is the commercial opportunity.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Current State  ·  S2</a:t>
            </a:r>
          </a:p>
        </p:txBody>
      </p:sp>
      <p:pic>
        <p:nvPicPr>
          <p:cNvPr id="81" name="Picture 80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Data-first reporting: from tank surfaces to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One guided field workflow captures every surface. A canonical inspection record drives automated report assembly.</a:t>
            </a:r>
          </a:p>
        </p:txBody>
      </p:sp>
      <p:sp>
        <p:nvSpPr>
          <p:cNvPr id="8" name="Oval 7"/>
          <p:cNvSpPr/>
          <p:nvPr/>
        </p:nvSpPr>
        <p:spPr>
          <a:xfrm>
            <a:off x="740664" y="5212079"/>
            <a:ext cx="2331720" cy="438912"/>
          </a:xfrm>
          <a:prstGeom prst="ellipse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2084831"/>
            <a:ext cx="2331720" cy="312724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29967"/>
            <a:ext cx="2331720" cy="3127248"/>
          </a:xfrm>
          <a:prstGeom prst="rect">
            <a:avLst/>
          </a:prstGeom>
          <a:solidFill>
            <a:srgbClr val="DCEFE9"/>
          </a:solidFill>
          <a:ln w="190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5157216"/>
            <a:ext cx="2331720" cy="438912"/>
          </a:xfrm>
          <a:prstGeom prst="ellipse">
            <a:avLst/>
          </a:prstGeom>
          <a:solidFill>
            <a:srgbClr val="DCEFE9"/>
          </a:solidFill>
          <a:ln w="190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810512"/>
            <a:ext cx="2331720" cy="438912"/>
          </a:xfrm>
          <a:prstGeom prst="ellipse">
            <a:avLst/>
          </a:prstGeom>
          <a:solidFill>
            <a:srgbClr val="075F5C"/>
          </a:solidFill>
          <a:ln w="190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11779"/>
            <a:ext cx="2331720" cy="22860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93591"/>
            <a:ext cx="2331720" cy="22860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75404"/>
            <a:ext cx="2331720" cy="22860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" y="2738627"/>
            <a:ext cx="347472" cy="164592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" y="2738627"/>
            <a:ext cx="347472" cy="164592"/>
          </a:xfrm>
          <a:prstGeom prst="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" y="3833164"/>
            <a:ext cx="347472" cy="164592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" y="3833164"/>
            <a:ext cx="347472" cy="164592"/>
          </a:xfrm>
          <a:prstGeom prst="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8507" y="1554480"/>
            <a:ext cx="164592" cy="274320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5420563"/>
            <a:ext cx="2478024" cy="219456"/>
          </a:xfrm>
          <a:prstGeom prst="ellipse">
            <a:avLst/>
          </a:prstGeom>
          <a:solidFill>
            <a:srgbClr val="B2CCC7"/>
          </a:solidFill>
          <a:ln w="9525">
            <a:solidFill>
              <a:srgbClr val="8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19568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21945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Roof UT plates
(A–E readings)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2386949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Shell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262469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Strake × N/E/S/W
× 5 UT readings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36378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Nozzles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38755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12/3/6/9 clock
+ pad readings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52212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Annular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54589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Base ring zone
MFL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155448" y="31062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Shell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155448" y="33439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Nozzle positions
N/E/S/W clock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5138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Bottom / MFL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72414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Import MFL metadata
and attachment ref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6976" y="31455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2CCC7"/>
                </a:solidFill>
                <a:latin typeface="Arial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75888" y="1847088"/>
            <a:ext cx="2606040" cy="448056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1880" y="1783080"/>
            <a:ext cx="260604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1783080"/>
            <a:ext cx="2606040" cy="56692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76472" y="1856231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1  Field Capture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2148840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EFE9"/>
                </a:solidFill>
                <a:latin typeface="Arial"/>
              </a:rPr>
              <a:t>Guided on-site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6472" y="2496312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Tank &amp; surface configuration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6472" y="2916936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UT rows: shell, roof, nozzle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3337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In-context finding 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375818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Photo evidence linked at source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6472" y="41788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Coarse or precise location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7044" y="3803904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2CCC7"/>
                </a:solidFill>
                <a:latin typeface="Arial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4808" y="1847088"/>
            <a:ext cx="2606040" cy="448056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1783080"/>
            <a:ext cx="2606040" cy="448056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1783080"/>
            <a:ext cx="2606040" cy="566928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1856231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/>
              </a:rPr>
              <a:t>2  Inspection Record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2148840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2625E"/>
                </a:solidFill>
                <a:latin typeface="Arial"/>
              </a:rPr>
              <a:t>Canonical structured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2496312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Asset hierarchy: Tank→Surface→Plate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65392" y="2916936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Location: strake, bearing, X/Y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337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Findings: type, severity, 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375818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MFL source metadata &amp; attachment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41788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Completeness &amp; API 653 checks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55964" y="3803904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2CCC7"/>
                </a:solidFill>
                <a:latin typeface="Arial"/>
              </a:rPr>
              <a:t>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53728" y="1847088"/>
            <a:ext cx="2606040" cy="448056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89720" y="1783080"/>
            <a:ext cx="260604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89720" y="1783080"/>
            <a:ext cx="2606040" cy="56692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54312" y="1856231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3  Report Package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54312" y="2148840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EFE9"/>
                </a:solidFill>
                <a:latin typeface="Arial"/>
              </a:rPr>
              <a:t>Automated output assembly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54312" y="2496312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Shell / roof UT tables (auto-filled)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54312" y="2916936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Findings register + linked photos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54312" y="3337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Shell plate layout map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54312" y="375818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MFL section with reference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54312" y="41788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JSON + CSV export for CMMS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6400800"/>
            <a:ext cx="11137392" cy="12801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6409944"/>
            <a:ext cx="111373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LAIQ 3U  ·  Upskill People   ·   Uplift the Standard   ·   Uptime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Architecture  ·  S3</a:t>
            </a:r>
          </a:p>
        </p:txBody>
      </p:sp>
      <p:pic>
        <p:nvPicPr>
          <p:cNvPr id="71" name="Picture 70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Guided task-driven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Configure the tank once. Select in-scope surfaces. Work from a live Task Board that tracks completion.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75F5C"/>
                </a:solidFill>
                <a:latin typeface="Arial"/>
              </a:rPr>
              <a:t>Configure once  </a:t>
            </a:r>
            <a:r>
              <a:rPr sz="1150" b="0">
                <a:solidFill>
                  <a:srgbClr val="17201E"/>
                </a:solidFill>
                <a:latin typeface="Arial"/>
              </a:rPr>
              <a:t>tank geometry and references drive all later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75F5C"/>
                </a:solidFill>
                <a:latin typeface="Arial"/>
              </a:rPr>
              <a:t>Scope selection  </a:t>
            </a:r>
            <a:r>
              <a:rPr sz="1150" b="0">
                <a:solidFill>
                  <a:srgbClr val="17201E"/>
                </a:solidFill>
                <a:latin typeface="Arial"/>
              </a:rPr>
              <a:t>only surfaces in scope appear in the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33472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75F5C"/>
                </a:solidFill>
                <a:latin typeface="Arial"/>
              </a:rPr>
              <a:t>Live Task Board  </a:t>
            </a:r>
            <a:r>
              <a:rPr sz="1150" b="0">
                <a:solidFill>
                  <a:srgbClr val="17201E"/>
                </a:solidFill>
                <a:latin typeface="Arial"/>
              </a:rPr>
              <a:t>progress, warnings, and completion counts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26664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75F5C"/>
                </a:solidFill>
                <a:latin typeface="Arial"/>
              </a:rPr>
              <a:t>Draft save/resume  </a:t>
            </a:r>
            <a:r>
              <a:rPr sz="1150" b="0">
                <a:solidFill>
                  <a:srgbClr val="17201E"/>
                </a:solidFill>
                <a:latin typeface="Arial"/>
              </a:rPr>
              <a:t>supports real-world field interruptions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" y="4014216"/>
            <a:ext cx="6217920" cy="87782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950208"/>
            <a:ext cx="6217920" cy="877824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950208"/>
            <a:ext cx="64008" cy="87782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069080"/>
            <a:ext cx="5870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75F5C"/>
                </a:solidFill>
                <a:latin typeface="Arial"/>
              </a:rPr>
              <a:t>No second 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352544"/>
            <a:ext cx="5833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7201E"/>
                </a:solidFill>
                <a:latin typeface="Arial"/>
              </a:rPr>
              <a:t>Everything captured in the Task Board flows directly into the report output — no manual transfer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8601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5943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_setup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95528"/>
            <a:ext cx="2427594" cy="523951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59205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6547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5_tas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795528"/>
            <a:ext cx="2427594" cy="52395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Field Capture Step 1  ·  S4</a:t>
            </a:r>
          </a:p>
        </p:txBody>
      </p:sp>
      <p:pic>
        <p:nvPicPr>
          <p:cNvPr id="27" name="Picture 26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Structured UT data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Each surface task captures readings in exactly the structure the report needs. Nothing is re-entered.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5897880" cy="4572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9568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Entry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9568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Output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40864"/>
            <a:ext cx="5897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4140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Strake × N/E/S/W × 5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140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thickness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798064"/>
            <a:ext cx="5897880" cy="457200"/>
          </a:xfrm>
          <a:prstGeom prst="rect">
            <a:avLst/>
          </a:prstGeom>
          <a:solidFill>
            <a:srgbClr val="F4F7F6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8712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28712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Plate × A–E readings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8712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thickness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255264"/>
            <a:ext cx="5897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284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Nozzles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33284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12/3/6/9 o'clock + pad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33284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nozzle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12464"/>
            <a:ext cx="5897880" cy="457200"/>
          </a:xfrm>
          <a:prstGeom prst="rect">
            <a:avLst/>
          </a:prstGeom>
          <a:solidFill>
            <a:srgbClr val="F4F7F6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7856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Nozzles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37856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N/E/S/W + pad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7856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nozzle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169664"/>
            <a:ext cx="5897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2428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Bottom MFL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04288" y="42428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Import report 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42428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MFL section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" y="4782312"/>
            <a:ext cx="5897880" cy="9875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718304"/>
            <a:ext cx="5897880" cy="987552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828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102352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17201E"/>
                </a:solidFill>
                <a:latin typeface="Arial"/>
              </a:rPr>
              <a:t>UT readings arrive in the report already mapped to the right table section. The inspector does not rebuild the structure from handwritten notes.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8601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5943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7_shellut_r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95528"/>
            <a:ext cx="2427594" cy="523951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959205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0976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6547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11_roof_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795528"/>
            <a:ext cx="2427594" cy="5239512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Field Capture Step 2  ·  S5</a:t>
            </a:r>
          </a:p>
        </p:txBody>
      </p:sp>
      <p:pic>
        <p:nvPicPr>
          <p:cNvPr id="46" name="Picture 45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FIELD CAPTURE  · 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In-context finding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When something is found during a UT task, the inspector documents it there and then — not later from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11095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1 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1911095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Take photo — auto-linked to the active UT task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04288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682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2  Annotate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3682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Circle, arrow, or label the visible anomaly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61488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254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3  Type + 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28254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Crack, corrosion, deformation, or weld concern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218688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826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4 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32826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Strake, bearing, and UT context already pre-filled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75887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398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5  Measurements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37398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Add pit depth, crack length, or custom notes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33087"/>
            <a:ext cx="530352" cy="40233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970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6  Save &amp;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41970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Back to UT task with zero duplicate entry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" y="4800600"/>
            <a:ext cx="6446520" cy="84124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36592"/>
            <a:ext cx="6446520" cy="841248"/>
          </a:xfrm>
          <a:prstGeom prst="rect">
            <a:avLst/>
          </a:prstGeom>
          <a:solidFill>
            <a:srgbClr val="FDF0E0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36592"/>
            <a:ext cx="64008" cy="8412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84632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Arial"/>
              </a:rPr>
              <a:t>Linked at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02352"/>
            <a:ext cx="6035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17201E"/>
                </a:solidFill>
                <a:latin typeface="Arial"/>
              </a:rPr>
              <a:t>Each finding is permanently associated with its UT task row — it appears in the Findings Register with full evidence context, no separate entry required.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3485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0827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08_shell_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795528"/>
            <a:ext cx="2427594" cy="523951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Field Capture Step 3  ·  S6</a:t>
            </a:r>
          </a:p>
        </p:txBody>
      </p:sp>
      <p:pic>
        <p:nvPicPr>
          <p:cNvPr id="37" name="Picture 36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Location intelligence by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The right level of mapping for each surface — from coarse UT position to precise repeatable coordinates.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1911095"/>
            <a:ext cx="6236208" cy="69494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62362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47088"/>
            <a:ext cx="64008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938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938528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Strake + compass direction for coarse UT. Tap-on-canvas for precise plate coordinates.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2752344"/>
            <a:ext cx="6236208" cy="69494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88336"/>
            <a:ext cx="62362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88336"/>
            <a:ext cx="64008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7797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779776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Plate-based entry for routine UT readings across ring and section.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3593592"/>
            <a:ext cx="6236208" cy="69494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529584"/>
            <a:ext cx="62362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64008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621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Shell nozzles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3621024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Course + clock position before readings — linked to shell location.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" y="4434840"/>
            <a:ext cx="6236208" cy="69494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370832"/>
            <a:ext cx="62362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370832"/>
            <a:ext cx="64008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4622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Roof nozzles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4462272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Roof map registration before N/E/S/W + pad measurements.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" y="5385816"/>
            <a:ext cx="6236208" cy="102412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321808"/>
            <a:ext cx="6236208" cy="1024128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413248"/>
            <a:ext cx="5870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Why precise location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687568"/>
            <a:ext cx="58704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17201E"/>
                </a:solidFill>
                <a:latin typeface="Arial"/>
              </a:rPr>
              <a:t>Most reports record location as prose: "near the third strake, north side." That cannot be mapped, trended, or reliably returned to in the next inspection cycle. A repeatable coordinate can.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8601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5943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9_shell_layout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95528"/>
            <a:ext cx="2427594" cy="523951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959205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6547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10b_shell_map_mar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795528"/>
            <a:ext cx="2427594" cy="523951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Field Capture Step 4  ·  S7</a:t>
            </a:r>
          </a:p>
        </p:txBody>
      </p:sp>
      <p:pic>
        <p:nvPicPr>
          <p:cNvPr id="42" name="Picture 41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OUTPUT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What the customer gets at the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The value is not just the capture flow. It is the inspection package that is ready for review, handover, and downstream 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1892807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3035808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64008" cy="80467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293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UT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12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Shell, roof, and nozzle readings structured for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1064" y="1892807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77056" y="1828800"/>
            <a:ext cx="3035808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77056" y="1828800"/>
            <a:ext cx="64008" cy="80467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9936" y="19293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Findings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6" y="2212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Type, severity, measurement, and linked photo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2862072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798064"/>
            <a:ext cx="3035808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798064"/>
            <a:ext cx="64008" cy="80467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8986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Location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1821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Coarse UT position or precise shell coordinate per finding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41064" y="2862072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77056" y="2798064"/>
            <a:ext cx="3035808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77056" y="2798064"/>
            <a:ext cx="64008" cy="80467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9936" y="28986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MFL Section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31821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Contractor reference and attachment context 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" y="3831336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767328"/>
            <a:ext cx="3035808" cy="804672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767328"/>
            <a:ext cx="64008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38679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Arial"/>
              </a:rPr>
              <a:t>Structured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1513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JSON + CSV for CMMS, analytics, or digital twin ingestion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4856" y="795528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713232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08270" y="749808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13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822960"/>
            <a:ext cx="2427594" cy="523951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58368" y="5138928"/>
            <a:ext cx="7726679" cy="77724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23036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EFE9"/>
                </a:solidFill>
                <a:latin typeface="Arial"/>
              </a:rPr>
              <a:t>Commercial 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2928" y="523036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inspector leaves site with structured inspection data — not disconnected notes and photos.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Output Value  ·  S8</a:t>
            </a:r>
          </a:p>
        </p:txBody>
      </p:sp>
      <p:pic>
        <p:nvPicPr>
          <p:cNvPr id="42" name="Picture 41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BUYER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Why it matters commercially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" y="1691640"/>
            <a:ext cx="5468112" cy="13258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68112" cy="13258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Less admin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3055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Reduce re-keying and post-site report reconstruction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7376" y="1691640"/>
            <a:ext cx="5468112" cy="13258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1627632"/>
            <a:ext cx="5468112" cy="13258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627632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175564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Better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13055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Tie findings, photos, and location to the original UT task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3246120"/>
            <a:ext cx="5468112" cy="13258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182112"/>
            <a:ext cx="5468112" cy="13258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182112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31012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Cleaner contractor 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68503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Standard structure instead of multiple custom templates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3246120"/>
            <a:ext cx="5468112" cy="13258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3368" y="3182112"/>
            <a:ext cx="5468112" cy="13258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3368" y="3182112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31012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Analytics-ready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68503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Structured output suitable for trend analysis and asset systems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" y="4983480"/>
            <a:ext cx="11137392" cy="129844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919472"/>
            <a:ext cx="11137392" cy="1298448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19472"/>
            <a:ext cx="64008" cy="12984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04748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/>
              </a:rPr>
              <a:t>Positioning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21808"/>
            <a:ext cx="10789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Tank Inspection Copilot is not just a mobile form. It is a structured inspection workflow that improves how inspection data is captured, checked, handed over, and reused.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Buyer Value  ·  S9</a:t>
            </a:r>
          </a:p>
        </p:txBody>
      </p:sp>
      <p:pic>
        <p:nvPicPr>
          <p:cNvPr id="34" name="Picture 33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Why now — and who buys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" y="1691640"/>
            <a:ext cx="5468112" cy="14447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68112" cy="144475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/>
              </a:rPr>
              <a:t>API 653 &amp; audit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305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More demand for clearer finding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Traceability across inspection cycles now 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1691640"/>
            <a:ext cx="5468112" cy="14447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627632"/>
            <a:ext cx="5468112" cy="144475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3368" y="1627632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1755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/>
              </a:rPr>
              <a:t>Workforce knowledge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1305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Good practice must be encoded in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4963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Less dependence on inspector memory and personal templates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" y="3337560"/>
            <a:ext cx="5468112" cy="14447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73552"/>
            <a:ext cx="5468112" cy="144475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273552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401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/>
              </a:rPr>
              <a:t>Digital asset initiatives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7764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Operators want structured inspection data in CMMS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1422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PDF-only workflows slow analysis and reuse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7376" y="3337560"/>
            <a:ext cx="5468112" cy="14447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73368" y="3273552"/>
            <a:ext cx="5468112" cy="144475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73368" y="3273552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3401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/>
              </a:rPr>
              <a:t>Mobile field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37764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Rugged tablets and phones are already field-standard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41422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The missing layer is the structured workflow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" y="5230368"/>
            <a:ext cx="11137392" cy="137160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66360"/>
            <a:ext cx="11137392" cy="1371600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2852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/>
              </a:rPr>
              <a:t>Primary buyers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▸  Inspection companies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562356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Faster delivery and stronger data quality positioning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91616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▸  Asset owners / operators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591616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Standard output across tanks and contractors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20877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▸  Inspection consultancies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6432" y="620877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Move away from bespoke Excel reporting packs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Market Context  ·  S10</a:t>
            </a:r>
          </a:p>
        </p:txBody>
      </p:sp>
      <p:pic>
        <p:nvPicPr>
          <p:cNvPr id="42" name="Picture 41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Recommended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" y="1691640"/>
            <a:ext cx="5468112" cy="10789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68112" cy="107899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64008" cy="107899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/>
              </a:rPr>
              <a:t>Pilot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031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1 tank type or 1 contractor inspection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7376" y="1691640"/>
            <a:ext cx="5468112" cy="10789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1627632"/>
            <a:ext cx="5468112" cy="107899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627632"/>
            <a:ext cx="64008" cy="107899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17556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1031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2–4 field inspectors  +  1 report reviewer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2990088"/>
            <a:ext cx="5468112" cy="10789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926080"/>
            <a:ext cx="5468112" cy="107899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926080"/>
            <a:ext cx="64008" cy="107899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0540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/>
              </a:rPr>
              <a:t>Pilot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4015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Verify capture flow, output usability, and data completeness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2990088"/>
            <a:ext cx="5468112" cy="10789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3368" y="2926080"/>
            <a:ext cx="5468112" cy="107899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3368" y="2926080"/>
            <a:ext cx="64008" cy="10789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0540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/>
              </a:rPr>
              <a:t>Success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4015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Less manual rework  ·  Clearer linked evidence  ·  Usable export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25696"/>
            <a:ext cx="11137392" cy="9875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5262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FE9"/>
                </a:solidFill>
                <a:latin typeface="Arial"/>
              </a:rPr>
              <a:t>Suggested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280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Run a controlled pilot on one inspection workflow, prove the output package is useful, then expand surface coverage and reporting depth from there.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" y="5660136"/>
            <a:ext cx="11137392" cy="74980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596128"/>
            <a:ext cx="11137392" cy="749808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15584"/>
            <a:ext cx="10863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5F5C"/>
                </a:solidFill>
                <a:latin typeface="Arial"/>
              </a:rPr>
              <a:t>Tank Inspection Copilot turns inspection work into structured inspection data that is easier to check, easier to hand over, and easier to reuse.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Pilot Proposal  ·  S11</a:t>
            </a:r>
          </a:p>
        </p:txBody>
      </p:sp>
      <p:pic>
        <p:nvPicPr>
          <p:cNvPr id="35" name="Picture 34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FINAL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From captured data to report in one click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9966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Convert the structured inspection record into a report-ready document package — without rebuilding the story manually.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1911095"/>
            <a:ext cx="2150705" cy="46451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828800"/>
            <a:ext cx="2150705" cy="4645152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9883" y="1865376"/>
            <a:ext cx="860282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938528"/>
            <a:ext cx="2059265" cy="4443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767328" y="2816352"/>
            <a:ext cx="2121408" cy="1261872"/>
          </a:xfrm>
          <a:prstGeom prst="rect">
            <a:avLst/>
          </a:prstGeom>
          <a:solidFill>
            <a:srgbClr val="DCEFE9"/>
          </a:solidFill>
          <a:ln w="1270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9443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75F5C"/>
                </a:solidFill>
                <a:latin typeface="Arial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944368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Report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8328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 i="0">
                <a:solidFill>
                  <a:srgbClr val="17201E"/>
                </a:solidFill>
                <a:latin typeface="Arial"/>
              </a:rPr>
              <a:t>Normalise  ·  Map to template
Assemble draft  ·  Package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3236976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75F5C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36976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75F5C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1847088"/>
            <a:ext cx="4919472" cy="47365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783080"/>
            <a:ext cx="4919472" cy="473659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port_sample_shell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901952"/>
            <a:ext cx="4663440" cy="440740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473952" y="1901952"/>
            <a:ext cx="4663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3952" y="5961888"/>
            <a:ext cx="46634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81051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75F5C"/>
                </a:solidFill>
                <a:latin typeface="Arial"/>
              </a:rPr>
              <a:t>Sample report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075F5C"/>
                </a:solidFill>
                <a:latin typeface="Arial"/>
              </a:rPr>
              <a:t>•  UT tables: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1" y="651052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/>
              </a:rPr>
              <a:t>Auto-filled from shell, roof, and nozzle captured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7116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075F5C"/>
                </a:solidFill>
                <a:latin typeface="Arial"/>
              </a:rPr>
              <a:t>•  Linked evidence: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671169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/>
              </a:rPr>
              <a:t>Finding photos and context tied to each UT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91286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075F5C"/>
                </a:solidFill>
                <a:latin typeface="Arial"/>
              </a:rPr>
              <a:t>•  Location: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691286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/>
              </a:rPr>
              <a:t>Shell coordinates or coarse references flow into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71140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075F5C"/>
                </a:solidFill>
                <a:latin typeface="Arial"/>
              </a:rPr>
              <a:t>•  Handover ready: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1" y="711403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/>
              </a:rPr>
              <a:t>Clean review package for customer, operator, or consultant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55080"/>
            <a:ext cx="11137392" cy="2743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11137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LAIQ  ·  Tank Inspection Copilot  ·  Confidential  ·  April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C6E"/>
                </a:solidFill>
                <a:latin typeface="Arial"/>
              </a:rPr>
              <a:t>HARDWARE &amp;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Purpose-built hardware. Measurable business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6E"/>
                </a:solidFill>
                <a:latin typeface="Arial"/>
              </a:rPr>
              <a:t>Field reality — why a smartphone is not enough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6053328" cy="2743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" y="1783080"/>
            <a:ext cx="6053328" cy="54864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6053328" cy="54864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54864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9222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  <a:latin typeface="Arial"/>
              </a:rPr>
              <a:t>☀  Sunlight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792224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52625E"/>
                </a:solidFill>
                <a:latin typeface="Arial"/>
              </a:rPr>
              <a:t>Consumer screens wash out at &gt;80 klux. Inspectors cannot see the app.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2404872"/>
            <a:ext cx="6053328" cy="54864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340864"/>
            <a:ext cx="6053328" cy="54864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340864"/>
            <a:ext cx="54864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414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  <a:latin typeface="Arial"/>
              </a:rPr>
              <a:t>⚠  ATEX Zone 1/2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414016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52625E"/>
                </a:solidFill>
                <a:latin typeface="Arial"/>
              </a:rPr>
              <a:t>Smartphones &amp; consumer tablets are prohibited by law in hazardous areas.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" y="3026664"/>
            <a:ext cx="6053328" cy="54864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962656"/>
            <a:ext cx="6053328" cy="54864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962656"/>
            <a:ext cx="54864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358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  <a:latin typeface="Arial"/>
              </a:rPr>
              <a:t>💧  IP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3035808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52625E"/>
                </a:solidFill>
                <a:latin typeface="Arial"/>
              </a:rPr>
              <a:t>Rain, dust, chemicals — IP54 minimum. Touch must work with wet gloves.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" y="3648456"/>
            <a:ext cx="6053328" cy="54864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84448"/>
            <a:ext cx="6053328" cy="54864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54864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65760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  <a:latin typeface="Arial"/>
              </a:rPr>
              <a:t>✈  Offline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9968" y="3657600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52625E"/>
                </a:solidFill>
                <a:latin typeface="Arial"/>
              </a:rPr>
              <a:t>No Wi-Fi or cellular on many tank farms. Device must work air-gapped.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" y="4315968"/>
            <a:ext cx="6053328" cy="146304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251960"/>
            <a:ext cx="6053328" cy="1463040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251960"/>
            <a:ext cx="6053328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43400"/>
            <a:ext cx="5687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Solution  —  Explosion-Proof ATEX / IECEx PDA Tablet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63440"/>
            <a:ext cx="5687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201E"/>
                </a:solidFill>
                <a:latin typeface="Arial"/>
              </a:rPr>
              <a:t>▸  ATEX / IECEx Zone 1 &amp; 2 certified  (Ex ia / Ex 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864607"/>
            <a:ext cx="5687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201E"/>
                </a:solidFill>
                <a:latin typeface="Arial"/>
              </a:rPr>
              <a:t>▸  1000–1400 nit sunlight-readable, high-contrast display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065776"/>
            <a:ext cx="5687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201E"/>
                </a:solidFill>
                <a:latin typeface="Arial"/>
              </a:rPr>
              <a:t>▸  10–12" large tablet  ·  glove-friendly touch targets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266944"/>
            <a:ext cx="5687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201E"/>
                </a:solidFill>
                <a:latin typeface="Arial"/>
              </a:rPr>
              <a:t>▸  IP67 / IP68 sealed  ·  operates –20 °C to +60 °C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468112"/>
            <a:ext cx="5687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201E"/>
                </a:solidFill>
                <a:latin typeface="Arial"/>
              </a:rPr>
              <a:t>▸  100% offline — Tank Inspection Copilot runs fully on-device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60720"/>
            <a:ext cx="5687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8B8B4"/>
                </a:solidFill>
                <a:latin typeface="Arial"/>
              </a:rPr>
              <a:t>Ecom Tab-Ex 02  ·  Bartec ZONE 2 Tablet  ·  Pepperl+Fuchs BM-T35  ·  R.STAHL XCom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1353312"/>
            <a:ext cx="36576" cy="5230368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1353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75F5C"/>
                </a:solidFill>
                <a:latin typeface="Arial"/>
              </a:rPr>
              <a:t>LAIQ outcomes — what customers measure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6600" y="1627632"/>
            <a:ext cx="4800600" cy="2743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50608" y="1783080"/>
            <a:ext cx="1463040" cy="17830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86600" y="1719072"/>
            <a:ext cx="1463040" cy="17830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6600" y="1719072"/>
            <a:ext cx="1463040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96328" y="1792224"/>
            <a:ext cx="1243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/>
              </a:rPr>
              <a:t>Inspection Cycle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6328" y="2240280"/>
            <a:ext cx="1243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75F5C"/>
                </a:solidFill>
                <a:latin typeface="Arial"/>
              </a:rPr>
              <a:t>↓ 40–70%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50608" y="3648456"/>
            <a:ext cx="1463040" cy="22677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86600" y="3584448"/>
            <a:ext cx="1463040" cy="226771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86600" y="3584448"/>
            <a:ext cx="1463040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96328" y="3675887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Re-keying eliminated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96328" y="4334255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Completeness check on 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6328" y="4992623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Report assembly automated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23376" y="1783080"/>
            <a:ext cx="1463040" cy="17830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59368" y="1719072"/>
            <a:ext cx="1463040" cy="17830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59368" y="1719072"/>
            <a:ext cx="146304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69096" y="1792224"/>
            <a:ext cx="1243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/>
              </a:rPr>
              <a:t>Data 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9096" y="2240280"/>
            <a:ext cx="1243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C6E"/>
                </a:solidFill>
                <a:latin typeface="Arial"/>
              </a:rPr>
              <a:t>Zero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23376" y="3648456"/>
            <a:ext cx="1463040" cy="22677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59368" y="3584448"/>
            <a:ext cx="1463040" cy="226771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659368" y="3584448"/>
            <a:ext cx="1463040" cy="45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69096" y="3675887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Offline-first — writes instantly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69096" y="4334255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No paper transcription errors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69096" y="4992623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Photos linked at moment of capture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296144" y="1783080"/>
            <a:ext cx="1463040" cy="17830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32136" y="1719072"/>
            <a:ext cx="1463040" cy="1783080"/>
          </a:xfrm>
          <a:prstGeom prst="rect">
            <a:avLst/>
          </a:prstGeom>
          <a:solidFill>
            <a:srgbClr val="FDF0E0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32136" y="1719072"/>
            <a:ext cx="146304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41864" y="1792224"/>
            <a:ext cx="1243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/>
              </a:rPr>
              <a:t>Revenue &amp; Capacity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41864" y="2240280"/>
            <a:ext cx="1243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7E22"/>
                </a:solidFill>
                <a:latin typeface="Arial"/>
              </a:rPr>
              <a:t>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96144" y="3648456"/>
            <a:ext cx="1463040" cy="22677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232136" y="3584448"/>
            <a:ext cx="1463040" cy="226771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32136" y="3584448"/>
            <a:ext cx="146304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41864" y="3675887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Admin hours → billable field hours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41864" y="4334255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More inspections per period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41864" y="4992623"/>
            <a:ext cx="12435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01E"/>
                </a:solidFill>
                <a:latin typeface="Arial"/>
              </a:rPr>
              <a:t>▸  Premium structured data offering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6446520"/>
            <a:ext cx="11137392" cy="31089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4672" y="6510528"/>
            <a:ext cx="10954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LAIQ 3U  ·  Upskill People   ·   Uplift the Standard   ·   Uptime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Hardware &amp; Outcomes  ·  S13</a:t>
            </a:r>
          </a:p>
        </p:txBody>
      </p:sp>
      <p:pic>
        <p:nvPicPr>
          <p:cNvPr id="79" name="Picture 78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