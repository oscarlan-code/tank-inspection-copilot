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" y="0"/>
            <a:ext cx="64008" cy="6858000"/>
          </a:xfrm>
          <a:prstGeom prst="rect">
            <a:avLst/>
          </a:prstGeom>
          <a:solidFill>
            <a:srgbClr val="DCE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82880"/>
            <a:ext cx="11521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75F5C"/>
                </a:solidFill>
                <a:latin typeface="Arial"/>
              </a:rPr>
              <a:t>PAIN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02336"/>
            <a:ext cx="115214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75F5C"/>
                </a:solidFill>
                <a:latin typeface="Arial"/>
              </a:rPr>
              <a:t>Without LAIQ, Every Tank Report Is Rebuilt After the Field Visit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97280"/>
            <a:ext cx="11521440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0700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2625E"/>
                </a:solidFill>
                <a:latin typeface="Arial"/>
              </a:rPr>
              <a:t>Oil &amp; gas tank inspection is still highly manual. After the field visit, teams often rebuild the final report from notebooks, Excel sheets, photo folders, MFL/NDT attachments, and reviewer comments.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64208"/>
            <a:ext cx="4800600" cy="3401568"/>
          </a:xfrm>
          <a:prstGeom prst="rect">
            <a:avLst/>
          </a:prstGeom>
          <a:solidFill>
            <a:srgbClr val="F4F7F6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10512"/>
            <a:ext cx="2377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/>
              </a:rPr>
              <a:t>Current broken handoff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2029968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 i="1">
                <a:solidFill>
                  <a:srgbClr val="A8B8B4"/>
                </a:solidFill>
                <a:latin typeface="Arial"/>
              </a:rPr>
              <a:t>Field inspection → separate records → back-office re-keying → context rebuilding → report QA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2432304"/>
            <a:ext cx="786384" cy="585216"/>
          </a:xfrm>
          <a:prstGeom prst="rect">
            <a:avLst/>
          </a:prstGeom>
          <a:solidFill>
            <a:srgbClr val="075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54203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rial"/>
              </a:rPr>
              <a:t>Field visit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59689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ABBB6"/>
                </a:solidFill>
                <a:latin typeface="Arial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19072" y="2432304"/>
            <a:ext cx="786384" cy="585216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73936" y="254203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rial"/>
              </a:rPr>
              <a:t>Notebook / photos /
Excel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05456" y="259689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ABBB6"/>
                </a:solidFill>
                <a:latin typeface="Arial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51760" y="2432304"/>
            <a:ext cx="786384" cy="585216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06624" y="254203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rial"/>
              </a:rPr>
              <a:t>Back-office
re-keying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38144" y="259689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ABBB6"/>
                </a:solidFill>
                <a:latin typeface="Arial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84448" y="2432304"/>
            <a:ext cx="786384" cy="585216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254203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rial"/>
              </a:rPr>
              <a:t>Context rebuild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70832" y="2596896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ABBB6"/>
                </a:solidFill>
                <a:latin typeface="Arial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17136" y="2432304"/>
            <a:ext cx="786384" cy="585216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1999" y="2542032"/>
            <a:ext cx="67665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Arial"/>
              </a:rPr>
              <a:t>Report QA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3255264"/>
            <a:ext cx="422452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6384" y="3255264"/>
            <a:ext cx="54864" cy="329184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" y="3300984"/>
            <a:ext cx="1417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B02020"/>
                </a:solidFill>
                <a:latin typeface="Arial"/>
              </a:rPr>
              <a:t>Duplicate entry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67712" y="3300984"/>
            <a:ext cx="25786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625E"/>
                </a:solidFill>
                <a:latin typeface="Arial"/>
              </a:rPr>
              <a:t>The same readings and notes are entered multiple times.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6384" y="3675888"/>
            <a:ext cx="422452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6384" y="3675888"/>
            <a:ext cx="54864" cy="329184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" y="3721608"/>
            <a:ext cx="1417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B02020"/>
                </a:solidFill>
                <a:latin typeface="Arial"/>
              </a:rPr>
              <a:t>Weak evidence traceability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67712" y="3721608"/>
            <a:ext cx="25786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625E"/>
                </a:solidFill>
                <a:latin typeface="Arial"/>
              </a:rPr>
              <a:t>Photos, findings, and location links are rebuilt manually.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" y="4096512"/>
            <a:ext cx="422452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6384" y="4096512"/>
            <a:ext cx="54864" cy="329184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142232"/>
            <a:ext cx="1417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B02020"/>
                </a:solidFill>
                <a:latin typeface="Arial"/>
              </a:rPr>
              <a:t>Slow turnaround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67712" y="4142232"/>
            <a:ext cx="25786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625E"/>
                </a:solidFill>
                <a:latin typeface="Arial"/>
              </a:rPr>
              <a:t>Report drafting starts after the site visit ends.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6384" y="4517136"/>
            <a:ext cx="4224528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6384" y="4517136"/>
            <a:ext cx="54864" cy="329184"/>
          </a:xfrm>
          <a:prstGeom prst="rect">
            <a:avLst/>
          </a:prstGeom>
          <a:solidFill>
            <a:srgbClr val="B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2688" y="4562856"/>
            <a:ext cx="14173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1" i="0">
                <a:solidFill>
                  <a:srgbClr val="B02020"/>
                </a:solidFill>
                <a:latin typeface="Arial"/>
              </a:rPr>
              <a:t>Low historical reuse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67712" y="4562856"/>
            <a:ext cx="257860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80" b="0" i="0">
                <a:solidFill>
                  <a:srgbClr val="52625E"/>
                </a:solidFill>
                <a:latin typeface="Arial"/>
              </a:rPr>
              <a:t>Inspection knowledge remains trapped in static PDFs.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1664208"/>
            <a:ext cx="6492240" cy="3401568"/>
          </a:xfrm>
          <a:prstGeom prst="rect">
            <a:avLst/>
          </a:prstGeom>
          <a:solidFill>
            <a:srgbClr val="FFFFFF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24144" y="18288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1628"/>
                </a:solidFill>
                <a:latin typeface="Arial"/>
              </a:rPr>
              <a:t>Pain area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182880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 i="0">
                <a:solidFill>
                  <a:srgbClr val="0A1628"/>
                </a:solidFill>
                <a:latin typeface="Arial"/>
              </a:rPr>
              <a:t>Baseline estimate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0" y="2066543"/>
            <a:ext cx="6217920" cy="27432"/>
          </a:xfrm>
          <a:prstGeom prst="rect">
            <a:avLst/>
          </a:prstGeom>
          <a:solidFill>
            <a:srgbClr val="E2E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0" y="2194560"/>
            <a:ext cx="6217920" cy="283464"/>
          </a:xfrm>
          <a:prstGeom prst="rect">
            <a:avLst/>
          </a:prstGeom>
          <a:solidFill>
            <a:srgbClr val="F4F7F6"/>
          </a:solidFill>
          <a:ln w="254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97296" y="2240279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17201E"/>
                </a:solidFill>
                <a:latin typeface="Arial"/>
              </a:rPr>
              <a:t>Post-site report assembly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91472" y="2240279"/>
            <a:ext cx="22128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60" b="1" i="0">
                <a:solidFill>
                  <a:srgbClr val="B02020"/>
                </a:solidFill>
                <a:latin typeface="Arial"/>
              </a:rPr>
              <a:t>2–5 person-days/report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2523744"/>
            <a:ext cx="6217920" cy="28346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97296" y="2569463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17201E"/>
                </a:solidFill>
                <a:latin typeface="Arial"/>
              </a:rPr>
              <a:t>Final report cycle after site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491472" y="2569463"/>
            <a:ext cx="22128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60" b="1" i="0">
                <a:solidFill>
                  <a:srgbClr val="B02020"/>
                </a:solidFill>
                <a:latin typeface="Arial"/>
              </a:rPr>
              <a:t>7–10 days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2852928"/>
            <a:ext cx="6217920" cy="283464"/>
          </a:xfrm>
          <a:prstGeom prst="rect">
            <a:avLst/>
          </a:prstGeom>
          <a:solidFill>
            <a:srgbClr val="F4F7F6"/>
          </a:solidFill>
          <a:ln w="254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97296" y="2898648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17201E"/>
                </a:solidFill>
                <a:latin typeface="Arial"/>
              </a:rPr>
              <a:t>Mandatory structured points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91472" y="2898648"/>
            <a:ext cx="22128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60" b="1" i="0">
                <a:solidFill>
                  <a:srgbClr val="B02020"/>
                </a:solidFill>
                <a:latin typeface="Arial"/>
              </a:rPr>
              <a:t>580+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0" y="3182112"/>
            <a:ext cx="6217920" cy="28346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797296" y="3227832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17201E"/>
                </a:solidFill>
                <a:latin typeface="Arial"/>
              </a:rPr>
              <a:t>Total capture / verification burden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91472" y="3227832"/>
            <a:ext cx="22128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60" b="1" i="0">
                <a:solidFill>
                  <a:srgbClr val="B02020"/>
                </a:solidFill>
                <a:latin typeface="Arial"/>
              </a:rPr>
              <a:t>1,000–2,000+ data points/report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669280" y="3511296"/>
            <a:ext cx="6217920" cy="283464"/>
          </a:xfrm>
          <a:prstGeom prst="rect">
            <a:avLst/>
          </a:prstGeom>
          <a:solidFill>
            <a:srgbClr val="F4F7F6"/>
          </a:solidFill>
          <a:ln w="254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97296" y="3557015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17201E"/>
                </a:solidFill>
                <a:latin typeface="Arial"/>
              </a:rPr>
              <a:t>Checklist items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3557015"/>
            <a:ext cx="22128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60" b="1" i="0">
                <a:solidFill>
                  <a:srgbClr val="0A1628"/>
                </a:solidFill>
                <a:latin typeface="Arial"/>
              </a:rPr>
              <a:t>~195 items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0" y="3840479"/>
            <a:ext cx="6217920" cy="28346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97296" y="3886199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17201E"/>
                </a:solidFill>
                <a:latin typeface="Arial"/>
              </a:rPr>
              <a:t>UT readings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91472" y="3886199"/>
            <a:ext cx="22128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60" b="1" i="0">
                <a:solidFill>
                  <a:srgbClr val="0A1628"/>
                </a:solidFill>
                <a:latin typeface="Arial"/>
              </a:rPr>
              <a:t>~385 readings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669280" y="4169664"/>
            <a:ext cx="6217920" cy="283464"/>
          </a:xfrm>
          <a:prstGeom prst="rect">
            <a:avLst/>
          </a:prstGeom>
          <a:solidFill>
            <a:srgbClr val="F4F7F6"/>
          </a:solidFill>
          <a:ln w="254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97296" y="4215384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17201E"/>
                </a:solidFill>
                <a:latin typeface="Arial"/>
              </a:rPr>
              <a:t>Evidence matching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91472" y="4215384"/>
            <a:ext cx="22128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60" b="1" i="0">
                <a:solidFill>
                  <a:srgbClr val="0A1628"/>
                </a:solidFill>
                <a:latin typeface="Arial"/>
              </a:rPr>
              <a:t>Manual photo–finding–location linking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0" y="4498848"/>
            <a:ext cx="6217920" cy="283464"/>
          </a:xfrm>
          <a:prstGeom prst="rect">
            <a:avLst/>
          </a:prstGeom>
          <a:solidFill>
            <a:srgbClr val="FFFFFF"/>
          </a:solidFill>
          <a:ln w="2540">
            <a:solidFill>
              <a:srgbClr val="E2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797296" y="4544568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0" b="0" i="0">
                <a:solidFill>
                  <a:srgbClr val="17201E"/>
                </a:solidFill>
                <a:latin typeface="Arial"/>
              </a:rPr>
              <a:t>Reusable asset intelligence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91472" y="4544568"/>
            <a:ext cx="221284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60" b="1" i="0">
                <a:solidFill>
                  <a:srgbClr val="0A1628"/>
                </a:solidFill>
                <a:latin typeface="Arial"/>
              </a:rPr>
              <a:t>Low; trapped in static PDFs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5230368"/>
            <a:ext cx="11521440" cy="658368"/>
          </a:xfrm>
          <a:prstGeom prst="rect">
            <a:avLst/>
          </a:prstGeom>
          <a:solidFill>
            <a:srgbClr val="DCEFE9"/>
          </a:solidFill>
          <a:ln w="6350">
            <a:solidFill>
              <a:srgbClr val="8ABB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9808" y="5394960"/>
            <a:ext cx="1463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75F5C"/>
                </a:solidFill>
                <a:latin typeface="Arial"/>
              </a:rPr>
              <a:t>Why it matters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993392" y="5340096"/>
            <a:ext cx="9646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9" b="0" i="0">
                <a:solidFill>
                  <a:srgbClr val="17201E"/>
                </a:solidFill>
                <a:latin typeface="Arial"/>
              </a:rPr>
              <a:t>A tank report is not just writing. It requires UT tables, checklist results, findings, severity, photos, MFL/NDT references, location records, and repair recommendations. Without structured capture, the same data is entered multiple times and evidence links are rebuilt manually.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02920" y="5998464"/>
            <a:ext cx="11521440" cy="402336"/>
          </a:xfrm>
          <a:prstGeom prst="rect">
            <a:avLst/>
          </a:prstGeom>
          <a:solidFill>
            <a:srgbClr val="FCECEC"/>
          </a:solidFill>
          <a:ln w="635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04672" y="6108192"/>
            <a:ext cx="109179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B02020"/>
                </a:solidFill>
                <a:latin typeface="Arial"/>
              </a:rPr>
              <a:t>LAIQ replaces manual post-site reconstruction with one structured capture path that feeds report generation directly.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565392"/>
            <a:ext cx="12188952" cy="36576"/>
          </a:xfrm>
          <a:prstGeom prst="rect">
            <a:avLst/>
          </a:prstGeom>
          <a:solidFill>
            <a:srgbClr val="8ABB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64592" y="6611112"/>
            <a:ext cx="5486400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8B8B4"/>
                </a:solidFill>
                <a:latin typeface="Arial"/>
              </a:rPr>
              <a:t>Tank Inspection · One-page pain summary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400800" y="6611112"/>
            <a:ext cx="5605272" cy="192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8B8B4"/>
                </a:solidFill>
                <a:latin typeface="Arial"/>
              </a:rPr>
              <a:t>LAIQ  ·  Confidential</a:t>
            </a:r>
          </a:p>
        </p:txBody>
      </p:sp>
      <p:pic>
        <p:nvPicPr>
          <p:cNvPr id="77" name="Picture 76" descr="laiq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1881" y="6565392"/>
            <a:ext cx="514190" cy="2377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