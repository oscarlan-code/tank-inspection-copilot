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6400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75F5C"/>
                </a:solidFill>
                <a:latin typeface="Arial"/>
              </a:rPr>
              <a:t>PRODUCT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521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75F5C"/>
                </a:solidFill>
                <a:latin typeface="Arial"/>
              </a:rPr>
              <a:t>From Oil &amp; Gas Inspection Copilot to Industrial Service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521440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52625E"/>
                </a:solidFill>
                <a:latin typeface="Arial"/>
              </a:rPr>
              <a:t>Start with oil &amp; gas tank inspection, expand into wider industrial inspection, then build multi-agent maintenance intelligence and a service network connecting clients, inspectors, workshops, OEMs, and spare-part providers.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27632"/>
            <a:ext cx="11539728" cy="4553712"/>
          </a:xfrm>
          <a:prstGeom prst="rect">
            <a:avLst/>
          </a:prstGeom>
          <a:solidFill>
            <a:srgbClr val="F4F7F6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79222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628"/>
                </a:solidFill>
                <a:latin typeface="Arial"/>
              </a:rPr>
              <a:t>Four-stage roadmap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029968"/>
            <a:ext cx="2359152" cy="2907792"/>
          </a:xfrm>
          <a:prstGeom prst="rect">
            <a:avLst/>
          </a:prstGeom>
          <a:solidFill>
            <a:srgbClr val="FFFFFF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029968"/>
            <a:ext cx="2359152" cy="5486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2176272"/>
            <a:ext cx="365760" cy="365760"/>
          </a:xfrm>
          <a:prstGeom prst="ellipse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1762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139696"/>
            <a:ext cx="1664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1" i="0">
                <a:solidFill>
                  <a:srgbClr val="17201E"/>
                </a:solidFill>
                <a:latin typeface="Arial"/>
              </a:rPr>
              <a:t>Oil &amp; Gas
Inspection 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99339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625E"/>
                </a:solidFill>
                <a:latin typeface="Arial"/>
              </a:rPr>
              <a:t>Leave site with a report-ready tank inspection package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383280"/>
            <a:ext cx="1920240" cy="219456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29000"/>
            <a:ext cx="181051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40" b="1" i="0">
                <a:solidFill>
                  <a:srgbClr val="FFFFFF"/>
                </a:solidFill>
                <a:latin typeface="Arial"/>
              </a:rPr>
              <a:t>Prove the wedge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749039"/>
            <a:ext cx="1993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201E"/>
                </a:solidFill>
                <a:latin typeface="Arial"/>
              </a:rPr>
              <a:t>•  Offline tank capture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931920"/>
            <a:ext cx="1993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201E"/>
                </a:solidFill>
                <a:latin typeface="Arial"/>
              </a:rPr>
              <a:t>•  UT, checklist, findings, photos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114800"/>
            <a:ext cx="1993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201E"/>
                </a:solidFill>
                <a:latin typeface="Arial"/>
              </a:rPr>
              <a:t>•  Location + MFL/NDT reference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297680"/>
            <a:ext cx="1993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201E"/>
                </a:solidFill>
                <a:latin typeface="Arial"/>
              </a:rPr>
              <a:t>•  AI report draft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82112" y="3072384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ABBB6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84448" y="2029968"/>
            <a:ext cx="2359152" cy="2907792"/>
          </a:xfrm>
          <a:prstGeom prst="rect">
            <a:avLst/>
          </a:prstGeom>
          <a:solidFill>
            <a:srgbClr val="FFFFFF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84448" y="2029968"/>
            <a:ext cx="2359152" cy="54864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12463" y="2176272"/>
            <a:ext cx="365760" cy="365760"/>
          </a:xfrm>
          <a:prstGeom prst="ellipse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12463" y="21762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33087" y="2139696"/>
            <a:ext cx="1664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1" i="0">
                <a:solidFill>
                  <a:srgbClr val="17201E"/>
                </a:solidFill>
                <a:latin typeface="Arial"/>
              </a:rPr>
              <a:t>Industrial
Inspection Copilot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30752" y="2670048"/>
            <a:ext cx="199339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625E"/>
                </a:solidFill>
                <a:latin typeface="Arial"/>
              </a:rPr>
              <a:t>Apply the same inspection-to-report workflow across more assets and industries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30752" y="3383280"/>
            <a:ext cx="1920240" cy="219456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85615" y="3429000"/>
            <a:ext cx="181051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40" b="1" i="0">
                <a:solidFill>
                  <a:srgbClr val="FFFFFF"/>
                </a:solidFill>
                <a:latin typeface="Arial"/>
              </a:rPr>
              <a:t>Expand the workflow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0752" y="3749039"/>
            <a:ext cx="1993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201E"/>
                </a:solidFill>
                <a:latin typeface="Arial"/>
              </a:rPr>
              <a:t>•  Vessels, piping, valves, pumps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30752" y="3931920"/>
            <a:ext cx="1993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201E"/>
                </a:solidFill>
                <a:latin typeface="Arial"/>
              </a:rPr>
              <a:t>•  Utilities, power, marine, heavy equipment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0752" y="4114800"/>
            <a:ext cx="1993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201E"/>
                </a:solidFill>
                <a:latin typeface="Arial"/>
              </a:rPr>
              <a:t>•  Configurable inspection templates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0752" y="4297680"/>
            <a:ext cx="1993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201E"/>
                </a:solidFill>
                <a:latin typeface="Arial"/>
              </a:rPr>
              <a:t>•  More reports, more devices, more customers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6752" y="3072384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ABBB6"/>
                </a:solidFill>
                <a:latin typeface="Arial"/>
              </a:rPr>
              <a:t>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19088" y="2029968"/>
            <a:ext cx="2359152" cy="2907792"/>
          </a:xfrm>
          <a:prstGeom prst="rect">
            <a:avLst/>
          </a:prstGeom>
          <a:solidFill>
            <a:srgbClr val="FFFFFF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19088" y="2029968"/>
            <a:ext cx="23591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47103" y="2176272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47103" y="21762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7" y="2139696"/>
            <a:ext cx="1664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1" i="0">
                <a:solidFill>
                  <a:srgbClr val="17201E"/>
                </a:solidFill>
                <a:latin typeface="Arial"/>
              </a:rPr>
              <a:t>Multi-Agent Maintenance
&amp; Reliability Intelligence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5392" y="2670048"/>
            <a:ext cx="199339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625E"/>
                </a:solidFill>
                <a:latin typeface="Arial"/>
              </a:rPr>
              <a:t>Turn inspection and maintenance history into weak-point, lifetime, FMEA, and repair-priority decisions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65392" y="3383280"/>
            <a:ext cx="1920240" cy="21945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0255" y="3429000"/>
            <a:ext cx="181051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40" b="1" i="0">
                <a:solidFill>
                  <a:srgbClr val="FFFFFF"/>
                </a:solidFill>
                <a:latin typeface="Arial"/>
              </a:rPr>
              <a:t>Decide what to fix next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65392" y="3749039"/>
            <a:ext cx="1993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201E"/>
                </a:solidFill>
                <a:latin typeface="Arial"/>
              </a:rPr>
              <a:t>•  Report, review, planning, FMEA agents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65392" y="3931920"/>
            <a:ext cx="1993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201E"/>
                </a:solidFill>
                <a:latin typeface="Arial"/>
              </a:rPr>
              <a:t>•  Reliability + weak-point analysis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65392" y="4114800"/>
            <a:ext cx="1993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201E"/>
                </a:solidFill>
                <a:latin typeface="Arial"/>
              </a:rPr>
              <a:t>•  CMMS / work-order linkage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65392" y="4297680"/>
            <a:ext cx="1993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201E"/>
                </a:solidFill>
                <a:latin typeface="Arial"/>
              </a:rPr>
              <a:t>•  Premium intelligence module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51392" y="3072384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ABBB6"/>
                </a:solidFill>
                <a:latin typeface="Arial"/>
              </a:rPr>
              <a:t>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53728" y="2029968"/>
            <a:ext cx="2359152" cy="2907792"/>
          </a:xfrm>
          <a:prstGeom prst="rect">
            <a:avLst/>
          </a:prstGeom>
          <a:solidFill>
            <a:srgbClr val="FFFFFF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53728" y="2029968"/>
            <a:ext cx="2359152" cy="54864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81744" y="2176272"/>
            <a:ext cx="365760" cy="365760"/>
          </a:xfrm>
          <a:prstGeom prst="ellipse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81744" y="21762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02367" y="2139696"/>
            <a:ext cx="1664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1" i="0">
                <a:solidFill>
                  <a:srgbClr val="17201E"/>
                </a:solidFill>
                <a:latin typeface="Arial"/>
              </a:rPr>
              <a:t>Inspection-to-
Service Network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00032" y="2670048"/>
            <a:ext cx="199339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625E"/>
                </a:solidFill>
                <a:latin typeface="Arial"/>
              </a:rPr>
              <a:t>Connect findings to workshops, OEMs, spare parts, service execution, and follow-up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00032" y="3383280"/>
            <a:ext cx="1920240" cy="219456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54896" y="3429000"/>
            <a:ext cx="181051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40" b="1" i="0">
                <a:solidFill>
                  <a:srgbClr val="FFFFFF"/>
                </a:solidFill>
                <a:latin typeface="Arial"/>
              </a:rPr>
              <a:t>Act through the network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00032" y="3749039"/>
            <a:ext cx="1993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201E"/>
                </a:solidFill>
                <a:latin typeface="Arial"/>
              </a:rPr>
              <a:t>•  Repair package + service routing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00032" y="3931920"/>
            <a:ext cx="1993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201E"/>
                </a:solidFill>
                <a:latin typeface="Arial"/>
              </a:rPr>
              <a:t>•  Quote / work-order flow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00032" y="4114800"/>
            <a:ext cx="1993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201E"/>
                </a:solidFill>
                <a:latin typeface="Arial"/>
              </a:rPr>
              <a:t>•  Spare-part demand + OEM feedback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00032" y="4297680"/>
            <a:ext cx="1993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201E"/>
                </a:solidFill>
                <a:latin typeface="Arial"/>
              </a:rPr>
              <a:t>•  Partner / marketplace revenue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" y="5102352"/>
            <a:ext cx="10972800" cy="36576"/>
          </a:xfrm>
          <a:prstGeom prst="rect">
            <a:avLst/>
          </a:prstGeom>
          <a:solidFill>
            <a:srgbClr val="E2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" y="5230368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0A1628"/>
                </a:solidFill>
                <a:latin typeface="Arial"/>
              </a:rPr>
              <a:t>Structured inspection data spine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61488" y="5212080"/>
            <a:ext cx="1042416" cy="256032"/>
          </a:xfrm>
          <a:prstGeom prst="rect">
            <a:avLst/>
          </a:prstGeom>
          <a:solidFill>
            <a:srgbClr val="DCEFE9"/>
          </a:solidFill>
          <a:ln w="6350"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52928" y="5266944"/>
            <a:ext cx="85953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75F5C"/>
                </a:solidFill>
                <a:latin typeface="Arial"/>
              </a:rPr>
              <a:t>Field data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95344" y="5212080"/>
            <a:ext cx="1335024" cy="256032"/>
          </a:xfrm>
          <a:prstGeom prst="rect">
            <a:avLst/>
          </a:prstGeom>
          <a:solidFill>
            <a:srgbClr val="DCEFE9"/>
          </a:solidFill>
          <a:ln w="6350">
            <a:solidFill>
              <a:srgbClr val="4A8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86783" y="5266944"/>
            <a:ext cx="11521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807C"/>
                </a:solidFill>
                <a:latin typeface="Arial"/>
              </a:rPr>
              <a:t>Report package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21808" y="5212080"/>
            <a:ext cx="1261872" cy="256032"/>
          </a:xfrm>
          <a:prstGeom prst="rect">
            <a:avLst/>
          </a:prstGeom>
          <a:solidFill>
            <a:srgbClr val="DCEFE9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13248" y="5266944"/>
            <a:ext cx="10789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67E22"/>
                </a:solidFill>
                <a:latin typeface="Arial"/>
              </a:rPr>
              <a:t>Asset history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75120" y="5212080"/>
            <a:ext cx="1847088" cy="256032"/>
          </a:xfrm>
          <a:prstGeom prst="rect">
            <a:avLst/>
          </a:prstGeom>
          <a:solidFill>
            <a:srgbClr val="DCEFE9"/>
          </a:solidFill>
          <a:ln w="6350">
            <a:solidFill>
              <a:srgbClr val="12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66560" y="5266944"/>
            <a:ext cx="16642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22440"/>
                </a:solidFill>
                <a:latin typeface="Arial"/>
              </a:rPr>
              <a:t>Reliability decisions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613648" y="5212080"/>
            <a:ext cx="1554480" cy="256032"/>
          </a:xfrm>
          <a:prstGeom prst="rect">
            <a:avLst/>
          </a:prstGeom>
          <a:solidFill>
            <a:srgbClr val="DCEFE9"/>
          </a:solidFill>
          <a:ln w="6350"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705088" y="5266944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1628"/>
                </a:solidFill>
                <a:latin typeface="Arial"/>
              </a:rPr>
              <a:t>Service execution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2960" y="5650992"/>
            <a:ext cx="10991088" cy="5120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87552" y="5797296"/>
            <a:ext cx="10661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EFE9"/>
                </a:solidFill>
                <a:latin typeface="Arial"/>
              </a:rPr>
              <a:t>Roadmap principle: keep one structured inspection data spine, then expand from oil &amp; gas reports to industrial inspection, maintenance intelligence, reliability management, and service execution.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64592" y="6611112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B4"/>
                </a:solidFill>
                <a:latin typeface="Arial"/>
              </a:rPr>
              <a:t>Tank Inspection · One-page product roadmap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0" y="6611112"/>
            <a:ext cx="560527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8B8B4"/>
                </a:solidFill>
                <a:latin typeface="Arial"/>
              </a:rPr>
              <a:t>LAIQ  ·  Confidential</a:t>
            </a:r>
          </a:p>
        </p:txBody>
      </p:sp>
      <p:pic>
        <p:nvPicPr>
          <p:cNvPr id="78" name="Picture 77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1881" y="6565392"/>
            <a:ext cx="514190" cy="2377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