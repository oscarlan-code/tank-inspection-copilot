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88950"/>
  <p:notesSz cx="6858000" cy="9144000"/>
  <p:embeddedFontLst>
    <p:embeddedFont>
      <p:font typeface="Inter"/>
      <p:bold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D5DQzVatBeqWS/nPhI1JLhDOC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PoppinsSemi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SemiBold-bold.fntdata"/><Relationship Id="rId6" Type="http://schemas.openxmlformats.org/officeDocument/2006/relationships/slide" Target="slides/slide1.xml"/><Relationship Id="rId18" Type="http://schemas.openxmlformats.org/officeDocument/2006/relationships/font" Target="fonts/Poppins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6999376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69993763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699937637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699937637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699937637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699937637_0_3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67c00927c_0_4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e67c00927c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699937637_0_164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e699937637_0_1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67c00927c_54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e67c00927c_54_27:notes"/>
          <p:cNvSpPr/>
          <p:nvPr>
            <p:ph idx="2" type="sldImg"/>
          </p:nvPr>
        </p:nvSpPr>
        <p:spPr>
          <a:xfrm>
            <a:off x="685772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67c00927c_54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e67c00927c_54_56:notes"/>
          <p:cNvSpPr/>
          <p:nvPr>
            <p:ph idx="2" type="sldImg"/>
          </p:nvPr>
        </p:nvSpPr>
        <p:spPr>
          <a:xfrm>
            <a:off x="685772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699937637_0_1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e699937637_0_15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23.png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Relationship Id="rId5" Type="http://schemas.openxmlformats.org/officeDocument/2006/relationships/image" Target="../media/image5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75F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A807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aiq_logo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219456"/>
            <a:ext cx="593296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539490" y="722380"/>
            <a:ext cx="7132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DCEFE9"/>
                </a:solidFill>
                <a:latin typeface="Arial"/>
                <a:ea typeface="Arial"/>
                <a:cs typeface="Arial"/>
                <a:sym typeface="Arial"/>
              </a:rPr>
              <a:t>Leave Site with 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39490" y="1161292"/>
            <a:ext cx="7132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Report-Ready</a:t>
            </a:r>
            <a:b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Inspection Package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66928" y="2615184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AI-powered field inspection and asset intelligence · starting with oil &amp; gas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566928" y="2999232"/>
            <a:ext cx="7132320" cy="27432"/>
          </a:xfrm>
          <a:prstGeom prst="rect">
            <a:avLst/>
          </a:prstGeom>
          <a:solidFill>
            <a:srgbClr val="4A807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566928" y="3108960"/>
            <a:ext cx="1280160" cy="621792"/>
          </a:xfrm>
          <a:prstGeom prst="rect">
            <a:avLst/>
          </a:prstGeom>
          <a:solidFill>
            <a:srgbClr val="075F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30936" y="3145536"/>
            <a:ext cx="115214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Field</a:t>
            </a:r>
            <a:b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Inspection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856231" y="3218687"/>
            <a:ext cx="256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1956816" y="3108960"/>
            <a:ext cx="1280160" cy="621792"/>
          </a:xfrm>
          <a:prstGeom prst="rect">
            <a:avLst/>
          </a:prstGeom>
          <a:solidFill>
            <a:srgbClr val="4A807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020824" y="3145536"/>
            <a:ext cx="115214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Structured</a:t>
            </a:r>
            <a:b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Capture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3246120" y="3218687"/>
            <a:ext cx="256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3346704" y="3108960"/>
            <a:ext cx="1280160" cy="621792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410712" y="3145536"/>
            <a:ext cx="115214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Report</a:t>
            </a:r>
            <a:b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Package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4636008" y="3218687"/>
            <a:ext cx="256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4736592" y="3108960"/>
            <a:ext cx="1280160" cy="621792"/>
          </a:xfrm>
          <a:prstGeom prst="rect">
            <a:avLst/>
          </a:prstGeom>
          <a:solidFill>
            <a:srgbClr val="4A807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4800600" y="3145536"/>
            <a:ext cx="115214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Asset</a:t>
            </a:r>
            <a:b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Knowledge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6025896" y="3218687"/>
            <a:ext cx="256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6126479" y="3108960"/>
            <a:ext cx="1280160" cy="621792"/>
          </a:xfrm>
          <a:prstGeom prst="rect">
            <a:avLst/>
          </a:prstGeom>
          <a:solidFill>
            <a:srgbClr val="1224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6190488" y="3145536"/>
            <a:ext cx="115214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Weak Point /</a:t>
            </a:r>
            <a:b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FMEA Intel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566928" y="3858768"/>
            <a:ext cx="1517904" cy="256032"/>
          </a:xfrm>
          <a:prstGeom prst="rect">
            <a:avLst/>
          </a:prstGeom>
          <a:solidFill>
            <a:srgbClr val="DCEFE9"/>
          </a:solidFill>
          <a:ln cap="flat" cmpd="sng" w="9525">
            <a:solidFill>
              <a:srgbClr val="075F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640080" y="3877056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Beachhead: Oil &amp; Gas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2176272" y="3858768"/>
            <a:ext cx="2439619" cy="256032"/>
          </a:xfrm>
          <a:prstGeom prst="rect">
            <a:avLst/>
          </a:prstGeom>
          <a:solidFill>
            <a:srgbClr val="FDF0E0"/>
          </a:solidFill>
          <a:ln cap="flat" cmpd="sng" w="952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2249424" y="3877056"/>
            <a:ext cx="231160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Model: Free Capture + Paid Reports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4707331" y="3858768"/>
            <a:ext cx="1978761" cy="256032"/>
          </a:xfrm>
          <a:prstGeom prst="rect">
            <a:avLst/>
          </a:prstGeom>
          <a:solidFill>
            <a:srgbClr val="DCEFE9"/>
          </a:solidFill>
          <a:ln cap="flat" cmpd="sng" w="9525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4780483" y="3877056"/>
            <a:ext cx="185074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Hardware: ATEX/IECEx Device</a:t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6777532" y="3858768"/>
            <a:ext cx="1781251" cy="256032"/>
          </a:xfrm>
          <a:prstGeom prst="rect">
            <a:avLst/>
          </a:prstGeom>
          <a:solidFill>
            <a:srgbClr val="DCEFE9"/>
          </a:solidFill>
          <a:ln cap="flat" cmpd="sng" w="9525">
            <a:solidFill>
              <a:srgbClr val="075F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6850684" y="3877056"/>
            <a:ext cx="165323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Moat: Asset Intelligence</a:t>
            </a:r>
            <a:endParaRPr/>
          </a:p>
        </p:txBody>
      </p:sp>
      <p:pic>
        <p:nvPicPr>
          <p:cNvPr descr="atex_pda_mockup.png" id="113" name="Google Shape;113;p1"/>
          <p:cNvPicPr preferRelativeResize="0"/>
          <p:nvPr/>
        </p:nvPicPr>
        <p:blipFill rotWithShape="1">
          <a:blip r:embed="rId4">
            <a:alphaModFix/>
          </a:blip>
          <a:srcRect b="0" l="0" r="12250" t="0"/>
          <a:stretch/>
        </p:blipFill>
        <p:spPr>
          <a:xfrm>
            <a:off x="8017562" y="2458050"/>
            <a:ext cx="3843927" cy="246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"/>
          <p:cNvSpPr txBox="1"/>
          <p:nvPr/>
        </p:nvSpPr>
        <p:spPr>
          <a:xfrm>
            <a:off x="7882127" y="4992624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ATEX/IECEx certified rugged tablet with LAIQ Field App</a:t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7772400" y="1005840"/>
            <a:ext cx="27432" cy="5486400"/>
          </a:xfrm>
          <a:prstGeom prst="rect">
            <a:avLst/>
          </a:prstGeom>
          <a:solidFill>
            <a:srgbClr val="4A807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S1 · Cover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LAIQ  ·  Confidential</a:t>
            </a:r>
            <a:endParaRPr/>
          </a:p>
        </p:txBody>
      </p:sp>
      <p:pic>
        <p:nvPicPr>
          <p:cNvPr descr="laiq_logo.png" id="119" name="Google Shape;1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1881" y="6565392"/>
            <a:ext cx="514190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699937637_0_0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e699937637_0_0"/>
          <p:cNvSpPr txBox="1"/>
          <p:nvPr/>
        </p:nvSpPr>
        <p:spPr>
          <a:xfrm>
            <a:off x="571500" y="285750"/>
            <a:ext cx="11430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PAIN POINTS</a:t>
            </a:r>
            <a:endParaRPr b="1" sz="1000">
              <a:solidFill>
                <a:srgbClr val="075F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e699937637_0_0"/>
          <p:cNvSpPr txBox="1"/>
          <p:nvPr/>
        </p:nvSpPr>
        <p:spPr>
          <a:xfrm>
            <a:off x="571500" y="571500"/>
            <a:ext cx="11049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Without LAIQ, Every Tank Report Is Rebuilt After the Field Visit</a:t>
            </a:r>
            <a:endParaRPr b="1" sz="2800">
              <a:solidFill>
                <a:srgbClr val="075F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g3e699937637_0_0"/>
          <p:cNvGrpSpPr/>
          <p:nvPr/>
        </p:nvGrpSpPr>
        <p:grpSpPr>
          <a:xfrm>
            <a:off x="762000" y="1476375"/>
            <a:ext cx="4953000" cy="381000"/>
            <a:chOff x="762000" y="1476375"/>
            <a:chExt cx="4953000" cy="381000"/>
          </a:xfrm>
        </p:grpSpPr>
        <p:sp>
          <p:nvSpPr>
            <p:cNvPr id="128" name="Google Shape;128;g3e699937637_0_0"/>
            <p:cNvSpPr/>
            <p:nvPr/>
          </p:nvSpPr>
          <p:spPr>
            <a:xfrm>
              <a:off x="762000" y="1476375"/>
              <a:ext cx="4953000" cy="381000"/>
            </a:xfrm>
            <a:prstGeom prst="roundRect">
              <a:avLst>
                <a:gd fmla="val 15000" name="adj"/>
              </a:avLst>
            </a:prstGeom>
            <a:solidFill>
              <a:srgbClr val="F4F7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g3e699937637_0_0"/>
            <p:cNvSpPr txBox="1"/>
            <p:nvPr/>
          </p:nvSpPr>
          <p:spPr>
            <a:xfrm>
              <a:off x="857250" y="147637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A1628"/>
                  </a:solidFill>
                  <a:latin typeface="Arial"/>
                  <a:ea typeface="Arial"/>
                  <a:cs typeface="Arial"/>
                  <a:sym typeface="Arial"/>
                </a:rPr>
                <a:t>The Current Broken Handoff</a:t>
              </a:r>
              <a:endParaRPr b="1" sz="12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g3e699937637_0_0"/>
          <p:cNvGrpSpPr/>
          <p:nvPr/>
        </p:nvGrpSpPr>
        <p:grpSpPr>
          <a:xfrm>
            <a:off x="971550" y="2114550"/>
            <a:ext cx="4152900" cy="152400"/>
            <a:chOff x="971550" y="2114550"/>
            <a:chExt cx="4152900" cy="152400"/>
          </a:xfrm>
        </p:grpSpPr>
        <p:pic>
          <p:nvPicPr>
            <p:cNvPr id="131" name="Google Shape;131;g3e699937637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47750" y="2171700"/>
              <a:ext cx="40005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g3e699937637_0_0"/>
            <p:cNvSpPr/>
            <p:nvPr/>
          </p:nvSpPr>
          <p:spPr>
            <a:xfrm>
              <a:off x="971550" y="2114550"/>
              <a:ext cx="152400" cy="152400"/>
            </a:xfrm>
            <a:prstGeom prst="ellipse">
              <a:avLst/>
            </a:prstGeom>
            <a:solidFill>
              <a:srgbClr val="075F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g3e699937637_0_0"/>
            <p:cNvSpPr/>
            <p:nvPr/>
          </p:nvSpPr>
          <p:spPr>
            <a:xfrm>
              <a:off x="1971675" y="2114550"/>
              <a:ext cx="152400" cy="152400"/>
            </a:xfrm>
            <a:prstGeom prst="ellipse">
              <a:avLst/>
            </a:prstGeom>
            <a:solidFill>
              <a:srgbClr val="B020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g3e699937637_0_0"/>
            <p:cNvSpPr/>
            <p:nvPr/>
          </p:nvSpPr>
          <p:spPr>
            <a:xfrm>
              <a:off x="2971800" y="2114550"/>
              <a:ext cx="152400" cy="152400"/>
            </a:xfrm>
            <a:prstGeom prst="ellipse">
              <a:avLst/>
            </a:prstGeom>
            <a:solidFill>
              <a:srgbClr val="B020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g3e699937637_0_0"/>
            <p:cNvSpPr/>
            <p:nvPr/>
          </p:nvSpPr>
          <p:spPr>
            <a:xfrm>
              <a:off x="3971925" y="2114550"/>
              <a:ext cx="152400" cy="152400"/>
            </a:xfrm>
            <a:prstGeom prst="ellipse">
              <a:avLst/>
            </a:prstGeom>
            <a:solidFill>
              <a:srgbClr val="B020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g3e699937637_0_0"/>
            <p:cNvSpPr/>
            <p:nvPr/>
          </p:nvSpPr>
          <p:spPr>
            <a:xfrm>
              <a:off x="4972050" y="2114550"/>
              <a:ext cx="152400" cy="152400"/>
            </a:xfrm>
            <a:prstGeom prst="ellipse">
              <a:avLst/>
            </a:prstGeom>
            <a:solidFill>
              <a:srgbClr val="1224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g3e699937637_0_0"/>
          <p:cNvGrpSpPr/>
          <p:nvPr/>
        </p:nvGrpSpPr>
        <p:grpSpPr>
          <a:xfrm>
            <a:off x="762000" y="2333625"/>
            <a:ext cx="4572000" cy="381000"/>
            <a:chOff x="762000" y="2333625"/>
            <a:chExt cx="4572000" cy="381000"/>
          </a:xfrm>
        </p:grpSpPr>
        <p:sp>
          <p:nvSpPr>
            <p:cNvPr id="138" name="Google Shape;138;g3e699937637_0_0"/>
            <p:cNvSpPr txBox="1"/>
            <p:nvPr/>
          </p:nvSpPr>
          <p:spPr>
            <a:xfrm>
              <a:off x="762000" y="2333625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75F5C"/>
                  </a:solidFill>
                  <a:latin typeface="Arial"/>
                  <a:ea typeface="Arial"/>
                  <a:cs typeface="Arial"/>
                  <a:sym typeface="Arial"/>
                </a:rPr>
                <a:t>Field Visit</a:t>
              </a:r>
              <a:endParaRPr b="1" sz="80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3e699937637_0_0"/>
            <p:cNvSpPr txBox="1"/>
            <p:nvPr/>
          </p:nvSpPr>
          <p:spPr>
            <a:xfrm>
              <a:off x="1762125" y="2333625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B02020"/>
                  </a:solidFill>
                  <a:latin typeface="Arial"/>
                  <a:ea typeface="Arial"/>
                  <a:cs typeface="Arial"/>
                  <a:sym typeface="Arial"/>
                </a:rPr>
                <a:t>Notebook/ Photos</a:t>
              </a:r>
              <a:endParaRPr b="1" sz="800">
                <a:solidFill>
                  <a:srgbClr val="B020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e699937637_0_0"/>
            <p:cNvSpPr txBox="1"/>
            <p:nvPr/>
          </p:nvSpPr>
          <p:spPr>
            <a:xfrm>
              <a:off x="2762250" y="2333625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B02020"/>
                  </a:solidFill>
                  <a:latin typeface="Arial"/>
                  <a:ea typeface="Arial"/>
                  <a:cs typeface="Arial"/>
                  <a:sym typeface="Arial"/>
                </a:rPr>
                <a:t>Back-office Re-keying</a:t>
              </a:r>
              <a:endParaRPr b="1" sz="800">
                <a:solidFill>
                  <a:srgbClr val="B020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e699937637_0_0"/>
            <p:cNvSpPr txBox="1"/>
            <p:nvPr/>
          </p:nvSpPr>
          <p:spPr>
            <a:xfrm>
              <a:off x="3762375" y="2333625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B02020"/>
                  </a:solidFill>
                  <a:latin typeface="Arial"/>
                  <a:ea typeface="Arial"/>
                  <a:cs typeface="Arial"/>
                  <a:sym typeface="Arial"/>
                </a:rPr>
                <a:t>Context Rebuild</a:t>
              </a:r>
              <a:endParaRPr b="1" sz="800">
                <a:solidFill>
                  <a:srgbClr val="B020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e699937637_0_0"/>
            <p:cNvSpPr txBox="1"/>
            <p:nvPr/>
          </p:nvSpPr>
          <p:spPr>
            <a:xfrm>
              <a:off x="4762500" y="2333625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122440"/>
                  </a:solidFill>
                  <a:latin typeface="Arial"/>
                  <a:ea typeface="Arial"/>
                  <a:cs typeface="Arial"/>
                  <a:sym typeface="Arial"/>
                </a:rPr>
                <a:t>Report QA</a:t>
              </a:r>
              <a:endParaRPr b="1" sz="800">
                <a:solidFill>
                  <a:srgbClr val="1224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g3e699937637_0_0"/>
          <p:cNvSpPr/>
          <p:nvPr/>
        </p:nvSpPr>
        <p:spPr>
          <a:xfrm>
            <a:off x="6096000" y="1362825"/>
            <a:ext cx="57150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8ABB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" name="Google Shape;144;g3e699937637_0_0"/>
          <p:cNvGrpSpPr/>
          <p:nvPr/>
        </p:nvGrpSpPr>
        <p:grpSpPr>
          <a:xfrm>
            <a:off x="6286500" y="1809750"/>
            <a:ext cx="5334000" cy="2714550"/>
            <a:chOff x="6286500" y="1809750"/>
            <a:chExt cx="5334000" cy="2714550"/>
          </a:xfrm>
        </p:grpSpPr>
        <p:sp>
          <p:nvSpPr>
            <p:cNvPr id="145" name="Google Shape;145;g3e699937637_0_0"/>
            <p:cNvSpPr/>
            <p:nvPr/>
          </p:nvSpPr>
          <p:spPr>
            <a:xfrm>
              <a:off x="6286500" y="1809750"/>
              <a:ext cx="5334000" cy="9600"/>
            </a:xfrm>
            <a:prstGeom prst="rect">
              <a:avLst/>
            </a:prstGeom>
            <a:solidFill>
              <a:srgbClr val="E2E8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g3e699937637_0_0"/>
            <p:cNvSpPr/>
            <p:nvPr/>
          </p:nvSpPr>
          <p:spPr>
            <a:xfrm>
              <a:off x="6286500" y="1905000"/>
              <a:ext cx="5334000" cy="333300"/>
            </a:xfrm>
            <a:prstGeom prst="roundRect">
              <a:avLst>
                <a:gd fmla="val 11428" name="adj"/>
              </a:avLst>
            </a:prstGeom>
            <a:solidFill>
              <a:srgbClr val="FCECE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g3e699937637_0_0"/>
            <p:cNvSpPr txBox="1"/>
            <p:nvPr/>
          </p:nvSpPr>
          <p:spPr>
            <a:xfrm>
              <a:off x="6381750" y="1905000"/>
              <a:ext cx="2857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17201E"/>
                  </a:solidFill>
                  <a:latin typeface="Arial"/>
                  <a:ea typeface="Arial"/>
                  <a:cs typeface="Arial"/>
                  <a:sym typeface="Arial"/>
                </a:rPr>
                <a:t>Post-site report assembly</a:t>
              </a:r>
              <a:endParaRPr sz="95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3e699937637_0_0"/>
            <p:cNvSpPr txBox="1"/>
            <p:nvPr/>
          </p:nvSpPr>
          <p:spPr>
            <a:xfrm>
              <a:off x="9239250" y="1905000"/>
              <a:ext cx="2286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B02020"/>
                  </a:solidFill>
                  <a:latin typeface="Arial"/>
                  <a:ea typeface="Arial"/>
                  <a:cs typeface="Arial"/>
                  <a:sym typeface="Arial"/>
                </a:rPr>
                <a:t>2–5 person-days/report</a:t>
              </a:r>
              <a:endParaRPr b="1" sz="1000">
                <a:solidFill>
                  <a:srgbClr val="B020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3e699937637_0_0"/>
            <p:cNvSpPr/>
            <p:nvPr/>
          </p:nvSpPr>
          <p:spPr>
            <a:xfrm>
              <a:off x="6286500" y="2286000"/>
              <a:ext cx="5334000" cy="333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3e699937637_0_0"/>
            <p:cNvSpPr txBox="1"/>
            <p:nvPr/>
          </p:nvSpPr>
          <p:spPr>
            <a:xfrm>
              <a:off x="6381750" y="2286000"/>
              <a:ext cx="2857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17201E"/>
                  </a:solidFill>
                  <a:latin typeface="Arial"/>
                  <a:ea typeface="Arial"/>
                  <a:cs typeface="Arial"/>
                  <a:sym typeface="Arial"/>
                </a:rPr>
                <a:t>Final report cycle after site</a:t>
              </a:r>
              <a:endParaRPr sz="95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3e699937637_0_0"/>
            <p:cNvSpPr txBox="1"/>
            <p:nvPr/>
          </p:nvSpPr>
          <p:spPr>
            <a:xfrm>
              <a:off x="9239250" y="2286000"/>
              <a:ext cx="2286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B02020"/>
                  </a:solidFill>
                  <a:latin typeface="Arial"/>
                  <a:ea typeface="Arial"/>
                  <a:cs typeface="Arial"/>
                  <a:sym typeface="Arial"/>
                </a:rPr>
                <a:t>7–10 days</a:t>
              </a:r>
              <a:endParaRPr b="1" sz="1000">
                <a:solidFill>
                  <a:srgbClr val="B020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3e699937637_0_0"/>
            <p:cNvSpPr/>
            <p:nvPr/>
          </p:nvSpPr>
          <p:spPr>
            <a:xfrm>
              <a:off x="6286500" y="2667000"/>
              <a:ext cx="5334000" cy="333300"/>
            </a:xfrm>
            <a:prstGeom prst="roundRect">
              <a:avLst>
                <a:gd fmla="val 11428" name="adj"/>
              </a:avLst>
            </a:prstGeom>
            <a:solidFill>
              <a:srgbClr val="F4F7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g3e699937637_0_0"/>
            <p:cNvSpPr txBox="1"/>
            <p:nvPr/>
          </p:nvSpPr>
          <p:spPr>
            <a:xfrm>
              <a:off x="6381750" y="2667000"/>
              <a:ext cx="2857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17201E"/>
                  </a:solidFill>
                  <a:latin typeface="Arial"/>
                  <a:ea typeface="Arial"/>
                  <a:cs typeface="Arial"/>
                  <a:sym typeface="Arial"/>
                </a:rPr>
                <a:t>Total capture / verification burden</a:t>
              </a:r>
              <a:endParaRPr sz="95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g3e699937637_0_0"/>
            <p:cNvSpPr txBox="1"/>
            <p:nvPr/>
          </p:nvSpPr>
          <p:spPr>
            <a:xfrm>
              <a:off x="9239250" y="2667000"/>
              <a:ext cx="2286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B02020"/>
                  </a:solidFill>
                  <a:latin typeface="Arial"/>
                  <a:ea typeface="Arial"/>
                  <a:cs typeface="Arial"/>
                  <a:sym typeface="Arial"/>
                </a:rPr>
                <a:t>1,000–2,000+ data points</a:t>
              </a:r>
              <a:endParaRPr b="1" sz="1000">
                <a:solidFill>
                  <a:srgbClr val="B020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g3e699937637_0_0"/>
            <p:cNvSpPr/>
            <p:nvPr/>
          </p:nvSpPr>
          <p:spPr>
            <a:xfrm>
              <a:off x="6286500" y="3048000"/>
              <a:ext cx="5334000" cy="333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g3e699937637_0_0"/>
            <p:cNvSpPr txBox="1"/>
            <p:nvPr/>
          </p:nvSpPr>
          <p:spPr>
            <a:xfrm>
              <a:off x="6381750" y="3048000"/>
              <a:ext cx="2857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17201E"/>
                  </a:solidFill>
                  <a:latin typeface="Arial"/>
                  <a:ea typeface="Arial"/>
                  <a:cs typeface="Arial"/>
                  <a:sym typeface="Arial"/>
                </a:rPr>
                <a:t>Checklist items</a:t>
              </a:r>
              <a:endParaRPr sz="95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3e699937637_0_0"/>
            <p:cNvSpPr txBox="1"/>
            <p:nvPr/>
          </p:nvSpPr>
          <p:spPr>
            <a:xfrm>
              <a:off x="9239250" y="3048000"/>
              <a:ext cx="2286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A1628"/>
                  </a:solidFill>
                  <a:latin typeface="Arial"/>
                  <a:ea typeface="Arial"/>
                  <a:cs typeface="Arial"/>
                  <a:sym typeface="Arial"/>
                </a:rPr>
                <a:t>~195 items</a:t>
              </a:r>
              <a:endParaRPr b="1" sz="10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e699937637_0_0"/>
            <p:cNvSpPr/>
            <p:nvPr/>
          </p:nvSpPr>
          <p:spPr>
            <a:xfrm>
              <a:off x="6286500" y="3429000"/>
              <a:ext cx="5334000" cy="333300"/>
            </a:xfrm>
            <a:prstGeom prst="roundRect">
              <a:avLst>
                <a:gd fmla="val 11428" name="adj"/>
              </a:avLst>
            </a:prstGeom>
            <a:solidFill>
              <a:srgbClr val="F4F7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g3e699937637_0_0"/>
            <p:cNvSpPr txBox="1"/>
            <p:nvPr/>
          </p:nvSpPr>
          <p:spPr>
            <a:xfrm>
              <a:off x="6381750" y="3429000"/>
              <a:ext cx="2857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17201E"/>
                  </a:solidFill>
                  <a:latin typeface="Arial"/>
                  <a:ea typeface="Arial"/>
                  <a:cs typeface="Arial"/>
                  <a:sym typeface="Arial"/>
                </a:rPr>
                <a:t>UT readings</a:t>
              </a:r>
              <a:endParaRPr sz="95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e699937637_0_0"/>
            <p:cNvSpPr txBox="1"/>
            <p:nvPr/>
          </p:nvSpPr>
          <p:spPr>
            <a:xfrm>
              <a:off x="9239250" y="3429000"/>
              <a:ext cx="2286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A1628"/>
                  </a:solidFill>
                  <a:latin typeface="Arial"/>
                  <a:ea typeface="Arial"/>
                  <a:cs typeface="Arial"/>
                  <a:sym typeface="Arial"/>
                </a:rPr>
                <a:t>~385 readings</a:t>
              </a:r>
              <a:endParaRPr b="1" sz="10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3e699937637_0_0"/>
            <p:cNvSpPr/>
            <p:nvPr/>
          </p:nvSpPr>
          <p:spPr>
            <a:xfrm>
              <a:off x="6286500" y="3810000"/>
              <a:ext cx="5334000" cy="333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g3e699937637_0_0"/>
            <p:cNvSpPr txBox="1"/>
            <p:nvPr/>
          </p:nvSpPr>
          <p:spPr>
            <a:xfrm>
              <a:off x="6381750" y="3810000"/>
              <a:ext cx="2857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17201E"/>
                  </a:solidFill>
                  <a:latin typeface="Arial"/>
                  <a:ea typeface="Arial"/>
                  <a:cs typeface="Arial"/>
                  <a:sym typeface="Arial"/>
                </a:rPr>
                <a:t>Evidence matching</a:t>
              </a:r>
              <a:endParaRPr sz="95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3e699937637_0_0"/>
            <p:cNvSpPr txBox="1"/>
            <p:nvPr/>
          </p:nvSpPr>
          <p:spPr>
            <a:xfrm>
              <a:off x="9239250" y="3810000"/>
              <a:ext cx="2286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A1628"/>
                  </a:solidFill>
                  <a:latin typeface="Arial"/>
                  <a:ea typeface="Arial"/>
                  <a:cs typeface="Arial"/>
                  <a:sym typeface="Arial"/>
                </a:rPr>
                <a:t>Manual linking</a:t>
              </a:r>
              <a:endParaRPr b="1" sz="9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e699937637_0_0"/>
            <p:cNvSpPr/>
            <p:nvPr/>
          </p:nvSpPr>
          <p:spPr>
            <a:xfrm>
              <a:off x="6286500" y="4191000"/>
              <a:ext cx="5334000" cy="333300"/>
            </a:xfrm>
            <a:prstGeom prst="roundRect">
              <a:avLst>
                <a:gd fmla="val 11428" name="adj"/>
              </a:avLst>
            </a:prstGeom>
            <a:solidFill>
              <a:srgbClr val="F4F7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g3e699937637_0_0"/>
            <p:cNvSpPr txBox="1"/>
            <p:nvPr/>
          </p:nvSpPr>
          <p:spPr>
            <a:xfrm>
              <a:off x="6381750" y="4191000"/>
              <a:ext cx="2857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17201E"/>
                  </a:solidFill>
                  <a:latin typeface="Arial"/>
                  <a:ea typeface="Arial"/>
                  <a:cs typeface="Arial"/>
                  <a:sym typeface="Arial"/>
                </a:rPr>
                <a:t>Reusable asset intelligence</a:t>
              </a:r>
              <a:endParaRPr sz="95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e699937637_0_0"/>
            <p:cNvSpPr txBox="1"/>
            <p:nvPr/>
          </p:nvSpPr>
          <p:spPr>
            <a:xfrm>
              <a:off x="9239250" y="4191000"/>
              <a:ext cx="2286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A1628"/>
                  </a:solidFill>
                  <a:latin typeface="Arial"/>
                  <a:ea typeface="Arial"/>
                  <a:cs typeface="Arial"/>
                  <a:sym typeface="Arial"/>
                </a:rPr>
                <a:t>Low; trapped in PDFs</a:t>
              </a:r>
              <a:endParaRPr b="1" sz="9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g3e699937637_0_0"/>
          <p:cNvSpPr/>
          <p:nvPr/>
        </p:nvSpPr>
        <p:spPr>
          <a:xfrm>
            <a:off x="571500" y="5143500"/>
            <a:ext cx="11239500" cy="666900"/>
          </a:xfrm>
          <a:prstGeom prst="roundRect">
            <a:avLst>
              <a:gd fmla="val 17142" name="adj"/>
            </a:avLst>
          </a:prstGeom>
          <a:solidFill>
            <a:srgbClr val="DCEF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e699937637_0_0"/>
          <p:cNvSpPr/>
          <p:nvPr/>
        </p:nvSpPr>
        <p:spPr>
          <a:xfrm>
            <a:off x="571500" y="5905500"/>
            <a:ext cx="11239500" cy="476400"/>
          </a:xfrm>
          <a:prstGeom prst="roundRect">
            <a:avLst>
              <a:gd fmla="val 24000" name="adj"/>
            </a:avLst>
          </a:prstGeom>
          <a:solidFill>
            <a:srgbClr val="B0202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e699937637_0_0"/>
          <p:cNvSpPr txBox="1"/>
          <p:nvPr/>
        </p:nvSpPr>
        <p:spPr>
          <a:xfrm>
            <a:off x="6172194" y="1543725"/>
            <a:ext cx="210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Pain area</a:t>
            </a:r>
            <a:endParaRPr/>
          </a:p>
        </p:txBody>
      </p:sp>
      <p:sp>
        <p:nvSpPr>
          <p:cNvPr id="170" name="Google Shape;170;g3e699937637_0_0"/>
          <p:cNvSpPr txBox="1"/>
          <p:nvPr/>
        </p:nvSpPr>
        <p:spPr>
          <a:xfrm>
            <a:off x="9791705" y="1611075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Baseline estimate</a:t>
            </a:r>
            <a:endParaRPr/>
          </a:p>
        </p:txBody>
      </p:sp>
      <p:sp>
        <p:nvSpPr>
          <p:cNvPr id="171" name="Google Shape;171;g3e699937637_0_0"/>
          <p:cNvSpPr/>
          <p:nvPr/>
        </p:nvSpPr>
        <p:spPr>
          <a:xfrm>
            <a:off x="0" y="6565392"/>
            <a:ext cx="12189000" cy="36600"/>
          </a:xfrm>
          <a:prstGeom prst="rect">
            <a:avLst/>
          </a:prstGeom>
          <a:solidFill>
            <a:srgbClr val="8ABB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e699937637_0_0"/>
          <p:cNvSpPr txBox="1"/>
          <p:nvPr/>
        </p:nvSpPr>
        <p:spPr>
          <a:xfrm>
            <a:off x="164592" y="6611112"/>
            <a:ext cx="548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Tank Inspection · One-page pain summary</a:t>
            </a:r>
            <a:endParaRPr/>
          </a:p>
        </p:txBody>
      </p:sp>
      <p:sp>
        <p:nvSpPr>
          <p:cNvPr id="173" name="Google Shape;173;g3e699937637_0_0"/>
          <p:cNvSpPr txBox="1"/>
          <p:nvPr/>
        </p:nvSpPr>
        <p:spPr>
          <a:xfrm>
            <a:off x="6400800" y="6611112"/>
            <a:ext cx="56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LAIQ  ·  Confidential</a:t>
            </a:r>
            <a:endParaRPr/>
          </a:p>
        </p:txBody>
      </p:sp>
      <p:pic>
        <p:nvPicPr>
          <p:cNvPr descr="laiq_logo.png" id="174" name="Google Shape;174;g3e699937637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91881" y="6565392"/>
            <a:ext cx="514190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e699937637_0_0"/>
          <p:cNvPicPr preferRelativeResize="0"/>
          <p:nvPr/>
        </p:nvPicPr>
        <p:blipFill rotWithShape="1">
          <a:blip r:embed="rId6">
            <a:alphaModFix/>
          </a:blip>
          <a:srcRect b="40" l="0" r="0" t="50"/>
          <a:stretch/>
        </p:blipFill>
        <p:spPr>
          <a:xfrm>
            <a:off x="762000" y="2742193"/>
            <a:ext cx="1390800" cy="17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e699937637_0_0"/>
          <p:cNvPicPr preferRelativeResize="0"/>
          <p:nvPr/>
        </p:nvPicPr>
        <p:blipFill rotWithShape="1">
          <a:blip r:embed="rId7">
            <a:alphaModFix/>
          </a:blip>
          <a:srcRect b="29166" l="0" r="0" t="163"/>
          <a:stretch/>
        </p:blipFill>
        <p:spPr>
          <a:xfrm>
            <a:off x="4826500" y="3600674"/>
            <a:ext cx="979200" cy="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e699937637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01791" y="2742175"/>
            <a:ext cx="2375700" cy="178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e699937637_0_0"/>
          <p:cNvPicPr preferRelativeResize="0"/>
          <p:nvPr/>
        </p:nvPicPr>
        <p:blipFill rotWithShape="1">
          <a:blip r:embed="rId9">
            <a:alphaModFix/>
          </a:blip>
          <a:srcRect b="0" l="7578" r="23900" t="11840"/>
          <a:stretch/>
        </p:blipFill>
        <p:spPr>
          <a:xfrm>
            <a:off x="4826505" y="2718709"/>
            <a:ext cx="979118" cy="70867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e699937637_0_0"/>
          <p:cNvSpPr txBox="1"/>
          <p:nvPr/>
        </p:nvSpPr>
        <p:spPr>
          <a:xfrm>
            <a:off x="762000" y="5238750"/>
            <a:ext cx="1143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b="1" sz="1100">
              <a:solidFill>
                <a:srgbClr val="075F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e699937637_0_0"/>
          <p:cNvSpPr txBox="1"/>
          <p:nvPr/>
        </p:nvSpPr>
        <p:spPr>
          <a:xfrm>
            <a:off x="2000250" y="5191125"/>
            <a:ext cx="96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A tank report requires UT tables, checklist results, findings, and more. Without structured capture, data is entered multiple times and evidence links are rebuilt manually.</a:t>
            </a:r>
            <a:endParaRPr sz="1000">
              <a:solidFill>
                <a:srgbClr val="17201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e699937637_0_0"/>
          <p:cNvSpPr txBox="1"/>
          <p:nvPr/>
        </p:nvSpPr>
        <p:spPr>
          <a:xfrm>
            <a:off x="571500" y="5905500"/>
            <a:ext cx="11239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81000" spcFirstLastPara="1" rIns="381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LAIQ replaces manual reconstruction with one structured capture path feeding report generation directly.</a:t>
            </a:r>
            <a:endParaRPr b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699937637_0_136"/>
          <p:cNvSpPr/>
          <p:nvPr/>
        </p:nvSpPr>
        <p:spPr>
          <a:xfrm>
            <a:off x="0" y="0"/>
            <a:ext cx="292500" cy="6858000"/>
          </a:xfrm>
          <a:prstGeom prst="rect">
            <a:avLst/>
          </a:prstGeom>
          <a:solidFill>
            <a:srgbClr val="075F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e699937637_0_136"/>
          <p:cNvSpPr/>
          <p:nvPr/>
        </p:nvSpPr>
        <p:spPr>
          <a:xfrm>
            <a:off x="292608" y="0"/>
            <a:ext cx="63900" cy="6858000"/>
          </a:xfrm>
          <a:prstGeom prst="rect">
            <a:avLst/>
          </a:prstGeom>
          <a:solidFill>
            <a:srgbClr val="DCEFE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e699937637_0_136"/>
          <p:cNvSpPr txBox="1"/>
          <p:nvPr/>
        </p:nvSpPr>
        <p:spPr>
          <a:xfrm>
            <a:off x="502920" y="182880"/>
            <a:ext cx="1152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LAIQ SOLUTION</a:t>
            </a:r>
            <a:endParaRPr/>
          </a:p>
        </p:txBody>
      </p:sp>
      <p:sp>
        <p:nvSpPr>
          <p:cNvPr id="189" name="Google Shape;189;g3e699937637_0_136"/>
          <p:cNvSpPr txBox="1"/>
          <p:nvPr/>
        </p:nvSpPr>
        <p:spPr>
          <a:xfrm>
            <a:off x="502920" y="402336"/>
            <a:ext cx="1152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One Structured Field Workflow Drives the Final Report Package</a:t>
            </a:r>
            <a:endParaRPr/>
          </a:p>
        </p:txBody>
      </p:sp>
      <p:sp>
        <p:nvSpPr>
          <p:cNvPr id="190" name="Google Shape;190;g3e699937637_0_136"/>
          <p:cNvSpPr/>
          <p:nvPr/>
        </p:nvSpPr>
        <p:spPr>
          <a:xfrm>
            <a:off x="502920" y="1097280"/>
            <a:ext cx="11521500" cy="36600"/>
          </a:xfrm>
          <a:prstGeom prst="rect">
            <a:avLst/>
          </a:prstGeom>
          <a:solidFill>
            <a:srgbClr val="8ABB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699937637_0_136"/>
          <p:cNvSpPr txBox="1"/>
          <p:nvPr/>
        </p:nvSpPr>
        <p:spPr>
          <a:xfrm>
            <a:off x="502920" y="1207008"/>
            <a:ext cx="11155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One guided field workflow captures every surface. A canonical inspection record then drives report assembly, evidence linking, and structured output.</a:t>
            </a:r>
            <a:endParaRPr/>
          </a:p>
        </p:txBody>
      </p:sp>
      <p:sp>
        <p:nvSpPr>
          <p:cNvPr id="192" name="Google Shape;192;g3e699937637_0_136"/>
          <p:cNvSpPr txBox="1"/>
          <p:nvPr/>
        </p:nvSpPr>
        <p:spPr>
          <a:xfrm>
            <a:off x="4919472" y="2596896"/>
            <a:ext cx="3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ABBB6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193" name="Google Shape;193;g3e699937637_0_136"/>
          <p:cNvSpPr txBox="1"/>
          <p:nvPr/>
        </p:nvSpPr>
        <p:spPr>
          <a:xfrm>
            <a:off x="4919472" y="3840480"/>
            <a:ext cx="3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ABBB6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194" name="Google Shape;194;g3e699937637_0_136"/>
          <p:cNvSpPr/>
          <p:nvPr/>
        </p:nvSpPr>
        <p:spPr>
          <a:xfrm>
            <a:off x="5358384" y="1700784"/>
            <a:ext cx="2103000" cy="493800"/>
          </a:xfrm>
          <a:prstGeom prst="rect">
            <a:avLst/>
          </a:prstGeom>
          <a:solidFill>
            <a:srgbClr val="075F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e699937637_0_136"/>
          <p:cNvSpPr txBox="1"/>
          <p:nvPr/>
        </p:nvSpPr>
        <p:spPr>
          <a:xfrm>
            <a:off x="5468112" y="1792224"/>
            <a:ext cx="18837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 Field Capture</a:t>
            </a:r>
            <a:endParaRPr/>
          </a:p>
        </p:txBody>
      </p:sp>
      <p:sp>
        <p:nvSpPr>
          <p:cNvPr id="196" name="Google Shape;196;g3e699937637_0_136"/>
          <p:cNvSpPr txBox="1"/>
          <p:nvPr/>
        </p:nvSpPr>
        <p:spPr>
          <a:xfrm>
            <a:off x="5468112" y="1975104"/>
            <a:ext cx="1883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80" u="none" cap="none" strike="noStrike">
                <a:solidFill>
                  <a:srgbClr val="DCEFE9"/>
                </a:solidFill>
                <a:latin typeface="Arial"/>
                <a:ea typeface="Arial"/>
                <a:cs typeface="Arial"/>
                <a:sym typeface="Arial"/>
              </a:rPr>
              <a:t>Guided on-site workflow</a:t>
            </a:r>
            <a:endParaRPr/>
          </a:p>
        </p:txBody>
      </p:sp>
      <p:sp>
        <p:nvSpPr>
          <p:cNvPr id="197" name="Google Shape;197;g3e699937637_0_136"/>
          <p:cNvSpPr/>
          <p:nvPr/>
        </p:nvSpPr>
        <p:spPr>
          <a:xfrm>
            <a:off x="5358384" y="2249424"/>
            <a:ext cx="2103000" cy="215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ABB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e699937637_0_136"/>
          <p:cNvSpPr txBox="1"/>
          <p:nvPr/>
        </p:nvSpPr>
        <p:spPr>
          <a:xfrm>
            <a:off x="5468112" y="2414016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Tank &amp; surface configuration</a:t>
            </a:r>
            <a:endParaRPr/>
          </a:p>
        </p:txBody>
      </p:sp>
      <p:sp>
        <p:nvSpPr>
          <p:cNvPr id="199" name="Google Shape;199;g3e699937637_0_136"/>
          <p:cNvSpPr txBox="1"/>
          <p:nvPr/>
        </p:nvSpPr>
        <p:spPr>
          <a:xfrm>
            <a:off x="5468112" y="2706624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UT rows: shell, roof, nozzle</a:t>
            </a:r>
            <a:endParaRPr/>
          </a:p>
        </p:txBody>
      </p:sp>
      <p:sp>
        <p:nvSpPr>
          <p:cNvPr id="200" name="Google Shape;200;g3e699937637_0_136"/>
          <p:cNvSpPr txBox="1"/>
          <p:nvPr/>
        </p:nvSpPr>
        <p:spPr>
          <a:xfrm>
            <a:off x="5468112" y="2999232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In-context finding capture</a:t>
            </a:r>
            <a:endParaRPr/>
          </a:p>
        </p:txBody>
      </p:sp>
      <p:sp>
        <p:nvSpPr>
          <p:cNvPr id="201" name="Google Shape;201;g3e699937637_0_136"/>
          <p:cNvSpPr txBox="1"/>
          <p:nvPr/>
        </p:nvSpPr>
        <p:spPr>
          <a:xfrm>
            <a:off x="5468112" y="3291840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Photo evidence linked at source</a:t>
            </a:r>
            <a:endParaRPr/>
          </a:p>
        </p:txBody>
      </p:sp>
      <p:sp>
        <p:nvSpPr>
          <p:cNvPr id="202" name="Google Shape;202;g3e699937637_0_136"/>
          <p:cNvSpPr txBox="1"/>
          <p:nvPr/>
        </p:nvSpPr>
        <p:spPr>
          <a:xfrm>
            <a:off x="5468112" y="3584448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Coarse or precise location</a:t>
            </a:r>
            <a:endParaRPr/>
          </a:p>
        </p:txBody>
      </p:sp>
      <p:sp>
        <p:nvSpPr>
          <p:cNvPr id="203" name="Google Shape;203;g3e699937637_0_136"/>
          <p:cNvSpPr/>
          <p:nvPr/>
        </p:nvSpPr>
        <p:spPr>
          <a:xfrm>
            <a:off x="7680960" y="1700784"/>
            <a:ext cx="2103000" cy="493800"/>
          </a:xfrm>
          <a:prstGeom prst="rect">
            <a:avLst/>
          </a:prstGeom>
          <a:solidFill>
            <a:srgbClr val="4A807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e699937637_0_136"/>
          <p:cNvSpPr txBox="1"/>
          <p:nvPr/>
        </p:nvSpPr>
        <p:spPr>
          <a:xfrm>
            <a:off x="7790688" y="1792224"/>
            <a:ext cx="18837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 Inspection Record</a:t>
            </a:r>
            <a:endParaRPr/>
          </a:p>
        </p:txBody>
      </p:sp>
      <p:sp>
        <p:nvSpPr>
          <p:cNvPr id="205" name="Google Shape;205;g3e699937637_0_136"/>
          <p:cNvSpPr txBox="1"/>
          <p:nvPr/>
        </p:nvSpPr>
        <p:spPr>
          <a:xfrm>
            <a:off x="7790688" y="1975104"/>
            <a:ext cx="1883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80" u="none" cap="none" strike="noStrike">
                <a:solidFill>
                  <a:srgbClr val="DCEFE9"/>
                </a:solidFill>
                <a:latin typeface="Arial"/>
                <a:ea typeface="Arial"/>
                <a:cs typeface="Arial"/>
                <a:sym typeface="Arial"/>
              </a:rPr>
              <a:t>Canonical structured data</a:t>
            </a:r>
            <a:endParaRPr/>
          </a:p>
        </p:txBody>
      </p:sp>
      <p:sp>
        <p:nvSpPr>
          <p:cNvPr id="206" name="Google Shape;206;g3e699937637_0_136"/>
          <p:cNvSpPr/>
          <p:nvPr/>
        </p:nvSpPr>
        <p:spPr>
          <a:xfrm>
            <a:off x="7680960" y="2249424"/>
            <a:ext cx="2103000" cy="215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ABB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e699937637_0_136"/>
          <p:cNvSpPr txBox="1"/>
          <p:nvPr/>
        </p:nvSpPr>
        <p:spPr>
          <a:xfrm>
            <a:off x="7790688" y="2414016"/>
            <a:ext cx="1883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Asset hierarchy: tank, surface, plate</a:t>
            </a:r>
            <a:endParaRPr/>
          </a:p>
        </p:txBody>
      </p:sp>
      <p:sp>
        <p:nvSpPr>
          <p:cNvPr id="208" name="Google Shape;208;g3e699937637_0_136"/>
          <p:cNvSpPr txBox="1"/>
          <p:nvPr/>
        </p:nvSpPr>
        <p:spPr>
          <a:xfrm>
            <a:off x="7790688" y="2706624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Location: strake, bearing, X/Y</a:t>
            </a:r>
            <a:endParaRPr/>
          </a:p>
        </p:txBody>
      </p:sp>
      <p:sp>
        <p:nvSpPr>
          <p:cNvPr id="209" name="Google Shape;209;g3e699937637_0_136"/>
          <p:cNvSpPr txBox="1"/>
          <p:nvPr/>
        </p:nvSpPr>
        <p:spPr>
          <a:xfrm>
            <a:off x="7790688" y="2999232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Findings: type, severity, evidence</a:t>
            </a:r>
            <a:endParaRPr/>
          </a:p>
        </p:txBody>
      </p:sp>
      <p:sp>
        <p:nvSpPr>
          <p:cNvPr id="210" name="Google Shape;210;g3e699937637_0_136"/>
          <p:cNvSpPr txBox="1"/>
          <p:nvPr/>
        </p:nvSpPr>
        <p:spPr>
          <a:xfrm>
            <a:off x="7790688" y="3291840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MFL metadata and attachment</a:t>
            </a:r>
            <a:endParaRPr/>
          </a:p>
        </p:txBody>
      </p:sp>
      <p:sp>
        <p:nvSpPr>
          <p:cNvPr id="211" name="Google Shape;211;g3e699937637_0_136"/>
          <p:cNvSpPr txBox="1"/>
          <p:nvPr/>
        </p:nvSpPr>
        <p:spPr>
          <a:xfrm>
            <a:off x="7790688" y="3584448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Completeness and API checks</a:t>
            </a:r>
            <a:endParaRPr/>
          </a:p>
        </p:txBody>
      </p:sp>
      <p:sp>
        <p:nvSpPr>
          <p:cNvPr id="212" name="Google Shape;212;g3e699937637_0_136"/>
          <p:cNvSpPr/>
          <p:nvPr/>
        </p:nvSpPr>
        <p:spPr>
          <a:xfrm>
            <a:off x="10003536" y="1700784"/>
            <a:ext cx="2103000" cy="49380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e699937637_0_136"/>
          <p:cNvSpPr txBox="1"/>
          <p:nvPr/>
        </p:nvSpPr>
        <p:spPr>
          <a:xfrm>
            <a:off x="10113264" y="1792224"/>
            <a:ext cx="18837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 Report Package</a:t>
            </a:r>
            <a:endParaRPr/>
          </a:p>
        </p:txBody>
      </p:sp>
      <p:sp>
        <p:nvSpPr>
          <p:cNvPr id="214" name="Google Shape;214;g3e699937637_0_136"/>
          <p:cNvSpPr txBox="1"/>
          <p:nvPr/>
        </p:nvSpPr>
        <p:spPr>
          <a:xfrm>
            <a:off x="10113264" y="1975104"/>
            <a:ext cx="1883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Automated output assembly</a:t>
            </a:r>
            <a:endParaRPr/>
          </a:p>
        </p:txBody>
      </p:sp>
      <p:sp>
        <p:nvSpPr>
          <p:cNvPr id="215" name="Google Shape;215;g3e699937637_0_136"/>
          <p:cNvSpPr/>
          <p:nvPr/>
        </p:nvSpPr>
        <p:spPr>
          <a:xfrm>
            <a:off x="10003536" y="2249424"/>
            <a:ext cx="2103000" cy="215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ABB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e699937637_0_136"/>
          <p:cNvSpPr txBox="1"/>
          <p:nvPr/>
        </p:nvSpPr>
        <p:spPr>
          <a:xfrm>
            <a:off x="10113264" y="2414016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Shell / roof UT tables (auto-filled)</a:t>
            </a:r>
            <a:endParaRPr/>
          </a:p>
        </p:txBody>
      </p:sp>
      <p:sp>
        <p:nvSpPr>
          <p:cNvPr id="217" name="Google Shape;217;g3e699937637_0_136"/>
          <p:cNvSpPr txBox="1"/>
          <p:nvPr/>
        </p:nvSpPr>
        <p:spPr>
          <a:xfrm>
            <a:off x="10113264" y="2706624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Findings register + linked photos</a:t>
            </a:r>
            <a:endParaRPr/>
          </a:p>
        </p:txBody>
      </p:sp>
      <p:sp>
        <p:nvSpPr>
          <p:cNvPr id="218" name="Google Shape;218;g3e699937637_0_136"/>
          <p:cNvSpPr txBox="1"/>
          <p:nvPr/>
        </p:nvSpPr>
        <p:spPr>
          <a:xfrm>
            <a:off x="10113264" y="2999232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Shell plate layout map</a:t>
            </a:r>
            <a:endParaRPr/>
          </a:p>
        </p:txBody>
      </p:sp>
      <p:sp>
        <p:nvSpPr>
          <p:cNvPr id="219" name="Google Shape;219;g3e699937637_0_136"/>
          <p:cNvSpPr txBox="1"/>
          <p:nvPr/>
        </p:nvSpPr>
        <p:spPr>
          <a:xfrm>
            <a:off x="10113264" y="3291840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MFL section with reference</a:t>
            </a:r>
            <a:endParaRPr/>
          </a:p>
        </p:txBody>
      </p:sp>
      <p:sp>
        <p:nvSpPr>
          <p:cNvPr id="220" name="Google Shape;220;g3e699937637_0_136"/>
          <p:cNvSpPr txBox="1"/>
          <p:nvPr/>
        </p:nvSpPr>
        <p:spPr>
          <a:xfrm>
            <a:off x="10113264" y="3584448"/>
            <a:ext cx="188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•  JSON + CSV export</a:t>
            </a:r>
            <a:endParaRPr/>
          </a:p>
        </p:txBody>
      </p:sp>
      <p:sp>
        <p:nvSpPr>
          <p:cNvPr id="221" name="Google Shape;221;g3e699937637_0_136"/>
          <p:cNvSpPr txBox="1"/>
          <p:nvPr/>
        </p:nvSpPr>
        <p:spPr>
          <a:xfrm>
            <a:off x="7534656" y="2706624"/>
            <a:ext cx="20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ABBB6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222" name="Google Shape;222;g3e699937637_0_136"/>
          <p:cNvSpPr txBox="1"/>
          <p:nvPr/>
        </p:nvSpPr>
        <p:spPr>
          <a:xfrm>
            <a:off x="9857232" y="2706624"/>
            <a:ext cx="20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ABBB6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223" name="Google Shape;223;g3e699937637_0_136"/>
          <p:cNvSpPr/>
          <p:nvPr/>
        </p:nvSpPr>
        <p:spPr>
          <a:xfrm>
            <a:off x="5358384" y="4736592"/>
            <a:ext cx="6474000" cy="932700"/>
          </a:xfrm>
          <a:prstGeom prst="rect">
            <a:avLst/>
          </a:prstGeom>
          <a:solidFill>
            <a:srgbClr val="DCEFE9"/>
          </a:solidFill>
          <a:ln cap="flat" cmpd="sng" w="9525">
            <a:solidFill>
              <a:srgbClr val="8ABB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e699937637_0_136"/>
          <p:cNvSpPr txBox="1"/>
          <p:nvPr/>
        </p:nvSpPr>
        <p:spPr>
          <a:xfrm>
            <a:off x="5559552" y="4882896"/>
            <a:ext cx="164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What LAIQ changes</a:t>
            </a:r>
            <a:endParaRPr/>
          </a:p>
        </p:txBody>
      </p:sp>
      <p:sp>
        <p:nvSpPr>
          <p:cNvPr id="225" name="Google Shape;225;g3e699937637_0_136"/>
          <p:cNvSpPr txBox="1"/>
          <p:nvPr/>
        </p:nvSpPr>
        <p:spPr>
          <a:xfrm>
            <a:off x="5559552" y="5120640"/>
            <a:ext cx="60351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Instead of rebuilding the report after the field visit, LAIQ captures structured inspection data once, keeps evidence linked at source, and turns the same record into a report-ready package.</a:t>
            </a:r>
            <a:endParaRPr/>
          </a:p>
        </p:txBody>
      </p:sp>
      <p:sp>
        <p:nvSpPr>
          <p:cNvPr id="226" name="Google Shape;226;g3e699937637_0_136"/>
          <p:cNvSpPr/>
          <p:nvPr/>
        </p:nvSpPr>
        <p:spPr>
          <a:xfrm>
            <a:off x="0" y="6565392"/>
            <a:ext cx="12189000" cy="36600"/>
          </a:xfrm>
          <a:prstGeom prst="rect">
            <a:avLst/>
          </a:prstGeom>
          <a:solidFill>
            <a:srgbClr val="8ABB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e699937637_0_136"/>
          <p:cNvSpPr txBox="1"/>
          <p:nvPr/>
        </p:nvSpPr>
        <p:spPr>
          <a:xfrm>
            <a:off x="164592" y="6611112"/>
            <a:ext cx="548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Tank Inspection · One-page solution summary</a:t>
            </a:r>
            <a:endParaRPr/>
          </a:p>
        </p:txBody>
      </p:sp>
      <p:sp>
        <p:nvSpPr>
          <p:cNvPr id="228" name="Google Shape;228;g3e699937637_0_136"/>
          <p:cNvSpPr txBox="1"/>
          <p:nvPr/>
        </p:nvSpPr>
        <p:spPr>
          <a:xfrm>
            <a:off x="6400800" y="6611112"/>
            <a:ext cx="56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LAIQ  ·  Confidential</a:t>
            </a:r>
            <a:endParaRPr/>
          </a:p>
        </p:txBody>
      </p:sp>
      <p:pic>
        <p:nvPicPr>
          <p:cNvPr descr="laiq_logo.png" id="229" name="Google Shape;229;g3e699937637_0_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1881" y="6565392"/>
            <a:ext cx="514185" cy="2377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 just need the tank， simplify wording" id="230" name="Google Shape;230;g3e699937637_0_136"/>
          <p:cNvPicPr preferRelativeResize="0"/>
          <p:nvPr/>
        </p:nvPicPr>
        <p:blipFill rotWithShape="1">
          <a:blip r:embed="rId4">
            <a:alphaModFix/>
          </a:blip>
          <a:srcRect b="0" l="25649" r="5329" t="0"/>
          <a:stretch/>
        </p:blipFill>
        <p:spPr>
          <a:xfrm>
            <a:off x="356625" y="1810500"/>
            <a:ext cx="4572000" cy="369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699937637_0_373"/>
          <p:cNvSpPr/>
          <p:nvPr/>
        </p:nvSpPr>
        <p:spPr>
          <a:xfrm>
            <a:off x="0" y="0"/>
            <a:ext cx="411600" cy="68580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e699937637_0_373"/>
          <p:cNvSpPr/>
          <p:nvPr/>
        </p:nvSpPr>
        <p:spPr>
          <a:xfrm>
            <a:off x="411480" y="0"/>
            <a:ext cx="109800" cy="6858000"/>
          </a:xfrm>
          <a:prstGeom prst="rect">
            <a:avLst/>
          </a:prstGeom>
          <a:solidFill>
            <a:srgbClr val="DCEFE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e699937637_0_373"/>
          <p:cNvSpPr txBox="1"/>
          <p:nvPr/>
        </p:nvSpPr>
        <p:spPr>
          <a:xfrm>
            <a:off x="658368" y="256032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3C6E"/>
                </a:solidFill>
                <a:latin typeface="Arial"/>
                <a:ea typeface="Arial"/>
                <a:cs typeface="Arial"/>
                <a:sym typeface="Arial"/>
              </a:rPr>
              <a:t>HARDWARE &amp; OUTCOMES</a:t>
            </a:r>
            <a:endParaRPr/>
          </a:p>
        </p:txBody>
      </p:sp>
      <p:sp>
        <p:nvSpPr>
          <p:cNvPr id="238" name="Google Shape;238;g3e699937637_0_373"/>
          <p:cNvSpPr txBox="1"/>
          <p:nvPr/>
        </p:nvSpPr>
        <p:spPr>
          <a:xfrm>
            <a:off x="658368" y="475488"/>
            <a:ext cx="11064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75F5C"/>
                </a:solidFill>
              </a:rPr>
              <a:t>LAIQ-redefined the Tank inspection</a:t>
            </a:r>
            <a:endParaRPr/>
          </a:p>
        </p:txBody>
      </p:sp>
      <p:sp>
        <p:nvSpPr>
          <p:cNvPr id="239" name="Google Shape;239;g3e699937637_0_373"/>
          <p:cNvSpPr/>
          <p:nvPr/>
        </p:nvSpPr>
        <p:spPr>
          <a:xfrm>
            <a:off x="658368" y="1234440"/>
            <a:ext cx="11137500" cy="366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e699937637_0_373"/>
          <p:cNvSpPr/>
          <p:nvPr/>
        </p:nvSpPr>
        <p:spPr>
          <a:xfrm>
            <a:off x="658368" y="1353312"/>
            <a:ext cx="3182100" cy="5230500"/>
          </a:xfrm>
          <a:prstGeom prst="rect">
            <a:avLst/>
          </a:prstGeom>
          <a:solidFill>
            <a:srgbClr val="F4F7F6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e699937637_0_373"/>
          <p:cNvSpPr txBox="1"/>
          <p:nvPr/>
        </p:nvSpPr>
        <p:spPr>
          <a:xfrm>
            <a:off x="804672" y="1463040"/>
            <a:ext cx="287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Field reality — why a</a:t>
            </a:r>
            <a:br>
              <a:rPr b="1" i="0" lang="en-US" sz="10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smartphone is not enough</a:t>
            </a:r>
            <a:endParaRPr/>
          </a:p>
        </p:txBody>
      </p:sp>
      <p:sp>
        <p:nvSpPr>
          <p:cNvPr id="242" name="Google Shape;242;g3e699937637_0_373"/>
          <p:cNvSpPr/>
          <p:nvPr/>
        </p:nvSpPr>
        <p:spPr>
          <a:xfrm>
            <a:off x="804672" y="1965960"/>
            <a:ext cx="2871300" cy="273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e699937637_0_373"/>
          <p:cNvSpPr/>
          <p:nvPr/>
        </p:nvSpPr>
        <p:spPr>
          <a:xfrm>
            <a:off x="868680" y="2112264"/>
            <a:ext cx="2871300" cy="987600"/>
          </a:xfrm>
          <a:prstGeom prst="rect">
            <a:avLst/>
          </a:prstGeom>
          <a:solidFill>
            <a:srgbClr val="C5D5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699937637_0_373"/>
          <p:cNvSpPr/>
          <p:nvPr/>
        </p:nvSpPr>
        <p:spPr>
          <a:xfrm>
            <a:off x="804672" y="2048256"/>
            <a:ext cx="2871300" cy="98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e699937637_0_373"/>
          <p:cNvSpPr/>
          <p:nvPr/>
        </p:nvSpPr>
        <p:spPr>
          <a:xfrm>
            <a:off x="804672" y="2048256"/>
            <a:ext cx="54900" cy="9876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699937637_0_373"/>
          <p:cNvSpPr/>
          <p:nvPr/>
        </p:nvSpPr>
        <p:spPr>
          <a:xfrm>
            <a:off x="932688" y="2185416"/>
            <a:ext cx="365700" cy="365700"/>
          </a:xfrm>
          <a:prstGeom prst="ellipse">
            <a:avLst/>
          </a:prstGeom>
          <a:solidFill>
            <a:srgbClr val="DCEFE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e699937637_0_373"/>
          <p:cNvSpPr txBox="1"/>
          <p:nvPr/>
        </p:nvSpPr>
        <p:spPr>
          <a:xfrm>
            <a:off x="932688" y="2157984"/>
            <a:ext cx="365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☀</a:t>
            </a:r>
            <a:endParaRPr/>
          </a:p>
        </p:txBody>
      </p:sp>
      <p:sp>
        <p:nvSpPr>
          <p:cNvPr id="248" name="Google Shape;248;g3e699937637_0_373"/>
          <p:cNvSpPr txBox="1"/>
          <p:nvPr/>
        </p:nvSpPr>
        <p:spPr>
          <a:xfrm>
            <a:off x="1417320" y="2121408"/>
            <a:ext cx="213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Sunlight</a:t>
            </a:r>
            <a:endParaRPr/>
          </a:p>
        </p:txBody>
      </p:sp>
      <p:sp>
        <p:nvSpPr>
          <p:cNvPr id="249" name="Google Shape;249;g3e699937637_0_373"/>
          <p:cNvSpPr txBox="1"/>
          <p:nvPr/>
        </p:nvSpPr>
        <p:spPr>
          <a:xfrm>
            <a:off x="1417320" y="2377440"/>
            <a:ext cx="213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Consumer screens wash out</a:t>
            </a:r>
            <a:b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at &gt;80 klux. Inspectors</a:t>
            </a:r>
            <a:b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cannot see the app.</a:t>
            </a:r>
            <a:endParaRPr/>
          </a:p>
        </p:txBody>
      </p:sp>
      <p:sp>
        <p:nvSpPr>
          <p:cNvPr id="250" name="Google Shape;250;g3e699937637_0_373"/>
          <p:cNvSpPr/>
          <p:nvPr/>
        </p:nvSpPr>
        <p:spPr>
          <a:xfrm>
            <a:off x="868680" y="3191256"/>
            <a:ext cx="2871300" cy="987600"/>
          </a:xfrm>
          <a:prstGeom prst="rect">
            <a:avLst/>
          </a:prstGeom>
          <a:solidFill>
            <a:srgbClr val="C5D5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699937637_0_373"/>
          <p:cNvSpPr/>
          <p:nvPr/>
        </p:nvSpPr>
        <p:spPr>
          <a:xfrm>
            <a:off x="804672" y="3127248"/>
            <a:ext cx="2871300" cy="98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699937637_0_373"/>
          <p:cNvSpPr/>
          <p:nvPr/>
        </p:nvSpPr>
        <p:spPr>
          <a:xfrm>
            <a:off x="804672" y="3127248"/>
            <a:ext cx="54900" cy="9876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e699937637_0_373"/>
          <p:cNvSpPr/>
          <p:nvPr/>
        </p:nvSpPr>
        <p:spPr>
          <a:xfrm>
            <a:off x="932688" y="3264408"/>
            <a:ext cx="365700" cy="365700"/>
          </a:xfrm>
          <a:prstGeom prst="ellipse">
            <a:avLst/>
          </a:prstGeom>
          <a:solidFill>
            <a:srgbClr val="DCEFE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e699937637_0_373"/>
          <p:cNvSpPr txBox="1"/>
          <p:nvPr/>
        </p:nvSpPr>
        <p:spPr>
          <a:xfrm>
            <a:off x="932688" y="3236976"/>
            <a:ext cx="365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⚠</a:t>
            </a:r>
            <a:endParaRPr/>
          </a:p>
        </p:txBody>
      </p:sp>
      <p:sp>
        <p:nvSpPr>
          <p:cNvPr id="255" name="Google Shape;255;g3e699937637_0_373"/>
          <p:cNvSpPr txBox="1"/>
          <p:nvPr/>
        </p:nvSpPr>
        <p:spPr>
          <a:xfrm>
            <a:off x="1417320" y="3200400"/>
            <a:ext cx="213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ATEX Zone 1/2</a:t>
            </a:r>
            <a:endParaRPr/>
          </a:p>
        </p:txBody>
      </p:sp>
      <p:sp>
        <p:nvSpPr>
          <p:cNvPr id="256" name="Google Shape;256;g3e699937637_0_373"/>
          <p:cNvSpPr txBox="1"/>
          <p:nvPr/>
        </p:nvSpPr>
        <p:spPr>
          <a:xfrm>
            <a:off x="1417320" y="3456432"/>
            <a:ext cx="213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Smartphones &amp; consumer</a:t>
            </a:r>
            <a:b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tablets are prohibited by law</a:t>
            </a:r>
            <a:b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in hazardous areas.</a:t>
            </a:r>
            <a:endParaRPr/>
          </a:p>
        </p:txBody>
      </p:sp>
      <p:sp>
        <p:nvSpPr>
          <p:cNvPr id="257" name="Google Shape;257;g3e699937637_0_373"/>
          <p:cNvSpPr/>
          <p:nvPr/>
        </p:nvSpPr>
        <p:spPr>
          <a:xfrm>
            <a:off x="868680" y="4270248"/>
            <a:ext cx="2871300" cy="987600"/>
          </a:xfrm>
          <a:prstGeom prst="rect">
            <a:avLst/>
          </a:prstGeom>
          <a:solidFill>
            <a:srgbClr val="C5D5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e699937637_0_373"/>
          <p:cNvSpPr/>
          <p:nvPr/>
        </p:nvSpPr>
        <p:spPr>
          <a:xfrm>
            <a:off x="804672" y="4206240"/>
            <a:ext cx="2871300" cy="98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e699937637_0_373"/>
          <p:cNvSpPr/>
          <p:nvPr/>
        </p:nvSpPr>
        <p:spPr>
          <a:xfrm>
            <a:off x="804672" y="4206240"/>
            <a:ext cx="54900" cy="9876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e699937637_0_373"/>
          <p:cNvSpPr/>
          <p:nvPr/>
        </p:nvSpPr>
        <p:spPr>
          <a:xfrm>
            <a:off x="932688" y="4343400"/>
            <a:ext cx="365700" cy="365700"/>
          </a:xfrm>
          <a:prstGeom prst="ellipse">
            <a:avLst/>
          </a:prstGeom>
          <a:solidFill>
            <a:srgbClr val="DCEFE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e699937637_0_373"/>
          <p:cNvSpPr txBox="1"/>
          <p:nvPr/>
        </p:nvSpPr>
        <p:spPr>
          <a:xfrm>
            <a:off x="932688" y="4315968"/>
            <a:ext cx="365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💧</a:t>
            </a:r>
            <a:endParaRPr/>
          </a:p>
        </p:txBody>
      </p:sp>
      <p:sp>
        <p:nvSpPr>
          <p:cNvPr id="262" name="Google Shape;262;g3e699937637_0_373"/>
          <p:cNvSpPr txBox="1"/>
          <p:nvPr/>
        </p:nvSpPr>
        <p:spPr>
          <a:xfrm>
            <a:off x="1417320" y="4279392"/>
            <a:ext cx="213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IP rating</a:t>
            </a:r>
            <a:endParaRPr/>
          </a:p>
        </p:txBody>
      </p:sp>
      <p:sp>
        <p:nvSpPr>
          <p:cNvPr id="263" name="Google Shape;263;g3e699937637_0_373"/>
          <p:cNvSpPr txBox="1"/>
          <p:nvPr/>
        </p:nvSpPr>
        <p:spPr>
          <a:xfrm>
            <a:off x="1417320" y="4535424"/>
            <a:ext cx="213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Rain, dust, chemicals —</a:t>
            </a:r>
            <a:b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IP54 minimum. Touch must</a:t>
            </a:r>
            <a:b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work with wet gloves.</a:t>
            </a:r>
            <a:endParaRPr/>
          </a:p>
        </p:txBody>
      </p:sp>
      <p:sp>
        <p:nvSpPr>
          <p:cNvPr id="264" name="Google Shape;264;g3e699937637_0_373"/>
          <p:cNvSpPr/>
          <p:nvPr/>
        </p:nvSpPr>
        <p:spPr>
          <a:xfrm>
            <a:off x="868680" y="5349240"/>
            <a:ext cx="2871300" cy="987600"/>
          </a:xfrm>
          <a:prstGeom prst="rect">
            <a:avLst/>
          </a:prstGeom>
          <a:solidFill>
            <a:srgbClr val="C5D5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e699937637_0_373"/>
          <p:cNvSpPr/>
          <p:nvPr/>
        </p:nvSpPr>
        <p:spPr>
          <a:xfrm>
            <a:off x="804672" y="5285232"/>
            <a:ext cx="2871300" cy="98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699937637_0_373"/>
          <p:cNvSpPr/>
          <p:nvPr/>
        </p:nvSpPr>
        <p:spPr>
          <a:xfrm>
            <a:off x="804672" y="5285232"/>
            <a:ext cx="54900" cy="9876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e699937637_0_373"/>
          <p:cNvSpPr/>
          <p:nvPr/>
        </p:nvSpPr>
        <p:spPr>
          <a:xfrm>
            <a:off x="932688" y="5422392"/>
            <a:ext cx="365700" cy="365700"/>
          </a:xfrm>
          <a:prstGeom prst="ellipse">
            <a:avLst/>
          </a:prstGeom>
          <a:solidFill>
            <a:srgbClr val="DCEFE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e699937637_0_373"/>
          <p:cNvSpPr txBox="1"/>
          <p:nvPr/>
        </p:nvSpPr>
        <p:spPr>
          <a:xfrm>
            <a:off x="932688" y="5394960"/>
            <a:ext cx="365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✈</a:t>
            </a:r>
            <a:endParaRPr/>
          </a:p>
        </p:txBody>
      </p:sp>
      <p:sp>
        <p:nvSpPr>
          <p:cNvPr id="269" name="Google Shape;269;g3e699937637_0_373"/>
          <p:cNvSpPr txBox="1"/>
          <p:nvPr/>
        </p:nvSpPr>
        <p:spPr>
          <a:xfrm>
            <a:off x="1417320" y="5358384"/>
            <a:ext cx="213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Offline</a:t>
            </a:r>
            <a:endParaRPr/>
          </a:p>
        </p:txBody>
      </p:sp>
      <p:sp>
        <p:nvSpPr>
          <p:cNvPr id="270" name="Google Shape;270;g3e699937637_0_373"/>
          <p:cNvSpPr txBox="1"/>
          <p:nvPr/>
        </p:nvSpPr>
        <p:spPr>
          <a:xfrm>
            <a:off x="1417320" y="5614416"/>
            <a:ext cx="213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No Wi-Fi or cellular on many</a:t>
            </a:r>
            <a:b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tank farms. Device must</a:t>
            </a:r>
            <a:b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work air-gapped.</a:t>
            </a:r>
            <a:endParaRPr/>
          </a:p>
        </p:txBody>
      </p:sp>
      <p:sp>
        <p:nvSpPr>
          <p:cNvPr id="271" name="Google Shape;271;g3e699937637_0_373"/>
          <p:cNvSpPr/>
          <p:nvPr/>
        </p:nvSpPr>
        <p:spPr>
          <a:xfrm>
            <a:off x="4005072" y="1353312"/>
            <a:ext cx="4224600" cy="5230500"/>
          </a:xfrm>
          <a:prstGeom prst="rect">
            <a:avLst/>
          </a:prstGeom>
          <a:solidFill>
            <a:srgbClr val="DCEFE9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e699937637_0_373"/>
          <p:cNvSpPr/>
          <p:nvPr/>
        </p:nvSpPr>
        <p:spPr>
          <a:xfrm>
            <a:off x="4005072" y="1353312"/>
            <a:ext cx="4224600" cy="457200"/>
          </a:xfrm>
          <a:prstGeom prst="rect">
            <a:avLst/>
          </a:prstGeom>
          <a:solidFill>
            <a:srgbClr val="075F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e699937637_0_373"/>
          <p:cNvSpPr txBox="1"/>
          <p:nvPr/>
        </p:nvSpPr>
        <p:spPr>
          <a:xfrm>
            <a:off x="4160520" y="1426464"/>
            <a:ext cx="3913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Solution — Explosion-Proof ATEX / IECEx PDA Tablet</a:t>
            </a:r>
            <a:endParaRPr/>
          </a:p>
        </p:txBody>
      </p:sp>
      <p:pic>
        <p:nvPicPr>
          <p:cNvPr descr="atex_pda_mockup.png" id="274" name="Google Shape;274;g3e699937637_0_373"/>
          <p:cNvPicPr preferRelativeResize="0"/>
          <p:nvPr/>
        </p:nvPicPr>
        <p:blipFill rotWithShape="1">
          <a:blip r:embed="rId3">
            <a:alphaModFix/>
          </a:blip>
          <a:srcRect b="0" l="0" r="13405" t="0"/>
          <a:stretch/>
        </p:blipFill>
        <p:spPr>
          <a:xfrm>
            <a:off x="4024492" y="2011675"/>
            <a:ext cx="3624725" cy="2359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e699937637_0_373"/>
          <p:cNvSpPr txBox="1"/>
          <p:nvPr/>
        </p:nvSpPr>
        <p:spPr>
          <a:xfrm>
            <a:off x="4160520" y="4498848"/>
            <a:ext cx="3913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•  ATEX / IECEx Zone 1 &amp; 2  ·  IP68  ·  –20 °C to +60 °C</a:t>
            </a:r>
            <a:endParaRPr/>
          </a:p>
        </p:txBody>
      </p:sp>
      <p:sp>
        <p:nvSpPr>
          <p:cNvPr id="276" name="Google Shape;276;g3e699937637_0_373"/>
          <p:cNvSpPr txBox="1"/>
          <p:nvPr/>
        </p:nvSpPr>
        <p:spPr>
          <a:xfrm>
            <a:off x="4160520" y="4690872"/>
            <a:ext cx="3913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•  1000 nit sunlight-readable  ·  glove-friendly touch</a:t>
            </a:r>
            <a:endParaRPr/>
          </a:p>
        </p:txBody>
      </p:sp>
      <p:sp>
        <p:nvSpPr>
          <p:cNvPr id="277" name="Google Shape;277;g3e699937637_0_373"/>
          <p:cNvSpPr txBox="1"/>
          <p:nvPr/>
        </p:nvSpPr>
        <p:spPr>
          <a:xfrm>
            <a:off x="4160520" y="4882896"/>
            <a:ext cx="3913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•  100% offline — no network needed</a:t>
            </a:r>
            <a:endParaRPr/>
          </a:p>
        </p:txBody>
      </p:sp>
      <p:sp>
        <p:nvSpPr>
          <p:cNvPr id="278" name="Google Shape;278;g3e699937637_0_373"/>
          <p:cNvSpPr txBox="1"/>
          <p:nvPr/>
        </p:nvSpPr>
        <p:spPr>
          <a:xfrm>
            <a:off x="4005072" y="5120640"/>
            <a:ext cx="4224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e.g. Ecom Tab-Ex 02  ·  Bartec ZONE 2  ·  Pepperl+Fuchs BM-T35</a:t>
            </a:r>
            <a:endParaRPr/>
          </a:p>
        </p:txBody>
      </p:sp>
      <p:sp>
        <p:nvSpPr>
          <p:cNvPr id="279" name="Google Shape;279;g3e699937637_0_373"/>
          <p:cNvSpPr txBox="1"/>
          <p:nvPr/>
        </p:nvSpPr>
        <p:spPr>
          <a:xfrm>
            <a:off x="3703320" y="3182112"/>
            <a:ext cx="2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280" name="Google Shape;280;g3e699937637_0_373"/>
          <p:cNvSpPr/>
          <p:nvPr/>
        </p:nvSpPr>
        <p:spPr>
          <a:xfrm>
            <a:off x="8394192" y="1353312"/>
            <a:ext cx="3401700" cy="5230500"/>
          </a:xfrm>
          <a:prstGeom prst="rect">
            <a:avLst/>
          </a:prstGeom>
          <a:solidFill>
            <a:srgbClr val="DCEFE9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e699937637_0_373"/>
          <p:cNvSpPr txBox="1"/>
          <p:nvPr/>
        </p:nvSpPr>
        <p:spPr>
          <a:xfrm>
            <a:off x="8540496" y="1444752"/>
            <a:ext cx="3127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LAIQ outcomes — what customers measure</a:t>
            </a:r>
            <a:endParaRPr/>
          </a:p>
        </p:txBody>
      </p:sp>
      <p:sp>
        <p:nvSpPr>
          <p:cNvPr id="282" name="Google Shape;282;g3e699937637_0_373"/>
          <p:cNvSpPr/>
          <p:nvPr/>
        </p:nvSpPr>
        <p:spPr>
          <a:xfrm>
            <a:off x="8540496" y="1847088"/>
            <a:ext cx="3127200" cy="273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699937637_0_373"/>
          <p:cNvSpPr txBox="1"/>
          <p:nvPr/>
        </p:nvSpPr>
        <p:spPr>
          <a:xfrm>
            <a:off x="8119872" y="3182112"/>
            <a:ext cx="2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284" name="Google Shape;284;g3e699937637_0_373"/>
          <p:cNvSpPr/>
          <p:nvPr/>
        </p:nvSpPr>
        <p:spPr>
          <a:xfrm>
            <a:off x="8549640" y="2002536"/>
            <a:ext cx="1005900" cy="1719000"/>
          </a:xfrm>
          <a:prstGeom prst="rect">
            <a:avLst/>
          </a:prstGeom>
          <a:solidFill>
            <a:srgbClr val="C5D5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e699937637_0_373"/>
          <p:cNvSpPr/>
          <p:nvPr/>
        </p:nvSpPr>
        <p:spPr>
          <a:xfrm>
            <a:off x="8485632" y="1938528"/>
            <a:ext cx="1005900" cy="1719000"/>
          </a:xfrm>
          <a:prstGeom prst="rect">
            <a:avLst/>
          </a:prstGeom>
          <a:solidFill>
            <a:srgbClr val="F4F7F6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699937637_0_373"/>
          <p:cNvSpPr/>
          <p:nvPr/>
        </p:nvSpPr>
        <p:spPr>
          <a:xfrm>
            <a:off x="8485632" y="1938528"/>
            <a:ext cx="1005900" cy="54900"/>
          </a:xfrm>
          <a:prstGeom prst="rect">
            <a:avLst/>
          </a:prstGeom>
          <a:solidFill>
            <a:srgbClr val="075F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e699937637_0_373"/>
          <p:cNvSpPr txBox="1"/>
          <p:nvPr/>
        </p:nvSpPr>
        <p:spPr>
          <a:xfrm>
            <a:off x="8558784" y="2011680"/>
            <a:ext cx="85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Inspection</a:t>
            </a:r>
            <a:br>
              <a:rPr b="1" i="0" lang="en-US" sz="90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90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Cycle Time</a:t>
            </a:r>
            <a:endParaRPr/>
          </a:p>
        </p:txBody>
      </p:sp>
      <p:sp>
        <p:nvSpPr>
          <p:cNvPr id="288" name="Google Shape;288;g3e699937637_0_373"/>
          <p:cNvSpPr txBox="1"/>
          <p:nvPr/>
        </p:nvSpPr>
        <p:spPr>
          <a:xfrm>
            <a:off x="8513021" y="2694104"/>
            <a:ext cx="8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75F5C"/>
                </a:solidFill>
              </a:rPr>
              <a:t>Reduced</a:t>
            </a:r>
            <a:endParaRPr b="1" sz="1300">
              <a:solidFill>
                <a:srgbClr val="075F5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40–70%</a:t>
            </a:r>
            <a:endParaRPr sz="1300"/>
          </a:p>
        </p:txBody>
      </p:sp>
      <p:sp>
        <p:nvSpPr>
          <p:cNvPr id="289" name="Google Shape;289;g3e699937637_0_373"/>
          <p:cNvSpPr/>
          <p:nvPr/>
        </p:nvSpPr>
        <p:spPr>
          <a:xfrm>
            <a:off x="8485632" y="3703320"/>
            <a:ext cx="1005900" cy="273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e699937637_0_373"/>
          <p:cNvSpPr txBox="1"/>
          <p:nvPr/>
        </p:nvSpPr>
        <p:spPr>
          <a:xfrm>
            <a:off x="8558784" y="3785615"/>
            <a:ext cx="8595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▸  Re-keying eliminated</a:t>
            </a:r>
            <a:endParaRPr/>
          </a:p>
        </p:txBody>
      </p:sp>
      <p:sp>
        <p:nvSpPr>
          <p:cNvPr id="291" name="Google Shape;291;g3e699937637_0_373"/>
          <p:cNvSpPr txBox="1"/>
          <p:nvPr/>
        </p:nvSpPr>
        <p:spPr>
          <a:xfrm>
            <a:off x="8558784" y="4407407"/>
            <a:ext cx="859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▸  Completeness check on site</a:t>
            </a:r>
            <a:endParaRPr/>
          </a:p>
        </p:txBody>
      </p:sp>
      <p:sp>
        <p:nvSpPr>
          <p:cNvPr id="292" name="Google Shape;292;g3e699937637_0_373"/>
          <p:cNvSpPr txBox="1"/>
          <p:nvPr/>
        </p:nvSpPr>
        <p:spPr>
          <a:xfrm>
            <a:off x="8558784" y="5029200"/>
            <a:ext cx="859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▸  Report assembly automated</a:t>
            </a:r>
            <a:endParaRPr/>
          </a:p>
        </p:txBody>
      </p:sp>
      <p:sp>
        <p:nvSpPr>
          <p:cNvPr id="293" name="Google Shape;293;g3e699937637_0_373"/>
          <p:cNvSpPr/>
          <p:nvPr/>
        </p:nvSpPr>
        <p:spPr>
          <a:xfrm>
            <a:off x="9610344" y="2002536"/>
            <a:ext cx="1005900" cy="1719000"/>
          </a:xfrm>
          <a:prstGeom prst="rect">
            <a:avLst/>
          </a:prstGeom>
          <a:solidFill>
            <a:srgbClr val="C5D5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e699937637_0_373"/>
          <p:cNvSpPr/>
          <p:nvPr/>
        </p:nvSpPr>
        <p:spPr>
          <a:xfrm>
            <a:off x="9546336" y="1938528"/>
            <a:ext cx="1005900" cy="1719000"/>
          </a:xfrm>
          <a:prstGeom prst="rect">
            <a:avLst/>
          </a:prstGeom>
          <a:solidFill>
            <a:srgbClr val="F4F7F6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e699937637_0_373"/>
          <p:cNvSpPr/>
          <p:nvPr/>
        </p:nvSpPr>
        <p:spPr>
          <a:xfrm>
            <a:off x="9546336" y="1938528"/>
            <a:ext cx="1005900" cy="549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e699937637_0_373"/>
          <p:cNvSpPr txBox="1"/>
          <p:nvPr/>
        </p:nvSpPr>
        <p:spPr>
          <a:xfrm>
            <a:off x="9619488" y="2011680"/>
            <a:ext cx="859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Data Loss</a:t>
            </a:r>
            <a:endParaRPr/>
          </a:p>
        </p:txBody>
      </p:sp>
      <p:sp>
        <p:nvSpPr>
          <p:cNvPr id="297" name="Google Shape;297;g3e699937637_0_373"/>
          <p:cNvSpPr txBox="1"/>
          <p:nvPr/>
        </p:nvSpPr>
        <p:spPr>
          <a:xfrm>
            <a:off x="9573812" y="2725004"/>
            <a:ext cx="896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3C6E"/>
                </a:solidFill>
                <a:latin typeface="Arial"/>
                <a:ea typeface="Arial"/>
                <a:cs typeface="Arial"/>
                <a:sym typeface="Arial"/>
              </a:rPr>
              <a:t>Zero</a:t>
            </a:r>
            <a:endParaRPr/>
          </a:p>
        </p:txBody>
      </p:sp>
      <p:sp>
        <p:nvSpPr>
          <p:cNvPr id="298" name="Google Shape;298;g3e699937637_0_373"/>
          <p:cNvSpPr/>
          <p:nvPr/>
        </p:nvSpPr>
        <p:spPr>
          <a:xfrm>
            <a:off x="9546336" y="3703320"/>
            <a:ext cx="1005900" cy="273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e699937637_0_373"/>
          <p:cNvSpPr txBox="1"/>
          <p:nvPr/>
        </p:nvSpPr>
        <p:spPr>
          <a:xfrm>
            <a:off x="9619488" y="3785615"/>
            <a:ext cx="859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▸  Offline-first — writes instantly</a:t>
            </a:r>
            <a:endParaRPr/>
          </a:p>
        </p:txBody>
      </p:sp>
      <p:sp>
        <p:nvSpPr>
          <p:cNvPr id="300" name="Google Shape;300;g3e699937637_0_373"/>
          <p:cNvSpPr txBox="1"/>
          <p:nvPr/>
        </p:nvSpPr>
        <p:spPr>
          <a:xfrm>
            <a:off x="9619488" y="4407407"/>
            <a:ext cx="859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▸  No paper transcription errors</a:t>
            </a:r>
            <a:endParaRPr/>
          </a:p>
        </p:txBody>
      </p:sp>
      <p:sp>
        <p:nvSpPr>
          <p:cNvPr id="301" name="Google Shape;301;g3e699937637_0_373"/>
          <p:cNvSpPr txBox="1"/>
          <p:nvPr/>
        </p:nvSpPr>
        <p:spPr>
          <a:xfrm>
            <a:off x="9619488" y="5029200"/>
            <a:ext cx="859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▸  Photos linked at capture</a:t>
            </a:r>
            <a:endParaRPr/>
          </a:p>
        </p:txBody>
      </p:sp>
      <p:sp>
        <p:nvSpPr>
          <p:cNvPr id="302" name="Google Shape;302;g3e699937637_0_373"/>
          <p:cNvSpPr/>
          <p:nvPr/>
        </p:nvSpPr>
        <p:spPr>
          <a:xfrm>
            <a:off x="10671048" y="2002536"/>
            <a:ext cx="1005900" cy="1719000"/>
          </a:xfrm>
          <a:prstGeom prst="rect">
            <a:avLst/>
          </a:prstGeom>
          <a:solidFill>
            <a:srgbClr val="C5D5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e699937637_0_373"/>
          <p:cNvSpPr/>
          <p:nvPr/>
        </p:nvSpPr>
        <p:spPr>
          <a:xfrm>
            <a:off x="10607040" y="1938528"/>
            <a:ext cx="1005900" cy="1719000"/>
          </a:xfrm>
          <a:prstGeom prst="rect">
            <a:avLst/>
          </a:prstGeom>
          <a:solidFill>
            <a:srgbClr val="F4F7F6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e699937637_0_373"/>
          <p:cNvSpPr/>
          <p:nvPr/>
        </p:nvSpPr>
        <p:spPr>
          <a:xfrm>
            <a:off x="10607040" y="1938528"/>
            <a:ext cx="1005900" cy="54900"/>
          </a:xfrm>
          <a:prstGeom prst="rect">
            <a:avLst/>
          </a:prstGeom>
          <a:solidFill>
            <a:srgbClr val="075F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e699937637_0_373"/>
          <p:cNvSpPr txBox="1"/>
          <p:nvPr/>
        </p:nvSpPr>
        <p:spPr>
          <a:xfrm>
            <a:off x="10680192" y="2011680"/>
            <a:ext cx="85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Automated</a:t>
            </a:r>
            <a:br>
              <a:rPr b="1" i="0" lang="en-US" sz="90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900" u="none" cap="none" strike="noStrike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/>
          </a:p>
        </p:txBody>
      </p:sp>
      <p:sp>
        <p:nvSpPr>
          <p:cNvPr id="306" name="Google Shape;306;g3e699937637_0_373"/>
          <p:cNvSpPr txBox="1"/>
          <p:nvPr/>
        </p:nvSpPr>
        <p:spPr>
          <a:xfrm>
            <a:off x="10671054" y="2786504"/>
            <a:ext cx="89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1-Click</a:t>
            </a:r>
            <a:endParaRPr/>
          </a:p>
        </p:txBody>
      </p:sp>
      <p:sp>
        <p:nvSpPr>
          <p:cNvPr id="307" name="Google Shape;307;g3e699937637_0_373"/>
          <p:cNvSpPr/>
          <p:nvPr/>
        </p:nvSpPr>
        <p:spPr>
          <a:xfrm>
            <a:off x="10607040" y="3703320"/>
            <a:ext cx="1005900" cy="273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e699937637_0_373"/>
          <p:cNvSpPr txBox="1"/>
          <p:nvPr/>
        </p:nvSpPr>
        <p:spPr>
          <a:xfrm>
            <a:off x="10680192" y="3785615"/>
            <a:ext cx="859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▸  Structured data → report draft</a:t>
            </a:r>
            <a:endParaRPr/>
          </a:p>
        </p:txBody>
      </p:sp>
      <p:sp>
        <p:nvSpPr>
          <p:cNvPr id="309" name="Google Shape;309;g3e699937637_0_373"/>
          <p:cNvSpPr txBox="1"/>
          <p:nvPr/>
        </p:nvSpPr>
        <p:spPr>
          <a:xfrm>
            <a:off x="10680192" y="4407407"/>
            <a:ext cx="859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▸  UT tables auto-populated</a:t>
            </a:r>
            <a:endParaRPr/>
          </a:p>
        </p:txBody>
      </p:sp>
      <p:sp>
        <p:nvSpPr>
          <p:cNvPr id="310" name="Google Shape;310;g3e699937637_0_373"/>
          <p:cNvSpPr txBox="1"/>
          <p:nvPr/>
        </p:nvSpPr>
        <p:spPr>
          <a:xfrm>
            <a:off x="10680192" y="5029200"/>
            <a:ext cx="859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▸  Findings register pre-built</a:t>
            </a:r>
            <a:endParaRPr/>
          </a:p>
        </p:txBody>
      </p:sp>
      <p:sp>
        <p:nvSpPr>
          <p:cNvPr id="311" name="Google Shape;311;g3e699937637_0_373"/>
          <p:cNvSpPr/>
          <p:nvPr/>
        </p:nvSpPr>
        <p:spPr>
          <a:xfrm>
            <a:off x="9491472" y="1938528"/>
            <a:ext cx="54900" cy="45720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e699937637_0_373"/>
          <p:cNvSpPr/>
          <p:nvPr/>
        </p:nvSpPr>
        <p:spPr>
          <a:xfrm>
            <a:off x="10552176" y="1938528"/>
            <a:ext cx="54900" cy="45720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e699937637_0_373"/>
          <p:cNvSpPr/>
          <p:nvPr/>
        </p:nvSpPr>
        <p:spPr>
          <a:xfrm>
            <a:off x="658368" y="6565392"/>
            <a:ext cx="11137500" cy="237600"/>
          </a:xfrm>
          <a:prstGeom prst="rect">
            <a:avLst/>
          </a:prstGeom>
          <a:solidFill>
            <a:srgbClr val="075F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e699937637_0_373"/>
          <p:cNvSpPr txBox="1"/>
          <p:nvPr/>
        </p:nvSpPr>
        <p:spPr>
          <a:xfrm>
            <a:off x="804672" y="6601968"/>
            <a:ext cx="1095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LAIQ  ·  Upskill People   ·   Uplift the Standard   ·   Uptime</a:t>
            </a:r>
            <a:endParaRPr/>
          </a:p>
        </p:txBody>
      </p:sp>
      <p:sp>
        <p:nvSpPr>
          <p:cNvPr id="315" name="Google Shape;315;g3e699937637_0_373"/>
          <p:cNvSpPr/>
          <p:nvPr/>
        </p:nvSpPr>
        <p:spPr>
          <a:xfrm>
            <a:off x="658368" y="6565392"/>
            <a:ext cx="11137500" cy="366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e699937637_0_373"/>
          <p:cNvSpPr txBox="1"/>
          <p:nvPr/>
        </p:nvSpPr>
        <p:spPr>
          <a:xfrm>
            <a:off x="658368" y="6611112"/>
            <a:ext cx="457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Hardware &amp; Outcomes  ·  S13</a:t>
            </a:r>
            <a:endParaRPr/>
          </a:p>
        </p:txBody>
      </p:sp>
      <p:pic>
        <p:nvPicPr>
          <p:cNvPr descr="laiq_logo.png" id="317" name="Google Shape;317;g3e699937637_0_3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52328" y="6547104"/>
            <a:ext cx="553738" cy="256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g3e67c00927c_0_416"/>
          <p:cNvPicPr preferRelativeResize="0"/>
          <p:nvPr/>
        </p:nvPicPr>
        <p:blipFill rotWithShape="1">
          <a:blip r:embed="rId3">
            <a:alphaModFix/>
          </a:blip>
          <a:srcRect b="87" l="0" r="0" t="13221"/>
          <a:stretch/>
        </p:blipFill>
        <p:spPr>
          <a:xfrm>
            <a:off x="52200" y="952501"/>
            <a:ext cx="12188950" cy="590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e67c00927c_0_416"/>
          <p:cNvSpPr txBox="1"/>
          <p:nvPr/>
        </p:nvSpPr>
        <p:spPr>
          <a:xfrm>
            <a:off x="239952" y="-8"/>
            <a:ext cx="106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60925" spcFirstLastPara="1" rIns="609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14578"/>
                </a:solidFill>
                <a:highlight>
                  <a:srgbClr val="FFFFFF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LAIQ is redefining inspection to achieve superior results.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ft hand color could be more simpler, and refine the font for entire ppt, make it editable" id="328" name="Google Shape;328;g3e699937637_0_16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"/>
            <a:ext cx="12188951" cy="679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67c00927c_54_27"/>
          <p:cNvSpPr/>
          <p:nvPr/>
        </p:nvSpPr>
        <p:spPr>
          <a:xfrm>
            <a:off x="0" y="0"/>
            <a:ext cx="411600" cy="6858000"/>
          </a:xfrm>
          <a:prstGeom prst="rect">
            <a:avLst/>
          </a:prstGeom>
          <a:solidFill>
            <a:srgbClr val="075F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e67c00927c_54_27"/>
          <p:cNvSpPr/>
          <p:nvPr/>
        </p:nvSpPr>
        <p:spPr>
          <a:xfrm>
            <a:off x="411484" y="0"/>
            <a:ext cx="109800" cy="6858000"/>
          </a:xfrm>
          <a:prstGeom prst="rect">
            <a:avLst/>
          </a:prstGeom>
          <a:solidFill>
            <a:srgbClr val="DCEFE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e67c00927c_54_27"/>
          <p:cNvSpPr txBox="1"/>
          <p:nvPr/>
        </p:nvSpPr>
        <p:spPr>
          <a:xfrm>
            <a:off x="658375" y="256032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FIELD CAPTURE  ·  STEP 1</a:t>
            </a:r>
            <a:endParaRPr/>
          </a:p>
        </p:txBody>
      </p:sp>
      <p:sp>
        <p:nvSpPr>
          <p:cNvPr id="336" name="Google Shape;336;g3e67c00927c_54_27"/>
          <p:cNvSpPr txBox="1"/>
          <p:nvPr/>
        </p:nvSpPr>
        <p:spPr>
          <a:xfrm>
            <a:off x="658375" y="475488"/>
            <a:ext cx="11064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Guided task-driven workflow</a:t>
            </a:r>
            <a:endParaRPr/>
          </a:p>
        </p:txBody>
      </p:sp>
      <p:sp>
        <p:nvSpPr>
          <p:cNvPr id="337" name="Google Shape;337;g3e67c00927c_54_27"/>
          <p:cNvSpPr/>
          <p:nvPr/>
        </p:nvSpPr>
        <p:spPr>
          <a:xfrm>
            <a:off x="658375" y="1234440"/>
            <a:ext cx="11137500" cy="366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e67c00927c_54_27"/>
          <p:cNvSpPr txBox="1"/>
          <p:nvPr/>
        </p:nvSpPr>
        <p:spPr>
          <a:xfrm>
            <a:off x="658375" y="1325880"/>
            <a:ext cx="6355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Configure the tank once. Select in-scope surfaces. Work from a live Task Board that tracks completion.</a:t>
            </a:r>
            <a:endParaRPr/>
          </a:p>
        </p:txBody>
      </p:sp>
      <p:sp>
        <p:nvSpPr>
          <p:cNvPr id="339" name="Google Shape;339;g3e67c00927c_54_27"/>
          <p:cNvSpPr txBox="1"/>
          <p:nvPr/>
        </p:nvSpPr>
        <p:spPr>
          <a:xfrm>
            <a:off x="658375" y="1847088"/>
            <a:ext cx="621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Configure once  </a:t>
            </a:r>
            <a:r>
              <a:rPr b="0" lang="en-US" sz="115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tank geometry and references drive all later tasks</a:t>
            </a:r>
            <a:endParaRPr/>
          </a:p>
        </p:txBody>
      </p:sp>
      <p:sp>
        <p:nvSpPr>
          <p:cNvPr id="340" name="Google Shape;340;g3e67c00927c_54_27"/>
          <p:cNvSpPr txBox="1"/>
          <p:nvPr/>
        </p:nvSpPr>
        <p:spPr>
          <a:xfrm>
            <a:off x="658375" y="2240280"/>
            <a:ext cx="621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Scope selection  </a:t>
            </a:r>
            <a:r>
              <a:rPr b="0" lang="en-US" sz="115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only surfaces in scope appear in the workflow</a:t>
            </a:r>
            <a:endParaRPr/>
          </a:p>
        </p:txBody>
      </p:sp>
      <p:sp>
        <p:nvSpPr>
          <p:cNvPr id="341" name="Google Shape;341;g3e67c00927c_54_27"/>
          <p:cNvSpPr txBox="1"/>
          <p:nvPr/>
        </p:nvSpPr>
        <p:spPr>
          <a:xfrm>
            <a:off x="658375" y="2633472"/>
            <a:ext cx="621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Live Task Board  </a:t>
            </a:r>
            <a:r>
              <a:rPr b="0" lang="en-US" sz="115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progress, warnings, and completion counts at a glance</a:t>
            </a:r>
            <a:endParaRPr/>
          </a:p>
        </p:txBody>
      </p:sp>
      <p:sp>
        <p:nvSpPr>
          <p:cNvPr id="342" name="Google Shape;342;g3e67c00927c_54_27"/>
          <p:cNvSpPr txBox="1"/>
          <p:nvPr/>
        </p:nvSpPr>
        <p:spPr>
          <a:xfrm>
            <a:off x="658375" y="3026664"/>
            <a:ext cx="621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Draft save/resume  </a:t>
            </a:r>
            <a:r>
              <a:rPr b="0" lang="en-US" sz="115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supports real-world field interruptions</a:t>
            </a:r>
            <a:endParaRPr/>
          </a:p>
        </p:txBody>
      </p:sp>
      <p:sp>
        <p:nvSpPr>
          <p:cNvPr id="343" name="Google Shape;343;g3e67c00927c_54_27"/>
          <p:cNvSpPr/>
          <p:nvPr/>
        </p:nvSpPr>
        <p:spPr>
          <a:xfrm>
            <a:off x="722383" y="4014216"/>
            <a:ext cx="6217800" cy="877800"/>
          </a:xfrm>
          <a:prstGeom prst="rect">
            <a:avLst/>
          </a:prstGeom>
          <a:solidFill>
            <a:srgbClr val="C5D5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e67c00927c_54_27"/>
          <p:cNvSpPr/>
          <p:nvPr/>
        </p:nvSpPr>
        <p:spPr>
          <a:xfrm>
            <a:off x="658375" y="3950208"/>
            <a:ext cx="6217800" cy="877800"/>
          </a:xfrm>
          <a:prstGeom prst="rect">
            <a:avLst/>
          </a:prstGeom>
          <a:solidFill>
            <a:srgbClr val="DCEFE9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e67c00927c_54_27"/>
          <p:cNvSpPr/>
          <p:nvPr/>
        </p:nvSpPr>
        <p:spPr>
          <a:xfrm>
            <a:off x="658375" y="3950208"/>
            <a:ext cx="63900" cy="877800"/>
          </a:xfrm>
          <a:prstGeom prst="rect">
            <a:avLst/>
          </a:prstGeom>
          <a:solidFill>
            <a:srgbClr val="075F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e67c00927c_54_27"/>
          <p:cNvSpPr txBox="1"/>
          <p:nvPr/>
        </p:nvSpPr>
        <p:spPr>
          <a:xfrm>
            <a:off x="841257" y="4069080"/>
            <a:ext cx="5870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No second entry.</a:t>
            </a:r>
            <a:endParaRPr/>
          </a:p>
        </p:txBody>
      </p:sp>
      <p:sp>
        <p:nvSpPr>
          <p:cNvPr id="347" name="Google Shape;347;g3e67c00927c_54_27"/>
          <p:cNvSpPr txBox="1"/>
          <p:nvPr/>
        </p:nvSpPr>
        <p:spPr>
          <a:xfrm>
            <a:off x="841257" y="4352544"/>
            <a:ext cx="583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Everything captured in the Task Board flows directly into the report output — no manual transfer required.</a:t>
            </a:r>
            <a:endParaRPr/>
          </a:p>
        </p:txBody>
      </p:sp>
      <p:sp>
        <p:nvSpPr>
          <p:cNvPr id="348" name="Google Shape;348;g3e67c00927c_54_27"/>
          <p:cNvSpPr/>
          <p:nvPr/>
        </p:nvSpPr>
        <p:spPr>
          <a:xfrm>
            <a:off x="6986088" y="768096"/>
            <a:ext cx="2519100" cy="5440800"/>
          </a:xfrm>
          <a:prstGeom prst="rect">
            <a:avLst/>
          </a:prstGeom>
          <a:solidFill>
            <a:srgbClr val="C5D5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e67c00927c_54_27"/>
          <p:cNvSpPr/>
          <p:nvPr/>
        </p:nvSpPr>
        <p:spPr>
          <a:xfrm>
            <a:off x="6903791" y="685800"/>
            <a:ext cx="2519100" cy="544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67c00927c_54_27"/>
          <p:cNvSpPr/>
          <p:nvPr/>
        </p:nvSpPr>
        <p:spPr>
          <a:xfrm>
            <a:off x="7659509" y="722376"/>
            <a:ext cx="1007700" cy="549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3_setup_filled.png" id="351" name="Google Shape;351;g3e67c00927c_54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511" y="795528"/>
            <a:ext cx="2427594" cy="523951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e67c00927c_54_27"/>
          <p:cNvSpPr/>
          <p:nvPr/>
        </p:nvSpPr>
        <p:spPr>
          <a:xfrm>
            <a:off x="9592154" y="768096"/>
            <a:ext cx="2519100" cy="5440800"/>
          </a:xfrm>
          <a:prstGeom prst="rect">
            <a:avLst/>
          </a:prstGeom>
          <a:solidFill>
            <a:srgbClr val="C5D5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e67c00927c_54_27"/>
          <p:cNvSpPr/>
          <p:nvPr/>
        </p:nvSpPr>
        <p:spPr>
          <a:xfrm>
            <a:off x="9509858" y="685800"/>
            <a:ext cx="2519100" cy="544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e67c00927c_54_27"/>
          <p:cNvSpPr/>
          <p:nvPr/>
        </p:nvSpPr>
        <p:spPr>
          <a:xfrm>
            <a:off x="10265575" y="722376"/>
            <a:ext cx="1007700" cy="549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5_taskboard.png" id="355" name="Google Shape;355;g3e67c00927c_54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5578" y="795528"/>
            <a:ext cx="2427594" cy="523951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3e67c00927c_54_27"/>
          <p:cNvSpPr/>
          <p:nvPr/>
        </p:nvSpPr>
        <p:spPr>
          <a:xfrm>
            <a:off x="658375" y="6565392"/>
            <a:ext cx="11137500" cy="366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e67c00927c_54_27"/>
          <p:cNvSpPr txBox="1"/>
          <p:nvPr/>
        </p:nvSpPr>
        <p:spPr>
          <a:xfrm>
            <a:off x="658375" y="6611112"/>
            <a:ext cx="457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Field Capture Step 1  ·  S4</a:t>
            </a:r>
            <a:endParaRPr/>
          </a:p>
        </p:txBody>
      </p:sp>
      <p:pic>
        <p:nvPicPr>
          <p:cNvPr descr="laiq_logo.png" id="358" name="Google Shape;358;g3e67c00927c_54_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52445" y="6547104"/>
            <a:ext cx="5537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67c00927c_54_56"/>
          <p:cNvSpPr/>
          <p:nvPr/>
        </p:nvSpPr>
        <p:spPr>
          <a:xfrm>
            <a:off x="0" y="0"/>
            <a:ext cx="411600" cy="6858000"/>
          </a:xfrm>
          <a:prstGeom prst="rect">
            <a:avLst/>
          </a:prstGeom>
          <a:solidFill>
            <a:srgbClr val="075F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e67c00927c_54_56"/>
          <p:cNvSpPr/>
          <p:nvPr/>
        </p:nvSpPr>
        <p:spPr>
          <a:xfrm>
            <a:off x="411484" y="0"/>
            <a:ext cx="109800" cy="6858000"/>
          </a:xfrm>
          <a:prstGeom prst="rect">
            <a:avLst/>
          </a:prstGeom>
          <a:solidFill>
            <a:srgbClr val="DCEFE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e67c00927c_54_56"/>
          <p:cNvSpPr txBox="1"/>
          <p:nvPr/>
        </p:nvSpPr>
        <p:spPr>
          <a:xfrm>
            <a:off x="658375" y="256032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FIELD CAPTURE  ·  STEP 2</a:t>
            </a:r>
            <a:endParaRPr/>
          </a:p>
        </p:txBody>
      </p:sp>
      <p:sp>
        <p:nvSpPr>
          <p:cNvPr id="366" name="Google Shape;366;g3e67c00927c_54_56"/>
          <p:cNvSpPr txBox="1"/>
          <p:nvPr/>
        </p:nvSpPr>
        <p:spPr>
          <a:xfrm>
            <a:off x="658375" y="475488"/>
            <a:ext cx="11064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Structured UT data capture</a:t>
            </a:r>
            <a:endParaRPr/>
          </a:p>
        </p:txBody>
      </p:sp>
      <p:sp>
        <p:nvSpPr>
          <p:cNvPr id="367" name="Google Shape;367;g3e67c00927c_54_56"/>
          <p:cNvSpPr/>
          <p:nvPr/>
        </p:nvSpPr>
        <p:spPr>
          <a:xfrm>
            <a:off x="658375" y="1234440"/>
            <a:ext cx="11137500" cy="366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e67c00927c_54_56"/>
          <p:cNvSpPr txBox="1"/>
          <p:nvPr/>
        </p:nvSpPr>
        <p:spPr>
          <a:xfrm>
            <a:off x="658375" y="1325880"/>
            <a:ext cx="6126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Each surface task captures readings in exactly the structure the report needs. Nothing is re-entered.</a:t>
            </a:r>
            <a:endParaRPr/>
          </a:p>
        </p:txBody>
      </p:sp>
      <p:sp>
        <p:nvSpPr>
          <p:cNvPr id="369" name="Google Shape;369;g3e67c00927c_54_56"/>
          <p:cNvSpPr/>
          <p:nvPr/>
        </p:nvSpPr>
        <p:spPr>
          <a:xfrm>
            <a:off x="658375" y="1883664"/>
            <a:ext cx="5898000" cy="457200"/>
          </a:xfrm>
          <a:prstGeom prst="rect">
            <a:avLst/>
          </a:prstGeom>
          <a:solidFill>
            <a:srgbClr val="075F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e67c00927c_54_56"/>
          <p:cNvSpPr txBox="1"/>
          <p:nvPr/>
        </p:nvSpPr>
        <p:spPr>
          <a:xfrm>
            <a:off x="749816" y="1956816"/>
            <a:ext cx="144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Surface</a:t>
            </a:r>
            <a:endParaRPr/>
          </a:p>
        </p:txBody>
      </p:sp>
      <p:sp>
        <p:nvSpPr>
          <p:cNvPr id="371" name="Google Shape;371;g3e67c00927c_54_56"/>
          <p:cNvSpPr txBox="1"/>
          <p:nvPr/>
        </p:nvSpPr>
        <p:spPr>
          <a:xfrm>
            <a:off x="2304312" y="1956816"/>
            <a:ext cx="233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Entry method</a:t>
            </a:r>
            <a:endParaRPr/>
          </a:p>
        </p:txBody>
      </p:sp>
      <p:sp>
        <p:nvSpPr>
          <p:cNvPr id="372" name="Google Shape;372;g3e67c00927c_54_56"/>
          <p:cNvSpPr txBox="1"/>
          <p:nvPr/>
        </p:nvSpPr>
        <p:spPr>
          <a:xfrm>
            <a:off x="4773217" y="1956816"/>
            <a:ext cx="189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Output section</a:t>
            </a:r>
            <a:endParaRPr/>
          </a:p>
        </p:txBody>
      </p:sp>
      <p:sp>
        <p:nvSpPr>
          <p:cNvPr id="373" name="Google Shape;373;g3e67c00927c_54_56"/>
          <p:cNvSpPr/>
          <p:nvPr/>
        </p:nvSpPr>
        <p:spPr>
          <a:xfrm>
            <a:off x="658375" y="2340864"/>
            <a:ext cx="58980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e67c00927c_54_56"/>
          <p:cNvSpPr txBox="1"/>
          <p:nvPr/>
        </p:nvSpPr>
        <p:spPr>
          <a:xfrm>
            <a:off x="749816" y="2414016"/>
            <a:ext cx="144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Shell UT</a:t>
            </a:r>
            <a:endParaRPr/>
          </a:p>
        </p:txBody>
      </p:sp>
      <p:sp>
        <p:nvSpPr>
          <p:cNvPr id="375" name="Google Shape;375;g3e67c00927c_54_56"/>
          <p:cNvSpPr txBox="1"/>
          <p:nvPr/>
        </p:nvSpPr>
        <p:spPr>
          <a:xfrm>
            <a:off x="2304312" y="2414016"/>
            <a:ext cx="233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Strake × N/E/S/W × 5 pts</a:t>
            </a:r>
            <a:endParaRPr/>
          </a:p>
        </p:txBody>
      </p:sp>
      <p:sp>
        <p:nvSpPr>
          <p:cNvPr id="376" name="Google Shape;376;g3e67c00927c_54_56"/>
          <p:cNvSpPr txBox="1"/>
          <p:nvPr/>
        </p:nvSpPr>
        <p:spPr>
          <a:xfrm>
            <a:off x="4773217" y="2414016"/>
            <a:ext cx="189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Shell thickness table</a:t>
            </a:r>
            <a:endParaRPr/>
          </a:p>
        </p:txBody>
      </p:sp>
      <p:sp>
        <p:nvSpPr>
          <p:cNvPr id="377" name="Google Shape;377;g3e67c00927c_54_56"/>
          <p:cNvSpPr/>
          <p:nvPr/>
        </p:nvSpPr>
        <p:spPr>
          <a:xfrm>
            <a:off x="658375" y="2798064"/>
            <a:ext cx="5898000" cy="457200"/>
          </a:xfrm>
          <a:prstGeom prst="rect">
            <a:avLst/>
          </a:prstGeom>
          <a:solidFill>
            <a:srgbClr val="F4F7F6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e67c00927c_54_56"/>
          <p:cNvSpPr txBox="1"/>
          <p:nvPr/>
        </p:nvSpPr>
        <p:spPr>
          <a:xfrm>
            <a:off x="749816" y="2871216"/>
            <a:ext cx="144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Roof UT</a:t>
            </a:r>
            <a:endParaRPr/>
          </a:p>
        </p:txBody>
      </p:sp>
      <p:sp>
        <p:nvSpPr>
          <p:cNvPr id="379" name="Google Shape;379;g3e67c00927c_54_56"/>
          <p:cNvSpPr txBox="1"/>
          <p:nvPr/>
        </p:nvSpPr>
        <p:spPr>
          <a:xfrm>
            <a:off x="2304312" y="2871216"/>
            <a:ext cx="233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Plate × A–E readings</a:t>
            </a:r>
            <a:endParaRPr/>
          </a:p>
        </p:txBody>
      </p:sp>
      <p:sp>
        <p:nvSpPr>
          <p:cNvPr id="380" name="Google Shape;380;g3e67c00927c_54_56"/>
          <p:cNvSpPr txBox="1"/>
          <p:nvPr/>
        </p:nvSpPr>
        <p:spPr>
          <a:xfrm>
            <a:off x="4773217" y="2871216"/>
            <a:ext cx="189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Roof thickness table</a:t>
            </a:r>
            <a:endParaRPr/>
          </a:p>
        </p:txBody>
      </p:sp>
      <p:sp>
        <p:nvSpPr>
          <p:cNvPr id="381" name="Google Shape;381;g3e67c00927c_54_56"/>
          <p:cNvSpPr/>
          <p:nvPr/>
        </p:nvSpPr>
        <p:spPr>
          <a:xfrm>
            <a:off x="658375" y="3255264"/>
            <a:ext cx="58980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e67c00927c_54_56"/>
          <p:cNvSpPr txBox="1"/>
          <p:nvPr/>
        </p:nvSpPr>
        <p:spPr>
          <a:xfrm>
            <a:off x="749816" y="3328416"/>
            <a:ext cx="144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Shell Nozzles</a:t>
            </a:r>
            <a:endParaRPr/>
          </a:p>
        </p:txBody>
      </p:sp>
      <p:sp>
        <p:nvSpPr>
          <p:cNvPr id="383" name="Google Shape;383;g3e67c00927c_54_56"/>
          <p:cNvSpPr txBox="1"/>
          <p:nvPr/>
        </p:nvSpPr>
        <p:spPr>
          <a:xfrm>
            <a:off x="2304312" y="3328416"/>
            <a:ext cx="233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12/3/6/9 o'clock + pad</a:t>
            </a:r>
            <a:endParaRPr/>
          </a:p>
        </p:txBody>
      </p:sp>
      <p:sp>
        <p:nvSpPr>
          <p:cNvPr id="384" name="Google Shape;384;g3e67c00927c_54_56"/>
          <p:cNvSpPr txBox="1"/>
          <p:nvPr/>
        </p:nvSpPr>
        <p:spPr>
          <a:xfrm>
            <a:off x="4773217" y="3328416"/>
            <a:ext cx="189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Shell nozzle table</a:t>
            </a:r>
            <a:endParaRPr/>
          </a:p>
        </p:txBody>
      </p:sp>
      <p:sp>
        <p:nvSpPr>
          <p:cNvPr id="385" name="Google Shape;385;g3e67c00927c_54_56"/>
          <p:cNvSpPr/>
          <p:nvPr/>
        </p:nvSpPr>
        <p:spPr>
          <a:xfrm>
            <a:off x="658375" y="3712464"/>
            <a:ext cx="5898000" cy="457200"/>
          </a:xfrm>
          <a:prstGeom prst="rect">
            <a:avLst/>
          </a:prstGeom>
          <a:solidFill>
            <a:srgbClr val="F4F7F6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e67c00927c_54_56"/>
          <p:cNvSpPr txBox="1"/>
          <p:nvPr/>
        </p:nvSpPr>
        <p:spPr>
          <a:xfrm>
            <a:off x="749816" y="3785616"/>
            <a:ext cx="144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Roof Nozzles</a:t>
            </a:r>
            <a:endParaRPr/>
          </a:p>
        </p:txBody>
      </p:sp>
      <p:sp>
        <p:nvSpPr>
          <p:cNvPr id="387" name="Google Shape;387;g3e67c00927c_54_56"/>
          <p:cNvSpPr txBox="1"/>
          <p:nvPr/>
        </p:nvSpPr>
        <p:spPr>
          <a:xfrm>
            <a:off x="2304312" y="3785616"/>
            <a:ext cx="233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N/E/S/W + pad</a:t>
            </a:r>
            <a:endParaRPr/>
          </a:p>
        </p:txBody>
      </p:sp>
      <p:sp>
        <p:nvSpPr>
          <p:cNvPr id="388" name="Google Shape;388;g3e67c00927c_54_56"/>
          <p:cNvSpPr txBox="1"/>
          <p:nvPr/>
        </p:nvSpPr>
        <p:spPr>
          <a:xfrm>
            <a:off x="4773217" y="3785616"/>
            <a:ext cx="189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Roof nozzle table</a:t>
            </a:r>
            <a:endParaRPr/>
          </a:p>
        </p:txBody>
      </p:sp>
      <p:sp>
        <p:nvSpPr>
          <p:cNvPr id="389" name="Google Shape;389;g3e67c00927c_54_56"/>
          <p:cNvSpPr/>
          <p:nvPr/>
        </p:nvSpPr>
        <p:spPr>
          <a:xfrm>
            <a:off x="658375" y="4169664"/>
            <a:ext cx="58980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e67c00927c_54_56"/>
          <p:cNvSpPr txBox="1"/>
          <p:nvPr/>
        </p:nvSpPr>
        <p:spPr>
          <a:xfrm>
            <a:off x="749816" y="4242816"/>
            <a:ext cx="144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Bottom MFL</a:t>
            </a:r>
            <a:endParaRPr/>
          </a:p>
        </p:txBody>
      </p:sp>
      <p:sp>
        <p:nvSpPr>
          <p:cNvPr id="391" name="Google Shape;391;g3e67c00927c_54_56"/>
          <p:cNvSpPr txBox="1"/>
          <p:nvPr/>
        </p:nvSpPr>
        <p:spPr>
          <a:xfrm>
            <a:off x="2304312" y="4242816"/>
            <a:ext cx="233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Import report metadata</a:t>
            </a:r>
            <a:endParaRPr/>
          </a:p>
        </p:txBody>
      </p:sp>
      <p:sp>
        <p:nvSpPr>
          <p:cNvPr id="392" name="Google Shape;392;g3e67c00927c_54_56"/>
          <p:cNvSpPr txBox="1"/>
          <p:nvPr/>
        </p:nvSpPr>
        <p:spPr>
          <a:xfrm>
            <a:off x="4773217" y="4242816"/>
            <a:ext cx="189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52625E"/>
                </a:solidFill>
                <a:latin typeface="Arial"/>
                <a:ea typeface="Arial"/>
                <a:cs typeface="Arial"/>
                <a:sym typeface="Arial"/>
              </a:rPr>
              <a:t>MFL section</a:t>
            </a:r>
            <a:endParaRPr/>
          </a:p>
        </p:txBody>
      </p:sp>
      <p:sp>
        <p:nvSpPr>
          <p:cNvPr id="393" name="Google Shape;393;g3e67c00927c_54_56"/>
          <p:cNvSpPr/>
          <p:nvPr/>
        </p:nvSpPr>
        <p:spPr>
          <a:xfrm>
            <a:off x="722383" y="4782312"/>
            <a:ext cx="5898000" cy="987600"/>
          </a:xfrm>
          <a:prstGeom prst="rect">
            <a:avLst/>
          </a:prstGeom>
          <a:solidFill>
            <a:srgbClr val="C5D5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e67c00927c_54_56"/>
          <p:cNvSpPr/>
          <p:nvPr/>
        </p:nvSpPr>
        <p:spPr>
          <a:xfrm>
            <a:off x="658375" y="4718304"/>
            <a:ext cx="5898000" cy="987600"/>
          </a:xfrm>
          <a:prstGeom prst="rect">
            <a:avLst/>
          </a:prstGeom>
          <a:solidFill>
            <a:srgbClr val="DCEFE9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e67c00927c_54_56"/>
          <p:cNvSpPr txBox="1"/>
          <p:nvPr/>
        </p:nvSpPr>
        <p:spPr>
          <a:xfrm>
            <a:off x="841257" y="4828032"/>
            <a:ext cx="5486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75F5C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396" name="Google Shape;396;g3e67c00927c_54_56"/>
          <p:cNvSpPr txBox="1"/>
          <p:nvPr/>
        </p:nvSpPr>
        <p:spPr>
          <a:xfrm>
            <a:off x="841257" y="5102352"/>
            <a:ext cx="55779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>
                <a:solidFill>
                  <a:srgbClr val="17201E"/>
                </a:solidFill>
                <a:latin typeface="Arial"/>
                <a:ea typeface="Arial"/>
                <a:cs typeface="Arial"/>
                <a:sym typeface="Arial"/>
              </a:rPr>
              <a:t>UT readings arrive in the report already mapped to the right table section. The inspector does not rebuild the structure from handwritten notes.</a:t>
            </a:r>
            <a:endParaRPr/>
          </a:p>
        </p:txBody>
      </p:sp>
      <p:sp>
        <p:nvSpPr>
          <p:cNvPr id="397" name="Google Shape;397;g3e67c00927c_54_56"/>
          <p:cNvSpPr/>
          <p:nvPr/>
        </p:nvSpPr>
        <p:spPr>
          <a:xfrm>
            <a:off x="6986088" y="768096"/>
            <a:ext cx="2519100" cy="5440800"/>
          </a:xfrm>
          <a:prstGeom prst="rect">
            <a:avLst/>
          </a:prstGeom>
          <a:solidFill>
            <a:srgbClr val="C5D5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e67c00927c_54_56"/>
          <p:cNvSpPr/>
          <p:nvPr/>
        </p:nvSpPr>
        <p:spPr>
          <a:xfrm>
            <a:off x="6903791" y="685800"/>
            <a:ext cx="2519100" cy="544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e67c00927c_54_56"/>
          <p:cNvSpPr/>
          <p:nvPr/>
        </p:nvSpPr>
        <p:spPr>
          <a:xfrm>
            <a:off x="7659509" y="722376"/>
            <a:ext cx="1007700" cy="549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7_shellut_readings.png" id="400" name="Google Shape;400;g3e67c00927c_54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511" y="795528"/>
            <a:ext cx="2427594" cy="523951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3e67c00927c_54_56"/>
          <p:cNvSpPr/>
          <p:nvPr/>
        </p:nvSpPr>
        <p:spPr>
          <a:xfrm>
            <a:off x="9592154" y="768096"/>
            <a:ext cx="2519100" cy="5440800"/>
          </a:xfrm>
          <a:prstGeom prst="rect">
            <a:avLst/>
          </a:prstGeom>
          <a:solidFill>
            <a:srgbClr val="C5D5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e67c00927c_54_56"/>
          <p:cNvSpPr/>
          <p:nvPr/>
        </p:nvSpPr>
        <p:spPr>
          <a:xfrm>
            <a:off x="9509858" y="685800"/>
            <a:ext cx="2519100" cy="544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2CC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e67c00927c_54_56"/>
          <p:cNvSpPr/>
          <p:nvPr/>
        </p:nvSpPr>
        <p:spPr>
          <a:xfrm>
            <a:off x="10265575" y="722376"/>
            <a:ext cx="1007700" cy="549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1_roof_ut.png" id="404" name="Google Shape;404;g3e67c00927c_54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5578" y="795528"/>
            <a:ext cx="2427594" cy="5239512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e67c00927c_54_56"/>
          <p:cNvSpPr/>
          <p:nvPr/>
        </p:nvSpPr>
        <p:spPr>
          <a:xfrm>
            <a:off x="658375" y="6565392"/>
            <a:ext cx="11137500" cy="36600"/>
          </a:xfrm>
          <a:prstGeom prst="rect">
            <a:avLst/>
          </a:prstGeom>
          <a:solidFill>
            <a:srgbClr val="B2CC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e67c00927c_54_56"/>
          <p:cNvSpPr txBox="1"/>
          <p:nvPr/>
        </p:nvSpPr>
        <p:spPr>
          <a:xfrm>
            <a:off x="658375" y="6611112"/>
            <a:ext cx="457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Field Capture Step 2  ·  S5</a:t>
            </a:r>
            <a:endParaRPr/>
          </a:p>
        </p:txBody>
      </p:sp>
      <p:pic>
        <p:nvPicPr>
          <p:cNvPr descr="laiq_logo.png" id="407" name="Google Shape;407;g3e67c00927c_54_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52445" y="6547104"/>
            <a:ext cx="5537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699937637_0_1530"/>
          <p:cNvSpPr/>
          <p:nvPr/>
        </p:nvSpPr>
        <p:spPr>
          <a:xfrm>
            <a:off x="0" y="0"/>
            <a:ext cx="292200" cy="6858000"/>
          </a:xfrm>
          <a:prstGeom prst="rect">
            <a:avLst/>
          </a:prstGeom>
          <a:solidFill>
            <a:srgbClr val="075F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e699937637_0_1530"/>
          <p:cNvSpPr/>
          <p:nvPr/>
        </p:nvSpPr>
        <p:spPr>
          <a:xfrm>
            <a:off x="292608" y="0"/>
            <a:ext cx="63900" cy="6858000"/>
          </a:xfrm>
          <a:prstGeom prst="rect">
            <a:avLst/>
          </a:prstGeom>
          <a:solidFill>
            <a:srgbClr val="8ABB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e699937637_0_1530"/>
          <p:cNvSpPr txBox="1"/>
          <p:nvPr/>
        </p:nvSpPr>
        <p:spPr>
          <a:xfrm>
            <a:off x="619125" y="285750"/>
            <a:ext cx="11430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ABBB6"/>
                </a:solidFill>
                <a:latin typeface="Inter"/>
                <a:ea typeface="Inter"/>
                <a:cs typeface="Inter"/>
                <a:sym typeface="Inter"/>
              </a:rPr>
              <a:t>MARKET SIZE</a:t>
            </a:r>
            <a:endParaRPr b="1" sz="1100">
              <a:solidFill>
                <a:srgbClr val="8ABBB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g3e699937637_0_1530"/>
          <p:cNvSpPr txBox="1"/>
          <p:nvPr/>
        </p:nvSpPr>
        <p:spPr>
          <a:xfrm>
            <a:off x="619125" y="523875"/>
            <a:ext cx="109542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75F5C"/>
                </a:solidFill>
                <a:latin typeface="Inter"/>
                <a:ea typeface="Inter"/>
                <a:cs typeface="Inter"/>
                <a:sym typeface="Inter"/>
              </a:rPr>
              <a:t>Focused Oil &amp; Gas Entry, Larger Industrial Inspection TAM</a:t>
            </a:r>
            <a:endParaRPr b="1" sz="2800">
              <a:solidFill>
                <a:srgbClr val="075F5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g3e699937637_0_1530"/>
          <p:cNvSpPr txBox="1"/>
          <p:nvPr/>
        </p:nvSpPr>
        <p:spPr>
          <a:xfrm>
            <a:off x="619125" y="1095375"/>
            <a:ext cx="109542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rgbClr val="52625E"/>
                </a:solidFill>
                <a:latin typeface="Inter"/>
                <a:ea typeface="Inter"/>
                <a:cs typeface="Inter"/>
                <a:sym typeface="Inter"/>
              </a:rPr>
              <a:t>Use a narrow entry wedge first, then expand the same structured workflow into adjacent asset-heavy inspections.</a:t>
            </a:r>
            <a:endParaRPr b="0" i="1" sz="1200">
              <a:solidFill>
                <a:srgbClr val="5262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17" name="Google Shape;417;g3e699937637_0_1530"/>
          <p:cNvGrpSpPr/>
          <p:nvPr/>
        </p:nvGrpSpPr>
        <p:grpSpPr>
          <a:xfrm>
            <a:off x="619125" y="1524000"/>
            <a:ext cx="2476500" cy="4048050"/>
            <a:chOff x="619125" y="1524000"/>
            <a:chExt cx="2476500" cy="4048050"/>
          </a:xfrm>
        </p:grpSpPr>
        <p:sp>
          <p:nvSpPr>
            <p:cNvPr id="418" name="Google Shape;418;g3e699937637_0_1530"/>
            <p:cNvSpPr/>
            <p:nvPr/>
          </p:nvSpPr>
          <p:spPr>
            <a:xfrm>
              <a:off x="619125" y="1524000"/>
              <a:ext cx="24765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g3e699937637_0_1530"/>
            <p:cNvSpPr/>
            <p:nvPr/>
          </p:nvSpPr>
          <p:spPr>
            <a:xfrm>
              <a:off x="619125" y="1524000"/>
              <a:ext cx="57300" cy="1285800"/>
            </a:xfrm>
            <a:prstGeom prst="roundRect">
              <a:avLst>
                <a:gd fmla="val 50000" name="adj"/>
              </a:avLst>
            </a:prstGeom>
            <a:solidFill>
              <a:srgbClr val="075F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g3e699937637_0_1530"/>
            <p:cNvSpPr txBox="1"/>
            <p:nvPr/>
          </p:nvSpPr>
          <p:spPr>
            <a:xfrm>
              <a:off x="809625" y="1524000"/>
              <a:ext cx="2190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rPr>
                <a:t>TAM</a:t>
              </a:r>
              <a:endParaRPr b="1" sz="1100">
                <a:solidFill>
                  <a:srgbClr val="075F5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1628"/>
                  </a:solidFill>
                  <a:latin typeface="Inter"/>
                  <a:ea typeface="Inter"/>
                  <a:cs typeface="Inter"/>
                  <a:sym typeface="Inter"/>
                </a:rPr>
                <a:t>USD 1.9B–6.5B</a:t>
              </a:r>
              <a:endParaRPr b="1" sz="20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Industrial inspection workflow + report layer</a:t>
              </a:r>
              <a:endParaRPr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1" name="Google Shape;421;g3e699937637_0_1530"/>
            <p:cNvSpPr/>
            <p:nvPr/>
          </p:nvSpPr>
          <p:spPr>
            <a:xfrm>
              <a:off x="619125" y="2905125"/>
              <a:ext cx="24765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g3e699937637_0_1530"/>
            <p:cNvSpPr/>
            <p:nvPr/>
          </p:nvSpPr>
          <p:spPr>
            <a:xfrm>
              <a:off x="619125" y="2905125"/>
              <a:ext cx="57300" cy="1285800"/>
            </a:xfrm>
            <a:prstGeom prst="roundRect">
              <a:avLst>
                <a:gd fmla="val 50000" name="adj"/>
              </a:avLst>
            </a:prstGeom>
            <a:solidFill>
              <a:srgbClr val="4A80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g3e699937637_0_1530"/>
            <p:cNvSpPr txBox="1"/>
            <p:nvPr/>
          </p:nvSpPr>
          <p:spPr>
            <a:xfrm>
              <a:off x="809625" y="2905125"/>
              <a:ext cx="2190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A807C"/>
                  </a:solidFill>
                  <a:latin typeface="Inter"/>
                  <a:ea typeface="Inter"/>
                  <a:cs typeface="Inter"/>
                  <a:sym typeface="Inter"/>
                </a:rPr>
                <a:t>SAM</a:t>
              </a:r>
              <a:endParaRPr b="1" sz="1100">
                <a:solidFill>
                  <a:srgbClr val="4A807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1628"/>
                  </a:solidFill>
                  <a:latin typeface="Inter"/>
                  <a:ea typeface="Inter"/>
                  <a:cs typeface="Inter"/>
                  <a:sym typeface="Inter"/>
                </a:rPr>
                <a:t>USD 36M–134M</a:t>
              </a:r>
              <a:endParaRPr b="1" sz="20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Digitally ready oil &amp; gas inspection workflows</a:t>
              </a:r>
              <a:endParaRPr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4" name="Google Shape;424;g3e699937637_0_1530"/>
            <p:cNvSpPr/>
            <p:nvPr/>
          </p:nvSpPr>
          <p:spPr>
            <a:xfrm>
              <a:off x="619125" y="4286250"/>
              <a:ext cx="24765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g3e699937637_0_1530"/>
            <p:cNvSpPr/>
            <p:nvPr/>
          </p:nvSpPr>
          <p:spPr>
            <a:xfrm>
              <a:off x="619125" y="4286250"/>
              <a:ext cx="57300" cy="1285800"/>
            </a:xfrm>
            <a:prstGeom prst="roundRect">
              <a:avLst>
                <a:gd fmla="val 50000" name="adj"/>
              </a:avLst>
            </a:prstGeom>
            <a:solidFill>
              <a:srgbClr val="0A162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g3e699937637_0_1530"/>
            <p:cNvSpPr txBox="1"/>
            <p:nvPr/>
          </p:nvSpPr>
          <p:spPr>
            <a:xfrm>
              <a:off x="809625" y="4286250"/>
              <a:ext cx="2190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A1628"/>
                  </a:solidFill>
                  <a:latin typeface="Inter"/>
                  <a:ea typeface="Inter"/>
                  <a:cs typeface="Inter"/>
                  <a:sym typeface="Inter"/>
                </a:rPr>
                <a:t>SOM</a:t>
              </a:r>
              <a:endParaRPr b="1" sz="1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1628"/>
                  </a:solidFill>
                  <a:latin typeface="Inter"/>
                  <a:ea typeface="Inter"/>
                  <a:cs typeface="Inter"/>
                  <a:sym typeface="Inter"/>
                </a:rPr>
                <a:t>USD 0.9M–7.1M</a:t>
              </a:r>
              <a:endParaRPr b="1" sz="20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3-year beachhead in oil &amp; gas tank inspection</a:t>
              </a:r>
              <a:endParaRPr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7" name="Google Shape;427;g3e699937637_0_1530"/>
          <p:cNvGrpSpPr/>
          <p:nvPr/>
        </p:nvGrpSpPr>
        <p:grpSpPr>
          <a:xfrm>
            <a:off x="3286125" y="1524000"/>
            <a:ext cx="3048000" cy="4048125"/>
            <a:chOff x="3286125" y="1524000"/>
            <a:chExt cx="3048000" cy="4048125"/>
          </a:xfrm>
        </p:grpSpPr>
        <p:sp>
          <p:nvSpPr>
            <p:cNvPr id="428" name="Google Shape;428;g3e699937637_0_1530"/>
            <p:cNvSpPr/>
            <p:nvPr/>
          </p:nvSpPr>
          <p:spPr>
            <a:xfrm>
              <a:off x="3286125" y="1524000"/>
              <a:ext cx="3048000" cy="1285800"/>
            </a:xfrm>
            <a:prstGeom prst="roundRect">
              <a:avLst>
                <a:gd fmla="val 5925" name="adj"/>
              </a:avLst>
            </a:prstGeom>
            <a:solidFill>
              <a:srgbClr val="DCEF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g3e699937637_0_1530"/>
            <p:cNvSpPr txBox="1"/>
            <p:nvPr/>
          </p:nvSpPr>
          <p:spPr>
            <a:xfrm>
              <a:off x="3476625" y="1524000"/>
              <a:ext cx="26670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rPr>
                <a:t>ASSUMPTIONS (For SOM)</a:t>
              </a:r>
              <a:endParaRPr b="1" sz="1100">
                <a:solidFill>
                  <a:srgbClr val="075F5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A1628"/>
                  </a:solidFill>
                  <a:latin typeface="Inter"/>
                  <a:ea typeface="Inter"/>
                  <a:cs typeface="Inter"/>
                  <a:sym typeface="Inter"/>
                </a:rPr>
                <a:t>• USD 5k certified field device</a:t>
              </a:r>
              <a:endParaRPr sz="1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A1628"/>
                  </a:solidFill>
                  <a:latin typeface="Inter"/>
                  <a:ea typeface="Inter"/>
                  <a:cs typeface="Inter"/>
                  <a:sym typeface="Inter"/>
                </a:rPr>
                <a:t>• USD 50–80 user subscription / year</a:t>
              </a:r>
              <a:endParaRPr sz="1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A1628"/>
                  </a:solidFill>
                  <a:latin typeface="Inter"/>
                  <a:ea typeface="Inter"/>
                  <a:cs typeface="Inter"/>
                  <a:sym typeface="Inter"/>
                </a:rPr>
                <a:t>• USD 50–300 per report package</a:t>
              </a:r>
              <a:endParaRPr sz="1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0" name="Google Shape;430;g3e699937637_0_1530"/>
            <p:cNvSpPr/>
            <p:nvPr/>
          </p:nvSpPr>
          <p:spPr>
            <a:xfrm>
              <a:off x="3286125" y="2905125"/>
              <a:ext cx="3048000" cy="26670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g3e699937637_0_1530"/>
            <p:cNvSpPr txBox="1"/>
            <p:nvPr/>
          </p:nvSpPr>
          <p:spPr>
            <a:xfrm>
              <a:off x="3286125" y="2905125"/>
              <a:ext cx="3048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rPr>
                <a:t>SCALING METRICS</a:t>
              </a:r>
              <a:endParaRPr b="1" sz="1100">
                <a:solidFill>
                  <a:srgbClr val="075F5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rPr>
                <a:t>15k+</a:t>
              </a:r>
              <a:endParaRPr b="1" sz="1900">
                <a:solidFill>
                  <a:srgbClr val="075F5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tank terminals in demo</a:t>
              </a:r>
              <a:endParaRPr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4A807C"/>
                  </a:solidFill>
                  <a:latin typeface="Inter"/>
                  <a:ea typeface="Inter"/>
                  <a:cs typeface="Inter"/>
                  <a:sym typeface="Inter"/>
                </a:rPr>
                <a:t>300k+</a:t>
              </a:r>
              <a:endParaRPr b="1" sz="1900">
                <a:solidFill>
                  <a:srgbClr val="4A807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tanks storages</a:t>
              </a:r>
              <a:endParaRPr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E67E22"/>
                  </a:solidFill>
                  <a:latin typeface="Inter"/>
                  <a:ea typeface="Inter"/>
                  <a:cs typeface="Inter"/>
                  <a:sym typeface="Inter"/>
                </a:rPr>
                <a:t>60k+</a:t>
              </a:r>
              <a:endParaRPr b="1" sz="1900">
                <a:solidFill>
                  <a:srgbClr val="E67E2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inspection cycles / year</a:t>
              </a:r>
              <a:endParaRPr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2" name="Google Shape;432;g3e699937637_0_1530"/>
          <p:cNvGrpSpPr/>
          <p:nvPr/>
        </p:nvGrpSpPr>
        <p:grpSpPr>
          <a:xfrm>
            <a:off x="6524625" y="1524000"/>
            <a:ext cx="5048400" cy="4048200"/>
            <a:chOff x="6524625" y="1524000"/>
            <a:chExt cx="5048400" cy="4048200"/>
          </a:xfrm>
        </p:grpSpPr>
        <p:sp>
          <p:nvSpPr>
            <p:cNvPr id="433" name="Google Shape;433;g3e699937637_0_1530"/>
            <p:cNvSpPr/>
            <p:nvPr/>
          </p:nvSpPr>
          <p:spPr>
            <a:xfrm>
              <a:off x="6524625" y="1524000"/>
              <a:ext cx="5048400" cy="4048200"/>
            </a:xfrm>
            <a:prstGeom prst="roundRect">
              <a:avLst>
                <a:gd fmla="val 1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4" name="Google Shape;434;g3e699937637_0_1530"/>
            <p:cNvPicPr preferRelativeResize="0"/>
            <p:nvPr/>
          </p:nvPicPr>
          <p:blipFill rotWithShape="1">
            <a:blip r:embed="rId4">
              <a:alphaModFix/>
            </a:blip>
            <a:srcRect b="0" l="2408" r="2408" t="0"/>
            <a:stretch/>
          </p:blipFill>
          <p:spPr>
            <a:xfrm>
              <a:off x="6715125" y="1714500"/>
              <a:ext cx="4667400" cy="1143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435" name="Google Shape;435;g3e699937637_0_1530"/>
            <p:cNvSpPr txBox="1"/>
            <p:nvPr/>
          </p:nvSpPr>
          <p:spPr>
            <a:xfrm>
              <a:off x="6715125" y="3000375"/>
              <a:ext cx="46674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A1628"/>
                  </a:solidFill>
                  <a:latin typeface="Inter"/>
                  <a:ea typeface="Inter"/>
                  <a:cs typeface="Inter"/>
                  <a:sym typeface="Inter"/>
                </a:rPr>
                <a:t>Expansion Industries</a:t>
              </a:r>
              <a:endParaRPr b="1" sz="1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75F5C"/>
                  </a:solidFill>
                  <a:highlight>
                    <a:srgbClr val="DCEFE9"/>
                  </a:highlight>
                  <a:latin typeface="Inter"/>
                  <a:ea typeface="Inter"/>
                  <a:cs typeface="Inter"/>
                  <a:sym typeface="Inter"/>
                </a:rPr>
                <a:t>Oil &amp; Gas</a:t>
              </a:r>
              <a:r>
                <a:rPr b="1" lang="en-US" sz="11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100">
                  <a:solidFill>
                    <a:srgbClr val="075F5C"/>
                  </a:solidFill>
                  <a:highlight>
                    <a:srgbClr val="DCEFE9"/>
                  </a:highlight>
                  <a:latin typeface="Inter"/>
                  <a:ea typeface="Inter"/>
                  <a:cs typeface="Inter"/>
                  <a:sym typeface="Inter"/>
                </a:rPr>
                <a:t>Chemical</a:t>
              </a:r>
              <a:r>
                <a:rPr b="1" lang="en-US" sz="11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100">
                  <a:solidFill>
                    <a:srgbClr val="075F5C"/>
                  </a:solidFill>
                  <a:highlight>
                    <a:srgbClr val="DCEFE9"/>
                  </a:highlight>
                  <a:latin typeface="Inter"/>
                  <a:ea typeface="Inter"/>
                  <a:cs typeface="Inter"/>
                  <a:sym typeface="Inter"/>
                </a:rPr>
                <a:t>Petrochemical</a:t>
              </a:r>
              <a:endParaRPr b="1" sz="1100">
                <a:solidFill>
                  <a:srgbClr val="075F5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75F5C"/>
                  </a:solidFill>
                  <a:highlight>
                    <a:srgbClr val="DCEFE9"/>
                  </a:highlight>
                  <a:latin typeface="Inter"/>
                  <a:ea typeface="Inter"/>
                  <a:cs typeface="Inter"/>
                  <a:sym typeface="Inter"/>
                </a:rPr>
                <a:t>Power</a:t>
              </a:r>
              <a:r>
                <a:rPr b="1" lang="en-US" sz="11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100">
                  <a:solidFill>
                    <a:srgbClr val="075F5C"/>
                  </a:solidFill>
                  <a:highlight>
                    <a:srgbClr val="DCEFE9"/>
                  </a:highlight>
                  <a:latin typeface="Inter"/>
                  <a:ea typeface="Inter"/>
                  <a:cs typeface="Inter"/>
                  <a:sym typeface="Inter"/>
                </a:rPr>
                <a:t>Mining</a:t>
              </a:r>
              <a:r>
                <a:rPr b="1" lang="en-US" sz="11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100">
                  <a:solidFill>
                    <a:srgbClr val="075F5C"/>
                  </a:solidFill>
                  <a:highlight>
                    <a:srgbClr val="DCEFE9"/>
                  </a:highlight>
                  <a:latin typeface="Inter"/>
                  <a:ea typeface="Inter"/>
                  <a:cs typeface="Inter"/>
                  <a:sym typeface="Inter"/>
                </a:rPr>
                <a:t>Marine</a:t>
              </a:r>
              <a:endParaRPr b="1" sz="1100">
                <a:solidFill>
                  <a:srgbClr val="075F5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75F5C"/>
                  </a:solidFill>
                  <a:highlight>
                    <a:srgbClr val="DCEFE9"/>
                  </a:highlight>
                  <a:latin typeface="Inter"/>
                  <a:ea typeface="Inter"/>
                  <a:cs typeface="Inter"/>
                  <a:sym typeface="Inter"/>
                </a:rPr>
                <a:t>Utilities</a:t>
              </a:r>
              <a:r>
                <a:rPr b="1" lang="en-US" sz="11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100">
                  <a:solidFill>
                    <a:srgbClr val="075F5C"/>
                  </a:solidFill>
                  <a:highlight>
                    <a:srgbClr val="DCEFE9"/>
                  </a:highlight>
                  <a:latin typeface="Inter"/>
                  <a:ea typeface="Inter"/>
                  <a:cs typeface="Inter"/>
                  <a:sym typeface="Inter"/>
                </a:rPr>
                <a:t>Heavy Machinery</a:t>
              </a:r>
              <a:endParaRPr b="1" sz="1100">
                <a:solidFill>
                  <a:srgbClr val="075F5C"/>
                </a:solidFill>
                <a:highlight>
                  <a:srgbClr val="DCEFE9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30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52625E"/>
                  </a:solidFill>
                  <a:latin typeface="Inter"/>
                  <a:ea typeface="Inter"/>
                  <a:cs typeface="Inter"/>
                  <a:sym typeface="Inter"/>
                </a:rPr>
                <a:t>Expansion principle: keep the same structured capture and report spine, then add higher-value intelligence layers.</a:t>
              </a:r>
              <a:endParaRPr i="1" sz="1100">
                <a:solidFill>
                  <a:srgbClr val="52625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laiq_logo.png" id="436" name="Google Shape;436;g3e699937637_0_15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91881" y="6565392"/>
            <a:ext cx="514062" cy="23768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e699937637_0_1530"/>
          <p:cNvSpPr txBox="1"/>
          <p:nvPr/>
        </p:nvSpPr>
        <p:spPr>
          <a:xfrm>
            <a:off x="809625" y="5953125"/>
            <a:ext cx="10858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8B8B4"/>
                </a:solidFill>
                <a:latin typeface="Inter"/>
                <a:ea typeface="Inter"/>
                <a:cs typeface="Inter"/>
                <a:sym typeface="Inter"/>
              </a:rPr>
              <a:t>Market sizing based on device, seat, and report-generation layers.</a:t>
            </a:r>
            <a:endParaRPr b="0" sz="1100">
              <a:solidFill>
                <a:srgbClr val="A8B8B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" name="Google Shape;438;g3e699937637_0_1530"/>
          <p:cNvSpPr/>
          <p:nvPr/>
        </p:nvSpPr>
        <p:spPr>
          <a:xfrm>
            <a:off x="0" y="6565392"/>
            <a:ext cx="12192000" cy="38100"/>
          </a:xfrm>
          <a:prstGeom prst="rect">
            <a:avLst/>
          </a:prstGeom>
          <a:solidFill>
            <a:srgbClr val="8ABB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e699937637_0_1530"/>
          <p:cNvSpPr txBox="1"/>
          <p:nvPr/>
        </p:nvSpPr>
        <p:spPr>
          <a:xfrm>
            <a:off x="161925" y="6610350"/>
            <a:ext cx="54861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8B8B4"/>
                </a:solidFill>
                <a:latin typeface="Inter"/>
                <a:ea typeface="Inter"/>
                <a:cs typeface="Inter"/>
                <a:sym typeface="Inter"/>
              </a:rPr>
              <a:t>S7 · Market Size</a:t>
            </a:r>
            <a:endParaRPr sz="800">
              <a:solidFill>
                <a:srgbClr val="A8B8B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0" name="Google Shape;440;g3e699937637_0_1530"/>
          <p:cNvSpPr txBox="1"/>
          <p:nvPr/>
        </p:nvSpPr>
        <p:spPr>
          <a:xfrm>
            <a:off x="6400800" y="6610350"/>
            <a:ext cx="56007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8B8B4"/>
                </a:solidFill>
                <a:latin typeface="Inter"/>
                <a:ea typeface="Inter"/>
                <a:cs typeface="Inter"/>
                <a:sym typeface="Inter"/>
              </a:rPr>
              <a:t>LAIQ · Confidential</a:t>
            </a:r>
            <a:endParaRPr sz="800">
              <a:solidFill>
                <a:srgbClr val="A8B8B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1" name="Google Shape;441;g3e699937637_0_15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9950" y="1841350"/>
            <a:ext cx="721569" cy="721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g3e699937637_0_15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82075" y="1757350"/>
            <a:ext cx="805549" cy="80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3e699937637_0_15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18200" y="1767025"/>
            <a:ext cx="870182" cy="870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3e699937637_0_15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118975" y="1757350"/>
            <a:ext cx="805549" cy="80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"/>
          <p:cNvSpPr/>
          <p:nvPr/>
        </p:nvSpPr>
        <p:spPr>
          <a:xfrm>
            <a:off x="0" y="0"/>
            <a:ext cx="36210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8"/>
          <p:cNvSpPr/>
          <p:nvPr/>
        </p:nvSpPr>
        <p:spPr>
          <a:xfrm>
            <a:off x="361950" y="0"/>
            <a:ext cx="76200" cy="6858000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8"/>
          <p:cNvSpPr txBox="1"/>
          <p:nvPr/>
        </p:nvSpPr>
        <p:spPr>
          <a:xfrm>
            <a:off x="666750" y="285750"/>
            <a:ext cx="11521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8ABBB6"/>
                </a:solidFill>
                <a:latin typeface="Inter"/>
                <a:ea typeface="Inter"/>
                <a:cs typeface="Inter"/>
                <a:sym typeface="Inter"/>
              </a:rPr>
              <a:t>EXPANSION STRATEGY</a:t>
            </a:r>
            <a:endParaRPr b="1" sz="1000">
              <a:solidFill>
                <a:srgbClr val="8ABBB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Google Shape;452;p8"/>
          <p:cNvSpPr txBox="1"/>
          <p:nvPr/>
        </p:nvSpPr>
        <p:spPr>
          <a:xfrm>
            <a:off x="666750" y="523875"/>
            <a:ext cx="104775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75F5C"/>
                </a:solidFill>
                <a:latin typeface="Inter"/>
                <a:ea typeface="Inter"/>
                <a:cs typeface="Inter"/>
                <a:sym typeface="Inter"/>
              </a:rPr>
              <a:t>From Inspection to Asset Intelligence</a:t>
            </a:r>
            <a:endParaRPr b="1" sz="3200">
              <a:solidFill>
                <a:srgbClr val="075F5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Google Shape;453;p8"/>
          <p:cNvSpPr txBox="1"/>
          <p:nvPr/>
        </p:nvSpPr>
        <p:spPr>
          <a:xfrm>
            <a:off x="666750" y="1095375"/>
            <a:ext cx="10477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52625E"/>
                </a:solidFill>
                <a:latin typeface="Inter"/>
                <a:ea typeface="Inter"/>
                <a:cs typeface="Inter"/>
                <a:sym typeface="Inter"/>
              </a:rPr>
              <a:t>The report is the entry point. The asset knowledge base is the platform.</a:t>
            </a:r>
            <a:endParaRPr b="0" i="1" sz="1400">
              <a:solidFill>
                <a:srgbClr val="5262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666750" y="1619250"/>
            <a:ext cx="11049000" cy="4667400"/>
          </a:xfrm>
          <a:prstGeom prst="roundRect">
            <a:avLst>
              <a:gd fmla="val 244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8"/>
          <p:cNvSpPr txBox="1"/>
          <p:nvPr/>
        </p:nvSpPr>
        <p:spPr>
          <a:xfrm>
            <a:off x="857250" y="1762125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rPr>
              <a:t>Three horizons, one data spine</a:t>
            </a:r>
            <a:endParaRPr b="1" sz="1200">
              <a:solidFill>
                <a:srgbClr val="0A162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56" name="Google Shape;456;p8"/>
          <p:cNvGrpSpPr/>
          <p:nvPr/>
        </p:nvGrpSpPr>
        <p:grpSpPr>
          <a:xfrm>
            <a:off x="857250" y="2143125"/>
            <a:ext cx="3429000" cy="1428900"/>
            <a:chOff x="0" y="0"/>
            <a:chExt cx="3429000" cy="1428900"/>
          </a:xfrm>
        </p:grpSpPr>
        <p:sp>
          <p:nvSpPr>
            <p:cNvPr id="457" name="Google Shape;457;p8"/>
            <p:cNvSpPr/>
            <p:nvPr/>
          </p:nvSpPr>
          <p:spPr>
            <a:xfrm>
              <a:off x="0" y="0"/>
              <a:ext cx="3429000" cy="14289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8"/>
            <p:cNvSpPr/>
            <p:nvPr/>
          </p:nvSpPr>
          <p:spPr>
            <a:xfrm>
              <a:off x="161925" y="161925"/>
              <a:ext cx="342900" cy="342900"/>
            </a:xfrm>
            <a:prstGeom prst="ellipse">
              <a:avLst/>
            </a:prstGeom>
            <a:solidFill>
              <a:srgbClr val="075F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8"/>
            <p:cNvSpPr txBox="1"/>
            <p:nvPr/>
          </p:nvSpPr>
          <p:spPr>
            <a:xfrm>
              <a:off x="161925" y="161925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0" name="Google Shape;460;p8"/>
            <p:cNvSpPr txBox="1"/>
            <p:nvPr/>
          </p:nvSpPr>
          <p:spPr>
            <a:xfrm>
              <a:off x="619125" y="209550"/>
              <a:ext cx="2667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rPr>
                <a:t>Report-ready workflow</a:t>
              </a:r>
              <a:endParaRPr b="1" sz="1200">
                <a:solidFill>
                  <a:srgbClr val="075F5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1" name="Google Shape;461;p8"/>
            <p:cNvSpPr txBox="1"/>
            <p:nvPr/>
          </p:nvSpPr>
          <p:spPr>
            <a:xfrm>
              <a:off x="238125" y="571500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52625E"/>
                  </a:solidFill>
                  <a:latin typeface="Inter"/>
                  <a:ea typeface="Inter"/>
                  <a:cs typeface="Inter"/>
                  <a:sym typeface="Inter"/>
                </a:rPr>
                <a:t>Win the inspection workflow and the report package</a:t>
              </a:r>
              <a:endParaRPr b="0" sz="1000">
                <a:solidFill>
                  <a:srgbClr val="52625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190500" y="1047750"/>
              <a:ext cx="3048000" cy="266700"/>
            </a:xfrm>
            <a:prstGeom prst="roundRect">
              <a:avLst>
                <a:gd fmla="val 14285" name="adj"/>
              </a:avLst>
            </a:prstGeom>
            <a:solidFill>
              <a:srgbClr val="075F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8"/>
            <p:cNvSpPr txBox="1"/>
            <p:nvPr/>
          </p:nvSpPr>
          <p:spPr>
            <a:xfrm>
              <a:off x="190500" y="1047750"/>
              <a:ext cx="3048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Per-device + per-report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64" name="Google Shape;464;p8"/>
          <p:cNvSpPr txBox="1"/>
          <p:nvPr/>
        </p:nvSpPr>
        <p:spPr>
          <a:xfrm>
            <a:off x="4333875" y="2693289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ABBB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1800">
              <a:solidFill>
                <a:srgbClr val="8ABBB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465" name="Google Shape;465;p8"/>
          <p:cNvGrpSpPr/>
          <p:nvPr/>
        </p:nvGrpSpPr>
        <p:grpSpPr>
          <a:xfrm>
            <a:off x="4667250" y="2143125"/>
            <a:ext cx="3429000" cy="1428900"/>
            <a:chOff x="0" y="0"/>
            <a:chExt cx="3429000" cy="1428900"/>
          </a:xfrm>
        </p:grpSpPr>
        <p:sp>
          <p:nvSpPr>
            <p:cNvPr id="466" name="Google Shape;466;p8"/>
            <p:cNvSpPr/>
            <p:nvPr/>
          </p:nvSpPr>
          <p:spPr>
            <a:xfrm>
              <a:off x="0" y="0"/>
              <a:ext cx="3429000" cy="14289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161925" y="161925"/>
              <a:ext cx="342900" cy="342900"/>
            </a:xfrm>
            <a:prstGeom prst="ellipse">
              <a:avLst/>
            </a:prstGeom>
            <a:solidFill>
              <a:srgbClr val="4A80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8"/>
            <p:cNvSpPr txBox="1"/>
            <p:nvPr/>
          </p:nvSpPr>
          <p:spPr>
            <a:xfrm>
              <a:off x="161925" y="161925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9" name="Google Shape;469;p8"/>
            <p:cNvSpPr txBox="1"/>
            <p:nvPr/>
          </p:nvSpPr>
          <p:spPr>
            <a:xfrm>
              <a:off x="619125" y="209550"/>
              <a:ext cx="2667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A807C"/>
                  </a:solidFill>
                  <a:latin typeface="Inter"/>
                  <a:ea typeface="Inter"/>
                  <a:cs typeface="Inter"/>
                  <a:sym typeface="Inter"/>
                </a:rPr>
                <a:t>Structured asset memory</a:t>
              </a:r>
              <a:endParaRPr b="1" sz="1200">
                <a:solidFill>
                  <a:srgbClr val="4A807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0" name="Google Shape;470;p8"/>
            <p:cNvSpPr txBox="1"/>
            <p:nvPr/>
          </p:nvSpPr>
          <p:spPr>
            <a:xfrm>
              <a:off x="238125" y="571500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52625E"/>
                  </a:solidFill>
                  <a:latin typeface="Inter"/>
                  <a:ea typeface="Inter"/>
                  <a:cs typeface="Inter"/>
                  <a:sym typeface="Inter"/>
                </a:rPr>
                <a:t>Accumulate inspection history across tanks and cycles</a:t>
              </a:r>
              <a:endParaRPr b="0" sz="1000">
                <a:solidFill>
                  <a:srgbClr val="52625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1" name="Google Shape;471;p8"/>
            <p:cNvSpPr/>
            <p:nvPr/>
          </p:nvSpPr>
          <p:spPr>
            <a:xfrm>
              <a:off x="190500" y="1047750"/>
              <a:ext cx="3048000" cy="266700"/>
            </a:xfrm>
            <a:prstGeom prst="roundRect">
              <a:avLst>
                <a:gd fmla="val 14285" name="adj"/>
              </a:avLst>
            </a:prstGeom>
            <a:solidFill>
              <a:srgbClr val="4A80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8"/>
            <p:cNvSpPr txBox="1"/>
            <p:nvPr/>
          </p:nvSpPr>
          <p:spPr>
            <a:xfrm>
              <a:off x="190500" y="1047750"/>
              <a:ext cx="3048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Subscription / dashboard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73" name="Google Shape;473;p8"/>
          <p:cNvSpPr txBox="1"/>
          <p:nvPr/>
        </p:nvSpPr>
        <p:spPr>
          <a:xfrm>
            <a:off x="8143875" y="2693289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ABBB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1800">
              <a:solidFill>
                <a:srgbClr val="8ABBB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474" name="Google Shape;474;p8"/>
          <p:cNvGrpSpPr/>
          <p:nvPr/>
        </p:nvGrpSpPr>
        <p:grpSpPr>
          <a:xfrm>
            <a:off x="8477250" y="2143125"/>
            <a:ext cx="2952900" cy="1428900"/>
            <a:chOff x="0" y="0"/>
            <a:chExt cx="2952900" cy="1428900"/>
          </a:xfrm>
        </p:grpSpPr>
        <p:sp>
          <p:nvSpPr>
            <p:cNvPr id="475" name="Google Shape;475;p8"/>
            <p:cNvSpPr/>
            <p:nvPr/>
          </p:nvSpPr>
          <p:spPr>
            <a:xfrm>
              <a:off x="0" y="0"/>
              <a:ext cx="2952900" cy="14289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161925" y="161925"/>
              <a:ext cx="342900" cy="342900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8"/>
            <p:cNvSpPr txBox="1"/>
            <p:nvPr/>
          </p:nvSpPr>
          <p:spPr>
            <a:xfrm>
              <a:off x="161925" y="161925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8" name="Google Shape;478;p8"/>
            <p:cNvSpPr txBox="1"/>
            <p:nvPr/>
          </p:nvSpPr>
          <p:spPr>
            <a:xfrm>
              <a:off x="619125" y="209550"/>
              <a:ext cx="21909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67E22"/>
                  </a:solidFill>
                  <a:latin typeface="Inter"/>
                  <a:ea typeface="Inter"/>
                  <a:cs typeface="Inter"/>
                  <a:sym typeface="Inter"/>
                </a:rPr>
                <a:t>Reliability intelligence</a:t>
              </a:r>
              <a:endParaRPr b="1" sz="1200">
                <a:solidFill>
                  <a:srgbClr val="E67E2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9" name="Google Shape;479;p8"/>
            <p:cNvSpPr txBox="1"/>
            <p:nvPr/>
          </p:nvSpPr>
          <p:spPr>
            <a:xfrm>
              <a:off x="238125" y="571500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52625E"/>
                  </a:solidFill>
                  <a:latin typeface="Inter"/>
                  <a:ea typeface="Inter"/>
                  <a:cs typeface="Inter"/>
                  <a:sym typeface="Inter"/>
                </a:rPr>
                <a:t>Turn history into weak-point and maintenance signals</a:t>
              </a:r>
              <a:endParaRPr b="0" sz="1000">
                <a:solidFill>
                  <a:srgbClr val="52625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190500" y="1047750"/>
              <a:ext cx="2571900" cy="266700"/>
            </a:xfrm>
            <a:prstGeom prst="roundRect">
              <a:avLst>
                <a:gd fmla="val 14285" name="adj"/>
              </a:avLst>
            </a:prstGeom>
            <a:solidFill>
              <a:srgbClr val="E67E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8"/>
            <p:cNvSpPr txBox="1"/>
            <p:nvPr/>
          </p:nvSpPr>
          <p:spPr>
            <a:xfrm>
              <a:off x="190500" y="1047750"/>
              <a:ext cx="2571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Premium enterprise module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2" name="Google Shape;482;p8"/>
          <p:cNvGrpSpPr/>
          <p:nvPr/>
        </p:nvGrpSpPr>
        <p:grpSpPr>
          <a:xfrm>
            <a:off x="857250" y="3810000"/>
            <a:ext cx="10144125" cy="628650"/>
            <a:chOff x="0" y="0"/>
            <a:chExt cx="10144125" cy="628650"/>
          </a:xfrm>
        </p:grpSpPr>
        <p:sp>
          <p:nvSpPr>
            <p:cNvPr id="483" name="Google Shape;483;p8"/>
            <p:cNvSpPr txBox="1"/>
            <p:nvPr/>
          </p:nvSpPr>
          <p:spPr>
            <a:xfrm>
              <a:off x="0" y="0"/>
              <a:ext cx="190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A1628"/>
                  </a:solidFill>
                  <a:latin typeface="Inter"/>
                  <a:ea typeface="Inter"/>
                  <a:cs typeface="Inter"/>
                  <a:sym typeface="Inter"/>
                </a:rPr>
                <a:t>Expansion industries:</a:t>
              </a:r>
              <a:endParaRPr b="1" sz="1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84" name="Google Shape;484;p8"/>
            <p:cNvGrpSpPr/>
            <p:nvPr/>
          </p:nvGrpSpPr>
          <p:grpSpPr>
            <a:xfrm>
              <a:off x="0" y="285750"/>
              <a:ext cx="10144125" cy="342900"/>
              <a:chOff x="0" y="0"/>
              <a:chExt cx="10144125" cy="342900"/>
            </a:xfrm>
          </p:grpSpPr>
          <p:sp>
            <p:nvSpPr>
              <p:cNvPr id="485" name="Google Shape;485;p8"/>
              <p:cNvSpPr/>
              <p:nvPr/>
            </p:nvSpPr>
            <p:spPr>
              <a:xfrm>
                <a:off x="0" y="0"/>
                <a:ext cx="12384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DCEFE9"/>
              </a:solidFill>
              <a:ln cap="flat" cmpd="sng" w="9525">
                <a:solidFill>
                  <a:srgbClr val="8ABBB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8"/>
              <p:cNvSpPr txBox="1"/>
              <p:nvPr/>
            </p:nvSpPr>
            <p:spPr>
              <a:xfrm>
                <a:off x="0" y="0"/>
                <a:ext cx="1238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75F5C"/>
                    </a:solidFill>
                    <a:latin typeface="Inter"/>
                    <a:ea typeface="Inter"/>
                    <a:cs typeface="Inter"/>
                    <a:sym typeface="Inter"/>
                  </a:rPr>
                  <a:t>Oil &amp; Gas</a:t>
                </a:r>
                <a:endParaRPr b="1" sz="10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7" name="Google Shape;487;p8"/>
              <p:cNvSpPr/>
              <p:nvPr/>
            </p:nvSpPr>
            <p:spPr>
              <a:xfrm>
                <a:off x="1381125" y="0"/>
                <a:ext cx="12384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DCEFE9"/>
              </a:solidFill>
              <a:ln cap="flat" cmpd="sng" w="9525">
                <a:solidFill>
                  <a:srgbClr val="8ABBB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8"/>
              <p:cNvSpPr txBox="1"/>
              <p:nvPr/>
            </p:nvSpPr>
            <p:spPr>
              <a:xfrm>
                <a:off x="1381125" y="0"/>
                <a:ext cx="1238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75F5C"/>
                    </a:solidFill>
                    <a:latin typeface="Inter"/>
                    <a:ea typeface="Inter"/>
                    <a:cs typeface="Inter"/>
                    <a:sym typeface="Inter"/>
                  </a:rPr>
                  <a:t>Chemical</a:t>
                </a:r>
                <a:endParaRPr b="1" sz="10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>
                <a:off x="2762250" y="0"/>
                <a:ext cx="13335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DCEFE9"/>
              </a:solidFill>
              <a:ln cap="flat" cmpd="sng" w="9525">
                <a:solidFill>
                  <a:srgbClr val="8ABBB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8"/>
              <p:cNvSpPr txBox="1"/>
              <p:nvPr/>
            </p:nvSpPr>
            <p:spPr>
              <a:xfrm>
                <a:off x="2762250" y="0"/>
                <a:ext cx="1333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75F5C"/>
                    </a:solidFill>
                    <a:latin typeface="Inter"/>
                    <a:ea typeface="Inter"/>
                    <a:cs typeface="Inter"/>
                    <a:sym typeface="Inter"/>
                  </a:rPr>
                  <a:t>Petrochemical</a:t>
                </a:r>
                <a:endParaRPr b="1" sz="10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1" name="Google Shape;491;p8"/>
              <p:cNvSpPr/>
              <p:nvPr/>
            </p:nvSpPr>
            <p:spPr>
              <a:xfrm>
                <a:off x="4238625" y="0"/>
                <a:ext cx="9525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DCEFE9"/>
              </a:solidFill>
              <a:ln cap="flat" cmpd="sng" w="9525">
                <a:solidFill>
                  <a:srgbClr val="8ABBB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8"/>
              <p:cNvSpPr txBox="1"/>
              <p:nvPr/>
            </p:nvSpPr>
            <p:spPr>
              <a:xfrm>
                <a:off x="4238625" y="0"/>
                <a:ext cx="952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75F5C"/>
                    </a:solidFill>
                    <a:latin typeface="Inter"/>
                    <a:ea typeface="Inter"/>
                    <a:cs typeface="Inter"/>
                    <a:sym typeface="Inter"/>
                  </a:rPr>
                  <a:t>Power</a:t>
                </a:r>
                <a:endParaRPr b="1" sz="10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3" name="Google Shape;493;p8"/>
              <p:cNvSpPr/>
              <p:nvPr/>
            </p:nvSpPr>
            <p:spPr>
              <a:xfrm>
                <a:off x="5334000" y="0"/>
                <a:ext cx="9525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DCEFE9"/>
              </a:solidFill>
              <a:ln cap="flat" cmpd="sng" w="9525">
                <a:solidFill>
                  <a:srgbClr val="8ABBB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8"/>
              <p:cNvSpPr txBox="1"/>
              <p:nvPr/>
            </p:nvSpPr>
            <p:spPr>
              <a:xfrm>
                <a:off x="5334000" y="0"/>
                <a:ext cx="952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75F5C"/>
                    </a:solidFill>
                    <a:latin typeface="Inter"/>
                    <a:ea typeface="Inter"/>
                    <a:cs typeface="Inter"/>
                    <a:sym typeface="Inter"/>
                  </a:rPr>
                  <a:t>Mining</a:t>
                </a:r>
                <a:endParaRPr b="1" sz="10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5" name="Google Shape;495;p8"/>
              <p:cNvSpPr/>
              <p:nvPr/>
            </p:nvSpPr>
            <p:spPr>
              <a:xfrm>
                <a:off x="6429375" y="0"/>
                <a:ext cx="9525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DCEFE9"/>
              </a:solidFill>
              <a:ln cap="flat" cmpd="sng" w="9525">
                <a:solidFill>
                  <a:srgbClr val="8ABBB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8"/>
              <p:cNvSpPr txBox="1"/>
              <p:nvPr/>
            </p:nvSpPr>
            <p:spPr>
              <a:xfrm>
                <a:off x="6429375" y="0"/>
                <a:ext cx="952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75F5C"/>
                    </a:solidFill>
                    <a:latin typeface="Inter"/>
                    <a:ea typeface="Inter"/>
                    <a:cs typeface="Inter"/>
                    <a:sym typeface="Inter"/>
                  </a:rPr>
                  <a:t>Marine</a:t>
                </a:r>
                <a:endParaRPr b="1" sz="10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7" name="Google Shape;497;p8"/>
              <p:cNvSpPr/>
              <p:nvPr/>
            </p:nvSpPr>
            <p:spPr>
              <a:xfrm>
                <a:off x="7524750" y="0"/>
                <a:ext cx="9525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DCEFE9"/>
              </a:solidFill>
              <a:ln cap="flat" cmpd="sng" w="9525">
                <a:solidFill>
                  <a:srgbClr val="8ABBB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8"/>
              <p:cNvSpPr txBox="1"/>
              <p:nvPr/>
            </p:nvSpPr>
            <p:spPr>
              <a:xfrm>
                <a:off x="7524750" y="0"/>
                <a:ext cx="952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75F5C"/>
                    </a:solidFill>
                    <a:latin typeface="Inter"/>
                    <a:ea typeface="Inter"/>
                    <a:cs typeface="Inter"/>
                    <a:sym typeface="Inter"/>
                  </a:rPr>
                  <a:t>Utilities</a:t>
                </a:r>
                <a:endParaRPr b="1" sz="10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9" name="Google Shape;499;p8"/>
              <p:cNvSpPr/>
              <p:nvPr/>
            </p:nvSpPr>
            <p:spPr>
              <a:xfrm>
                <a:off x="8620125" y="0"/>
                <a:ext cx="15240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DCEFE9"/>
              </a:solidFill>
              <a:ln cap="flat" cmpd="sng" w="9525">
                <a:solidFill>
                  <a:srgbClr val="8ABBB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8"/>
              <p:cNvSpPr txBox="1"/>
              <p:nvPr/>
            </p:nvSpPr>
            <p:spPr>
              <a:xfrm>
                <a:off x="8620125" y="0"/>
                <a:ext cx="15240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75F5C"/>
                    </a:solidFill>
                    <a:latin typeface="Inter"/>
                    <a:ea typeface="Inter"/>
                    <a:cs typeface="Inter"/>
                    <a:sym typeface="Inter"/>
                  </a:rPr>
                  <a:t>Heavy Machinery</a:t>
                </a:r>
                <a:endParaRPr b="1" sz="1000">
                  <a:solidFill>
                    <a:srgbClr val="075F5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01" name="Google Shape;501;p8"/>
          <p:cNvGrpSpPr/>
          <p:nvPr/>
        </p:nvGrpSpPr>
        <p:grpSpPr>
          <a:xfrm>
            <a:off x="857250" y="4953000"/>
            <a:ext cx="10668000" cy="476400"/>
            <a:chOff x="0" y="0"/>
            <a:chExt cx="10668000" cy="476400"/>
          </a:xfrm>
        </p:grpSpPr>
        <p:sp>
          <p:nvSpPr>
            <p:cNvPr id="502" name="Google Shape;502;p8"/>
            <p:cNvSpPr/>
            <p:nvPr/>
          </p:nvSpPr>
          <p:spPr>
            <a:xfrm>
              <a:off x="0" y="0"/>
              <a:ext cx="10668000" cy="476400"/>
            </a:xfrm>
            <a:prstGeom prst="roundRect">
              <a:avLst>
                <a:gd fmla="val 16000" name="adj"/>
              </a:avLst>
            </a:prstGeom>
            <a:solidFill>
              <a:srgbClr val="0A162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8"/>
            <p:cNvSpPr txBox="1"/>
            <p:nvPr/>
          </p:nvSpPr>
          <p:spPr>
            <a:xfrm>
              <a:off x="190500" y="0"/>
              <a:ext cx="10287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CEFE9"/>
                  </a:solidFill>
                  <a:latin typeface="Inter"/>
                  <a:ea typeface="Inter"/>
                  <a:cs typeface="Inter"/>
                  <a:sym typeface="Inter"/>
                </a:rPr>
                <a:t>Expansion principle: keep the same structured capture and report spine, then add higher-value memory and intelligence layers on top.</a:t>
              </a:r>
              <a:endParaRPr b="1" sz="1200">
                <a:solidFill>
                  <a:srgbClr val="DCEFE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04" name="Google Shape;504;p8"/>
          <p:cNvSpPr txBox="1"/>
          <p:nvPr/>
        </p:nvSpPr>
        <p:spPr>
          <a:xfrm>
            <a:off x="164592" y="6611112"/>
            <a:ext cx="548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S8 · Expansion</a:t>
            </a:r>
            <a:endParaRPr/>
          </a:p>
        </p:txBody>
      </p:sp>
      <p:sp>
        <p:nvSpPr>
          <p:cNvPr id="505" name="Google Shape;505;p8"/>
          <p:cNvSpPr txBox="1"/>
          <p:nvPr/>
        </p:nvSpPr>
        <p:spPr>
          <a:xfrm>
            <a:off x="6400800" y="6611112"/>
            <a:ext cx="56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8B8B4"/>
                </a:solidFill>
                <a:latin typeface="Arial"/>
                <a:ea typeface="Arial"/>
                <a:cs typeface="Arial"/>
                <a:sym typeface="Arial"/>
              </a:rPr>
              <a:t>LAIQ  ·  Confidential</a:t>
            </a:r>
            <a:endParaRPr/>
          </a:p>
        </p:txBody>
      </p:sp>
      <p:pic>
        <p:nvPicPr>
          <p:cNvPr descr="laiq_logo.png" id="506" name="Google Shape;5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91881" y="6565392"/>
            <a:ext cx="514190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