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65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8882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4A8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aiq_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19456"/>
            <a:ext cx="593296" cy="274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109728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DCEFE9"/>
                </a:solidFill>
                <a:latin typeface="Arial" panose="020B0604020202090204"/>
              </a:rPr>
              <a:t>Leave Site with a</a:t>
            </a:r>
            <a:endParaRPr sz="3200" b="0" i="0">
              <a:solidFill>
                <a:srgbClr val="DCEFE9"/>
              </a:solidFill>
              <a:latin typeface="Arial" panose="020B060402020209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6928" y="1536192"/>
            <a:ext cx="7132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Arial" panose="020B0604020202090204"/>
              </a:rPr>
              <a:t>Report-Ready
Inspection Package</a:t>
            </a:r>
            <a:endParaRPr sz="4200" b="1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66928" y="2615184"/>
            <a:ext cx="7132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8B8B4"/>
                </a:solidFill>
                <a:latin typeface="Arial" panose="020B0604020202090204"/>
              </a:rPr>
              <a:t>AI-powered field inspection and asset intelligence · starting with oil &amp; gas</a:t>
            </a:r>
            <a:endParaRPr sz="1150" b="0" i="0">
              <a:solidFill>
                <a:srgbClr val="A8B8B4"/>
              </a:solidFill>
              <a:latin typeface="Arial" panose="020B060402020209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66928" y="2999232"/>
            <a:ext cx="7132320" cy="27432"/>
          </a:xfrm>
          <a:prstGeom prst="rect">
            <a:avLst/>
          </a:prstGeom>
          <a:solidFill>
            <a:srgbClr val="4A8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3108960"/>
            <a:ext cx="1280160" cy="621792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" y="3145536"/>
            <a:ext cx="115214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 panose="020B0604020202090204"/>
              </a:rPr>
              <a:t>Field
Inspection</a:t>
            </a:r>
            <a:endParaRPr sz="850" b="1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856231" y="3218687"/>
            <a:ext cx="25603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A8B8B4"/>
                </a:solidFill>
                <a:latin typeface="Arial" panose="020B0604020202090204"/>
              </a:rPr>
              <a:t>▶</a:t>
            </a:r>
            <a:endParaRPr sz="1300" b="1" i="0">
              <a:solidFill>
                <a:srgbClr val="A8B8B4"/>
              </a:solidFill>
              <a:latin typeface="Arial" panose="020B0604020202090204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956816" y="3108960"/>
            <a:ext cx="1280160" cy="621792"/>
          </a:xfrm>
          <a:prstGeom prst="rect">
            <a:avLst/>
          </a:prstGeom>
          <a:solidFill>
            <a:srgbClr val="4A8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20824" y="3145536"/>
            <a:ext cx="115214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 panose="020B0604020202090204"/>
              </a:rPr>
              <a:t>Structured
Capture</a:t>
            </a:r>
            <a:endParaRPr sz="850" b="1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246120" y="3218687"/>
            <a:ext cx="25603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A8B8B4"/>
                </a:solidFill>
                <a:latin typeface="Arial" panose="020B0604020202090204"/>
              </a:rPr>
              <a:t>▶</a:t>
            </a:r>
            <a:endParaRPr sz="1300" b="1" i="0">
              <a:solidFill>
                <a:srgbClr val="A8B8B4"/>
              </a:solidFill>
              <a:latin typeface="Arial" panose="020B0604020202090204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346704" y="3108960"/>
            <a:ext cx="1280160" cy="62179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10712" y="3145536"/>
            <a:ext cx="115214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 panose="020B0604020202090204"/>
              </a:rPr>
              <a:t>AI Report
Package</a:t>
            </a:r>
            <a:endParaRPr sz="850" b="1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636008" y="3218687"/>
            <a:ext cx="25603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A8B8B4"/>
                </a:solidFill>
                <a:latin typeface="Arial" panose="020B0604020202090204"/>
              </a:rPr>
              <a:t>▶</a:t>
            </a:r>
            <a:endParaRPr sz="1300" b="1" i="0">
              <a:solidFill>
                <a:srgbClr val="A8B8B4"/>
              </a:solidFill>
              <a:latin typeface="Arial" panose="020B06040202020902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736592" y="3108960"/>
            <a:ext cx="1280160" cy="621792"/>
          </a:xfrm>
          <a:prstGeom prst="rect">
            <a:avLst/>
          </a:prstGeom>
          <a:solidFill>
            <a:srgbClr val="4A8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0600" y="3145536"/>
            <a:ext cx="115214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 panose="020B0604020202090204"/>
              </a:rPr>
              <a:t>Asset
Knowledge</a:t>
            </a:r>
            <a:endParaRPr sz="850" b="1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025896" y="3218687"/>
            <a:ext cx="25603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A8B8B4"/>
                </a:solidFill>
                <a:latin typeface="Arial" panose="020B0604020202090204"/>
              </a:rPr>
              <a:t>▶</a:t>
            </a:r>
            <a:endParaRPr sz="1300" b="1" i="0">
              <a:solidFill>
                <a:srgbClr val="A8B8B4"/>
              </a:solidFill>
              <a:latin typeface="Arial" panose="020B0604020202090204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126479" y="3108960"/>
            <a:ext cx="1280160" cy="621792"/>
          </a:xfrm>
          <a:prstGeom prst="rect">
            <a:avLst/>
          </a:prstGeom>
          <a:solidFill>
            <a:srgbClr val="12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90488" y="3145536"/>
            <a:ext cx="115214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 panose="020B0604020202090204"/>
              </a:rPr>
              <a:t>Weak Point /
FMEA Intel</a:t>
            </a:r>
            <a:endParaRPr sz="850" b="1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66928" y="3858768"/>
            <a:ext cx="1517904" cy="256032"/>
          </a:xfrm>
          <a:prstGeom prst="rect">
            <a:avLst/>
          </a:prstGeom>
          <a:solidFill>
            <a:srgbClr val="DCEFE9"/>
          </a:solidFill>
          <a:ln w="6350">
            <a:solidFill>
              <a:srgbClr val="075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877056"/>
            <a:ext cx="13898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75F5C"/>
                </a:solidFill>
                <a:latin typeface="Arial" panose="020B0604020202090204"/>
              </a:rPr>
              <a:t>Beachhead: Oil &amp; Gas</a:t>
            </a:r>
            <a:endParaRPr sz="750" b="1" i="0">
              <a:solidFill>
                <a:srgbClr val="075F5C"/>
              </a:solidFill>
              <a:latin typeface="Arial" panose="020B0604020202090204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2176272" y="3858768"/>
            <a:ext cx="2439619" cy="256032"/>
          </a:xfrm>
          <a:prstGeom prst="rect">
            <a:avLst/>
          </a:prstGeom>
          <a:solidFill>
            <a:srgbClr val="FDF0E0"/>
          </a:solidFill>
          <a:ln w="63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49424" y="3877056"/>
            <a:ext cx="2311603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E67E22"/>
                </a:solidFill>
                <a:latin typeface="Arial" panose="020B0604020202090204"/>
              </a:rPr>
              <a:t>Model: Free Capture + Paid Reports</a:t>
            </a:r>
            <a:endParaRPr sz="750" b="1" i="0">
              <a:solidFill>
                <a:srgbClr val="E67E22"/>
              </a:solidFill>
              <a:latin typeface="Arial" panose="020B0604020202090204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4707331" y="3858768"/>
            <a:ext cx="1978761" cy="256032"/>
          </a:xfrm>
          <a:prstGeom prst="rect">
            <a:avLst/>
          </a:prstGeom>
          <a:solidFill>
            <a:srgbClr val="DCEFE9"/>
          </a:solidFill>
          <a:ln w="6350"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80483" y="3877056"/>
            <a:ext cx="185074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A1628"/>
                </a:solidFill>
                <a:latin typeface="Arial" panose="020B0604020202090204"/>
              </a:rPr>
              <a:t>Hardware: ATEX/IECEx Device</a:t>
            </a:r>
            <a:endParaRPr sz="750" b="1" i="0">
              <a:solidFill>
                <a:srgbClr val="0A1628"/>
              </a:solidFill>
              <a:latin typeface="Arial" panose="020B0604020202090204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777532" y="3858768"/>
            <a:ext cx="1781251" cy="256032"/>
          </a:xfrm>
          <a:prstGeom prst="rect">
            <a:avLst/>
          </a:prstGeom>
          <a:solidFill>
            <a:srgbClr val="DCEFE9"/>
          </a:solidFill>
          <a:ln w="6350">
            <a:solidFill>
              <a:srgbClr val="075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0684" y="3877056"/>
            <a:ext cx="16532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75F5C"/>
                </a:solidFill>
                <a:latin typeface="Arial" panose="020B0604020202090204"/>
              </a:rPr>
              <a:t>Moat: Asset Intelligence</a:t>
            </a:r>
            <a:endParaRPr sz="750" b="1" i="0">
              <a:solidFill>
                <a:srgbClr val="075F5C"/>
              </a:solidFill>
              <a:latin typeface="Arial" panose="020B0604020202090204"/>
            </a:endParaRPr>
          </a:p>
        </p:txBody>
      </p:sp>
      <p:pic>
        <p:nvPicPr>
          <p:cNvPr id="31" name="Picture 30" descr="atex_pda_m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9347" y="2468880"/>
            <a:ext cx="4380361" cy="246888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882127" y="4992624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A8B8B4"/>
                </a:solidFill>
                <a:latin typeface="Arial" panose="020B0604020202090204"/>
              </a:rPr>
              <a:t>ATEX/IECEx certified rugged tablet with LAIQ Field App</a:t>
            </a:r>
            <a:endParaRPr sz="750" b="0" i="1">
              <a:solidFill>
                <a:srgbClr val="A8B8B4"/>
              </a:solidFill>
              <a:latin typeface="Arial" panose="020B0604020202090204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7772400" y="1005840"/>
            <a:ext cx="27432" cy="5486400"/>
          </a:xfrm>
          <a:prstGeom prst="rect">
            <a:avLst/>
          </a:prstGeom>
          <a:solidFill>
            <a:srgbClr val="4A8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6565392"/>
            <a:ext cx="12188952" cy="36576"/>
          </a:xfrm>
          <a:prstGeom prst="rect">
            <a:avLst/>
          </a:prstGeom>
          <a:solidFill>
            <a:srgbClr val="8AB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64592" y="6611112"/>
            <a:ext cx="548640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8B8B4"/>
                </a:solidFill>
                <a:latin typeface="Arial" panose="020B0604020202090204"/>
              </a:rPr>
              <a:t>S1 · Cover</a:t>
            </a:r>
            <a:endParaRPr sz="750" b="0" i="0">
              <a:solidFill>
                <a:srgbClr val="A8B8B4"/>
              </a:solidFill>
              <a:latin typeface="Arial" panose="020B0604020202090204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400800" y="6611112"/>
            <a:ext cx="5605272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A8B8B4"/>
                </a:solidFill>
                <a:latin typeface="Arial" panose="020B0604020202090204"/>
              </a:rPr>
              <a:t>LAIQ  ·  Confidential</a:t>
            </a:r>
            <a:endParaRPr sz="750" b="0" i="0">
              <a:solidFill>
                <a:srgbClr val="A8B8B4"/>
              </a:solidFill>
              <a:latin typeface="Arial" panose="020B0604020202090204"/>
            </a:endParaRPr>
          </a:p>
        </p:txBody>
      </p:sp>
      <p:pic>
        <p:nvPicPr>
          <p:cNvPr id="37" name="Picture 36" descr="laiq_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91881" y="6565392"/>
            <a:ext cx="514190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" y="0"/>
            <a:ext cx="64008" cy="6858000"/>
          </a:xfrm>
          <a:prstGeom prst="rect">
            <a:avLst/>
          </a:prstGeom>
          <a:solidFill>
            <a:srgbClr val="DC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1521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75F5C"/>
                </a:solidFill>
                <a:latin typeface="Arial" panose="020B0604020202090204"/>
              </a:rPr>
              <a:t>PROBLEM + SOLUTION</a:t>
            </a:r>
            <a:endParaRPr sz="850" b="1" i="0">
              <a:solidFill>
                <a:srgbClr val="075F5C"/>
              </a:solidFill>
              <a:latin typeface="Arial" panose="020B060402020209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521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75F5C"/>
                </a:solidFill>
                <a:latin typeface="Arial" panose="020B0604020202090204"/>
              </a:rPr>
              <a:t>Manual Inspection Data Capture Breaks Report Generation</a:t>
            </a:r>
            <a:endParaRPr sz="2600" b="1" i="0">
              <a:solidFill>
                <a:srgbClr val="075F5C"/>
              </a:solidFill>
              <a:latin typeface="Arial" panose="020B060402020209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097280"/>
            <a:ext cx="11521440" cy="36576"/>
          </a:xfrm>
          <a:prstGeom prst="rect">
            <a:avLst/>
          </a:prstGeom>
          <a:solidFill>
            <a:srgbClr val="8AB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70432"/>
            <a:ext cx="11338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2625E"/>
                </a:solidFill>
                <a:latin typeface="Arial" panose="020B0604020202090204"/>
              </a:rPr>
              <a:t>Most tank inspections still move through notebooks, phone photos, spreadsheets, and back-office report assembly. LAIQ replaces that with one structured capture path.</a:t>
            </a:r>
            <a:endParaRPr sz="1050" b="0" i="0">
              <a:solidFill>
                <a:srgbClr val="52625E"/>
              </a:solidFill>
              <a:latin typeface="Arial" panose="020B060402020209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2920" y="1536192"/>
            <a:ext cx="5440680" cy="2907792"/>
          </a:xfrm>
          <a:prstGeom prst="rect">
            <a:avLst/>
          </a:prstGeom>
          <a:solidFill>
            <a:srgbClr val="FFFFFF"/>
          </a:solidFill>
          <a:ln w="11430">
            <a:solidFill>
              <a:srgbClr val="B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737360" y="1353312"/>
            <a:ext cx="1572768" cy="310896"/>
          </a:xfrm>
          <a:prstGeom prst="rect">
            <a:avLst/>
          </a:prstGeom>
          <a:solidFill>
            <a:srgbClr val="B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65376" y="1399032"/>
            <a:ext cx="13167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Arial" panose="020B0604020202090204"/>
              </a:rPr>
              <a:t>TODAY</a:t>
            </a:r>
            <a:endParaRPr sz="1150" b="1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49808" y="1792224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B02020"/>
                </a:solidFill>
                <a:latin typeface="Arial" panose="020B0604020202090204"/>
              </a:rPr>
              <a:t>Current inspection workflow</a:t>
            </a:r>
            <a:endParaRPr sz="950" b="1" i="0">
              <a:solidFill>
                <a:srgbClr val="B02020"/>
              </a:solidFill>
              <a:latin typeface="Arial" panose="020B0604020202090204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77824" y="2066543"/>
            <a:ext cx="822960" cy="603504"/>
          </a:xfrm>
          <a:prstGeom prst="rect">
            <a:avLst/>
          </a:prstGeom>
          <a:solidFill>
            <a:srgbClr val="F4F7F6"/>
          </a:solidFill>
          <a:ln w="508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2724912"/>
            <a:ext cx="6766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30" b="1" i="0">
                <a:solidFill>
                  <a:srgbClr val="17201E"/>
                </a:solidFill>
                <a:latin typeface="Arial" panose="020B0604020202090204"/>
              </a:rPr>
              <a:t>Field
Notes</a:t>
            </a:r>
            <a:endParaRPr sz="930" b="1" i="0">
              <a:solidFill>
                <a:srgbClr val="17201E"/>
              </a:solidFill>
              <a:latin typeface="Arial" panose="020B060402020209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755648" y="2267712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B02020"/>
                </a:solidFill>
                <a:latin typeface="Arial" panose="020B0604020202090204"/>
              </a:rPr>
              <a:t>▶</a:t>
            </a:r>
            <a:endParaRPr sz="1800" b="1" i="0">
              <a:solidFill>
                <a:srgbClr val="B02020"/>
              </a:solidFill>
              <a:latin typeface="Arial" panose="020B0604020202090204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048256" y="2066543"/>
            <a:ext cx="822960" cy="603504"/>
          </a:xfrm>
          <a:prstGeom prst="rect">
            <a:avLst/>
          </a:prstGeom>
          <a:solidFill>
            <a:srgbClr val="F4F7F6"/>
          </a:solidFill>
          <a:ln w="508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21408" y="2724912"/>
            <a:ext cx="6766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30" b="1" i="0">
                <a:solidFill>
                  <a:srgbClr val="17201E"/>
                </a:solidFill>
                <a:latin typeface="Arial" panose="020B0604020202090204"/>
              </a:rPr>
              <a:t>Excel
Entry</a:t>
            </a:r>
            <a:endParaRPr sz="930" b="1" i="0">
              <a:solidFill>
                <a:srgbClr val="17201E"/>
              </a:solidFill>
              <a:latin typeface="Arial" panose="020B060402020209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926080" y="2267712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B02020"/>
                </a:solidFill>
                <a:latin typeface="Arial" panose="020B0604020202090204"/>
              </a:rPr>
              <a:t>▶</a:t>
            </a:r>
            <a:endParaRPr sz="1800" b="1" i="0">
              <a:solidFill>
                <a:srgbClr val="B02020"/>
              </a:solidFill>
              <a:latin typeface="Arial" panose="020B06040202020902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218688" y="2066543"/>
            <a:ext cx="822960" cy="603504"/>
          </a:xfrm>
          <a:prstGeom prst="rect">
            <a:avLst/>
          </a:prstGeom>
          <a:solidFill>
            <a:srgbClr val="F4F7F6"/>
          </a:solidFill>
          <a:ln w="508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91840" y="2724912"/>
            <a:ext cx="6766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30" b="1" i="0">
                <a:solidFill>
                  <a:srgbClr val="17201E"/>
                </a:solidFill>
                <a:latin typeface="Arial" panose="020B0604020202090204"/>
              </a:rPr>
              <a:t>Photo
Folder</a:t>
            </a:r>
            <a:endParaRPr sz="930" b="1" i="0">
              <a:solidFill>
                <a:srgbClr val="17201E"/>
              </a:solidFill>
              <a:latin typeface="Arial" panose="020B060402020209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096512" y="2267712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B02020"/>
                </a:solidFill>
                <a:latin typeface="Arial" panose="020B0604020202090204"/>
              </a:rPr>
              <a:t>▶</a:t>
            </a:r>
            <a:endParaRPr sz="1800" b="1" i="0">
              <a:solidFill>
                <a:srgbClr val="B02020"/>
              </a:solidFill>
              <a:latin typeface="Arial" panose="020B0604020202090204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389120" y="2066543"/>
            <a:ext cx="822960" cy="603504"/>
          </a:xfrm>
          <a:prstGeom prst="rect">
            <a:avLst/>
          </a:prstGeom>
          <a:solidFill>
            <a:srgbClr val="F4F7F6"/>
          </a:solidFill>
          <a:ln w="508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62272" y="2724912"/>
            <a:ext cx="6766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30" b="1" i="0">
                <a:solidFill>
                  <a:srgbClr val="17201E"/>
                </a:solidFill>
                <a:latin typeface="Arial" panose="020B0604020202090204"/>
              </a:rPr>
              <a:t>Manual
Report</a:t>
            </a:r>
            <a:endParaRPr sz="930" b="1" i="0">
              <a:solidFill>
                <a:srgbClr val="17201E"/>
              </a:solidFill>
              <a:latin typeface="Arial" panose="020B0604020202090204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097280" y="2212848"/>
            <a:ext cx="237744" cy="310896"/>
          </a:xfrm>
          <a:prstGeom prst="rect">
            <a:avLst/>
          </a:prstGeom>
          <a:solidFill>
            <a:srgbClr val="FFFFFF"/>
          </a:solidFill>
          <a:ln w="10160">
            <a:solidFill>
              <a:srgbClr val="607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33856" y="2286000"/>
            <a:ext cx="146304" cy="9144"/>
          </a:xfrm>
          <a:prstGeom prst="rect">
            <a:avLst/>
          </a:prstGeom>
          <a:solidFill>
            <a:srgbClr val="60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33856" y="2359152"/>
            <a:ext cx="146304" cy="9144"/>
          </a:xfrm>
          <a:prstGeom prst="rect">
            <a:avLst/>
          </a:prstGeom>
          <a:solidFill>
            <a:srgbClr val="60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33856" y="2432304"/>
            <a:ext cx="146304" cy="9144"/>
          </a:xfrm>
          <a:prstGeom prst="rect">
            <a:avLst/>
          </a:prstGeom>
          <a:solidFill>
            <a:srgbClr val="60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31136" y="2194560"/>
            <a:ext cx="292608" cy="329184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267712" y="2276856"/>
            <a:ext cx="9144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 panose="020B0604020202090204"/>
              </a:rPr>
              <a:t>X</a:t>
            </a:r>
            <a:endParaRPr sz="1300" b="1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3383280" y="2249424"/>
            <a:ext cx="347472" cy="219456"/>
          </a:xfrm>
          <a:prstGeom prst="rect">
            <a:avLst/>
          </a:prstGeom>
          <a:solidFill>
            <a:srgbClr val="60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438144" y="2176272"/>
            <a:ext cx="128016" cy="91440"/>
          </a:xfrm>
          <a:prstGeom prst="rect">
            <a:avLst/>
          </a:prstGeom>
          <a:solidFill>
            <a:srgbClr val="60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608576" y="2194560"/>
            <a:ext cx="219456" cy="310896"/>
          </a:xfrm>
          <a:prstGeom prst="rect">
            <a:avLst/>
          </a:prstGeom>
          <a:solidFill>
            <a:srgbClr val="FFFFFF"/>
          </a:solidFill>
          <a:ln w="10160">
            <a:solidFill>
              <a:srgbClr val="607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654296" y="2286000"/>
            <a:ext cx="128016" cy="9144"/>
          </a:xfrm>
          <a:prstGeom prst="rect">
            <a:avLst/>
          </a:prstGeom>
          <a:solidFill>
            <a:srgbClr val="60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654296" y="2359152"/>
            <a:ext cx="128016" cy="9144"/>
          </a:xfrm>
          <a:prstGeom prst="rect">
            <a:avLst/>
          </a:prstGeom>
          <a:solidFill>
            <a:srgbClr val="60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654296" y="2432304"/>
            <a:ext cx="128016" cy="9144"/>
          </a:xfrm>
          <a:prstGeom prst="rect">
            <a:avLst/>
          </a:prstGeom>
          <a:solidFill>
            <a:srgbClr val="60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49808" y="3163824"/>
            <a:ext cx="4937760" cy="18288"/>
          </a:xfrm>
          <a:prstGeom prst="rect">
            <a:avLst/>
          </a:prstGeom>
          <a:solidFill>
            <a:srgbClr val="8AB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8" y="3346704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0" b="0" i="0">
                <a:solidFill>
                  <a:srgbClr val="B02020"/>
                </a:solidFill>
                <a:latin typeface="Arial" panose="020B0604020202090204"/>
              </a:rPr>
              <a:t>▸  Duplicate entry: field notes are typed again in the office</a:t>
            </a:r>
            <a:endParaRPr sz="860" b="0" i="0">
              <a:solidFill>
                <a:srgbClr val="B02020"/>
              </a:solidFill>
              <a:latin typeface="Arial" panose="020B0604020202090204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41248" y="3621024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0" b="0" i="0">
                <a:solidFill>
                  <a:srgbClr val="B02020"/>
                </a:solidFill>
                <a:latin typeface="Arial" panose="020B0604020202090204"/>
              </a:rPr>
              <a:t>▸  Broken evidence chain: photos and findings live outside the UT record</a:t>
            </a:r>
            <a:endParaRPr sz="860" b="0" i="0">
              <a:solidFill>
                <a:srgbClr val="B02020"/>
              </a:solidFill>
              <a:latin typeface="Arial" panose="020B0604020202090204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41248" y="3895344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0" b="0" i="0">
                <a:solidFill>
                  <a:srgbClr val="B02020"/>
                </a:solidFill>
                <a:latin typeface="Arial" panose="020B0604020202090204"/>
              </a:rPr>
              <a:t>▸  Weak traceability: location is reconstructed later from memory</a:t>
            </a:r>
            <a:endParaRPr sz="860" b="0" i="0">
              <a:solidFill>
                <a:srgbClr val="B02020"/>
              </a:solidFill>
              <a:latin typeface="Arial" panose="020B0604020202090204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41248" y="4169664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0" b="0" i="0">
                <a:solidFill>
                  <a:srgbClr val="B02020"/>
                </a:solidFill>
                <a:latin typeface="Arial" panose="020B0604020202090204"/>
              </a:rPr>
              <a:t>▸  Slow turnaround: report assembly starts after the site visit ends</a:t>
            </a:r>
            <a:endParaRPr sz="860" b="0" i="0">
              <a:solidFill>
                <a:srgbClr val="B02020"/>
              </a:solidFill>
              <a:latin typeface="Arial" panose="020B0604020202090204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6236208" y="1536192"/>
            <a:ext cx="5806440" cy="2907792"/>
          </a:xfrm>
          <a:prstGeom prst="rect">
            <a:avLst/>
          </a:prstGeom>
          <a:solidFill>
            <a:srgbClr val="FFFFFF"/>
          </a:solidFill>
          <a:ln w="11430">
            <a:solidFill>
              <a:srgbClr val="62B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156448" y="1353312"/>
            <a:ext cx="1938528" cy="310896"/>
          </a:xfrm>
          <a:prstGeom prst="rect">
            <a:avLst/>
          </a:prstGeom>
          <a:solidFill>
            <a:srgbClr val="62B4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21040" y="1399032"/>
            <a:ext cx="16093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Arial" panose="020B0604020202090204"/>
              </a:rPr>
              <a:t>WITH LAIQ</a:t>
            </a:r>
            <a:endParaRPr sz="1150" b="1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492240" y="1792224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75F5C"/>
                </a:solidFill>
                <a:latin typeface="Arial" panose="020B0604020202090204"/>
              </a:rPr>
              <a:t>Structured capture to report-ready package</a:t>
            </a:r>
            <a:endParaRPr sz="950" b="1" i="0">
              <a:solidFill>
                <a:srgbClr val="075F5C"/>
              </a:solidFill>
              <a:latin typeface="Arial" panose="020B0604020202090204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6510528" y="2066543"/>
            <a:ext cx="969264" cy="603504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83680" y="2157984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30" b="1" i="0">
                <a:solidFill>
                  <a:srgbClr val="FFFFFF"/>
                </a:solidFill>
                <a:latin typeface="Arial" panose="020B0604020202090204"/>
              </a:rPr>
              <a:t>Guided
Capture</a:t>
            </a:r>
            <a:endParaRPr sz="930" b="1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7516368" y="2267712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2B462"/>
                </a:solidFill>
                <a:latin typeface="Arial" panose="020B0604020202090204"/>
              </a:rPr>
              <a:t>▶</a:t>
            </a:r>
            <a:endParaRPr sz="1800" b="1" i="0">
              <a:solidFill>
                <a:srgbClr val="62B462"/>
              </a:solidFill>
              <a:latin typeface="Arial" panose="020B0604020202090204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7882127" y="2066543"/>
            <a:ext cx="969264" cy="603504"/>
          </a:xfrm>
          <a:prstGeom prst="rect">
            <a:avLst/>
          </a:prstGeom>
          <a:solidFill>
            <a:srgbClr val="4A8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955279" y="2157984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30" b="1" i="0">
                <a:solidFill>
                  <a:srgbClr val="FFFFFF"/>
                </a:solidFill>
                <a:latin typeface="Arial" panose="020B0604020202090204"/>
              </a:rPr>
              <a:t>Structured
Record</a:t>
            </a:r>
            <a:endParaRPr sz="930" b="1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8887967" y="2267712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2B462"/>
                </a:solidFill>
                <a:latin typeface="Arial" panose="020B0604020202090204"/>
              </a:rPr>
              <a:t>▶</a:t>
            </a:r>
            <a:endParaRPr sz="1800" b="1" i="0">
              <a:solidFill>
                <a:srgbClr val="62B462"/>
              </a:solidFill>
              <a:latin typeface="Arial" panose="020B0604020202090204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9253728" y="2066543"/>
            <a:ext cx="969264" cy="60350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326880" y="2157984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30" b="1" i="0">
                <a:solidFill>
                  <a:srgbClr val="FFFFFF"/>
                </a:solidFill>
                <a:latin typeface="Arial" panose="020B0604020202090204"/>
              </a:rPr>
              <a:t>AI Report
Package</a:t>
            </a:r>
            <a:endParaRPr sz="930" b="1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10259567" y="2267712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2B462"/>
                </a:solidFill>
                <a:latin typeface="Arial" panose="020B0604020202090204"/>
              </a:rPr>
              <a:t>▶</a:t>
            </a:r>
            <a:endParaRPr sz="1800" b="1" i="0">
              <a:solidFill>
                <a:srgbClr val="62B462"/>
              </a:solidFill>
              <a:latin typeface="Arial" panose="020B0604020202090204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10625328" y="2066543"/>
            <a:ext cx="969264" cy="60350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698480" y="2157984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30" b="1" i="0">
                <a:solidFill>
                  <a:srgbClr val="FFFFFF"/>
                </a:solidFill>
                <a:latin typeface="Arial" panose="020B0604020202090204"/>
              </a:rPr>
              <a:t>Asset
History</a:t>
            </a:r>
            <a:endParaRPr sz="930" b="1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6492240" y="3163824"/>
            <a:ext cx="5230368" cy="18288"/>
          </a:xfrm>
          <a:prstGeom prst="rect">
            <a:avLst/>
          </a:prstGeom>
          <a:solidFill>
            <a:srgbClr val="8AB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565392" y="3346704"/>
            <a:ext cx="50109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0" b="0" i="0">
                <a:solidFill>
                  <a:srgbClr val="2E7D32"/>
                </a:solidFill>
                <a:latin typeface="Arial" panose="020B0604020202090204"/>
              </a:rPr>
              <a:t>▸  One-time capture: measurements, findings, and photos stay in one record</a:t>
            </a:r>
            <a:endParaRPr sz="860" b="0" i="0">
              <a:solidFill>
                <a:srgbClr val="2E7D32"/>
              </a:solidFill>
              <a:latin typeface="Arial" panose="020B0604020202090204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6565392" y="3621024"/>
            <a:ext cx="50109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0" b="0" i="0">
                <a:solidFill>
                  <a:srgbClr val="2E7D32"/>
                </a:solidFill>
                <a:latin typeface="Arial" panose="020B0604020202090204"/>
              </a:rPr>
              <a:t>▸  Structured evidence: shell, roof, nozzle, and MFL context stay linked</a:t>
            </a:r>
            <a:endParaRPr sz="860" b="0" i="0">
              <a:solidFill>
                <a:srgbClr val="2E7D32"/>
              </a:solidFill>
              <a:latin typeface="Arial" panose="020B0604020202090204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6565392" y="3895344"/>
            <a:ext cx="50109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0" b="0" i="0">
                <a:solidFill>
                  <a:srgbClr val="2E7D32"/>
                </a:solidFill>
                <a:latin typeface="Arial" panose="020B0604020202090204"/>
              </a:rPr>
              <a:t>▸  Faster report draft: AI assembles tables and evidence from the same record</a:t>
            </a:r>
            <a:endParaRPr sz="860" b="0" i="0">
              <a:solidFill>
                <a:srgbClr val="2E7D32"/>
              </a:solidFill>
              <a:latin typeface="Arial" panose="020B0604020202090204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6565392" y="4169664"/>
            <a:ext cx="50109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0" b="0" i="0">
                <a:solidFill>
                  <a:srgbClr val="2E7D32"/>
                </a:solidFill>
                <a:latin typeface="Arial" panose="020B0604020202090204"/>
              </a:rPr>
              <a:t>▸  Asset history: every finished job becomes reusable inspection memory</a:t>
            </a:r>
            <a:endParaRPr sz="860" b="0" i="0">
              <a:solidFill>
                <a:srgbClr val="2E7D32"/>
              </a:solidFill>
              <a:latin typeface="Arial" panose="020B0604020202090204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3611880" y="4553712"/>
            <a:ext cx="53035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785615" y="4608576"/>
            <a:ext cx="49560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17201E"/>
                </a:solidFill>
                <a:latin typeface="Arial" panose="020B0604020202090204"/>
              </a:rPr>
              <a:t>INSPECTION PACKAGE OUTPUT</a:t>
            </a:r>
            <a:endParaRPr sz="1150" b="1" i="0">
              <a:solidFill>
                <a:srgbClr val="17201E"/>
              </a:solidFill>
              <a:latin typeface="Arial" panose="020B0604020202090204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694944" y="4828032"/>
            <a:ext cx="2724912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94944" y="4828032"/>
            <a:ext cx="2724912" cy="182880"/>
          </a:xfrm>
          <a:prstGeom prst="rect">
            <a:avLst/>
          </a:prstGeom>
          <a:solidFill>
            <a:srgbClr val="60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86384" y="4873752"/>
            <a:ext cx="254203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20" b="1" i="0">
                <a:solidFill>
                  <a:srgbClr val="FFFFFF"/>
                </a:solidFill>
                <a:latin typeface="Arial" panose="020B0604020202090204"/>
              </a:rPr>
              <a:t>UT Tables</a:t>
            </a:r>
            <a:endParaRPr sz="920" b="1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822960" y="5102352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7201E"/>
                </a:solidFill>
                <a:latin typeface="Arial" panose="020B0604020202090204"/>
              </a:rPr>
              <a:t>Shell · Roof · Nozzle</a:t>
            </a:r>
            <a:endParaRPr sz="850" b="0" i="0">
              <a:solidFill>
                <a:srgbClr val="17201E"/>
              </a:solidFill>
              <a:latin typeface="Arial" panose="020B0604020202090204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2542032" y="5065776"/>
            <a:ext cx="676656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607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2542032" y="5170932"/>
            <a:ext cx="676656" cy="9144"/>
          </a:xfrm>
          <a:prstGeom prst="rect">
            <a:avLst/>
          </a:prstGeom>
          <a:solidFill>
            <a:srgbClr val="60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2711196" y="5065776"/>
            <a:ext cx="9144" cy="420624"/>
          </a:xfrm>
          <a:prstGeom prst="rect">
            <a:avLst/>
          </a:prstGeom>
          <a:solidFill>
            <a:srgbClr val="60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542032" y="5276088"/>
            <a:ext cx="676656" cy="9144"/>
          </a:xfrm>
          <a:prstGeom prst="rect">
            <a:avLst/>
          </a:prstGeom>
          <a:solidFill>
            <a:srgbClr val="60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2880360" y="5065776"/>
            <a:ext cx="9144" cy="420624"/>
          </a:xfrm>
          <a:prstGeom prst="rect">
            <a:avLst/>
          </a:prstGeom>
          <a:solidFill>
            <a:srgbClr val="60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2542032" y="5381244"/>
            <a:ext cx="676656" cy="9144"/>
          </a:xfrm>
          <a:prstGeom prst="rect">
            <a:avLst/>
          </a:prstGeom>
          <a:solidFill>
            <a:srgbClr val="60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3049524" y="5065776"/>
            <a:ext cx="9144" cy="420624"/>
          </a:xfrm>
          <a:prstGeom prst="rect">
            <a:avLst/>
          </a:prstGeom>
          <a:solidFill>
            <a:srgbClr val="60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3566160" y="4828032"/>
            <a:ext cx="2724912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3566160" y="4828032"/>
            <a:ext cx="2724912" cy="182880"/>
          </a:xfrm>
          <a:prstGeom prst="rect">
            <a:avLst/>
          </a:prstGeom>
          <a:solidFill>
            <a:srgbClr val="60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657600" y="4873752"/>
            <a:ext cx="254203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20" b="1" i="0">
                <a:solidFill>
                  <a:srgbClr val="FFFFFF"/>
                </a:solidFill>
                <a:latin typeface="Arial" panose="020B0604020202090204"/>
              </a:rPr>
              <a:t>Findings Register</a:t>
            </a:r>
            <a:endParaRPr sz="920" b="1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3694176" y="5102352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7201E"/>
                </a:solidFill>
                <a:latin typeface="Arial" panose="020B0604020202090204"/>
              </a:rPr>
              <a:t>Severity · note · measurement</a:t>
            </a:r>
            <a:endParaRPr sz="850" b="0" i="0">
              <a:solidFill>
                <a:srgbClr val="17201E"/>
              </a:solidFill>
              <a:latin typeface="Arial" panose="020B0604020202090204"/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5504688" y="5065776"/>
            <a:ext cx="457200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607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5559552" y="5129784"/>
            <a:ext cx="36576" cy="36576"/>
          </a:xfrm>
          <a:prstGeom prst="ellipse">
            <a:avLst/>
          </a:prstGeom>
          <a:solidFill>
            <a:srgbClr val="B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5650992" y="5138928"/>
            <a:ext cx="182880" cy="9144"/>
          </a:xfrm>
          <a:prstGeom prst="rect">
            <a:avLst/>
          </a:prstGeom>
          <a:solidFill>
            <a:srgbClr val="60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5559552" y="5230368"/>
            <a:ext cx="36576" cy="36576"/>
          </a:xfrm>
          <a:prstGeom prst="ellipse">
            <a:avLst/>
          </a:prstGeom>
          <a:solidFill>
            <a:srgbClr val="B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5650992" y="5239512"/>
            <a:ext cx="182880" cy="9144"/>
          </a:xfrm>
          <a:prstGeom prst="rect">
            <a:avLst/>
          </a:prstGeom>
          <a:solidFill>
            <a:srgbClr val="60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5559552" y="5330952"/>
            <a:ext cx="36576" cy="36576"/>
          </a:xfrm>
          <a:prstGeom prst="ellipse">
            <a:avLst/>
          </a:prstGeom>
          <a:solidFill>
            <a:srgbClr val="B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5650992" y="5340096"/>
            <a:ext cx="182880" cy="9144"/>
          </a:xfrm>
          <a:prstGeom prst="rect">
            <a:avLst/>
          </a:prstGeom>
          <a:solidFill>
            <a:srgbClr val="60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437376" y="4828032"/>
            <a:ext cx="2724912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437376" y="4828032"/>
            <a:ext cx="2724912" cy="182880"/>
          </a:xfrm>
          <a:prstGeom prst="rect">
            <a:avLst/>
          </a:prstGeom>
          <a:solidFill>
            <a:srgbClr val="60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528816" y="4873752"/>
            <a:ext cx="254203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20" b="1" i="0">
                <a:solidFill>
                  <a:srgbClr val="FFFFFF"/>
                </a:solidFill>
                <a:latin typeface="Arial" panose="020B0604020202090204"/>
              </a:rPr>
              <a:t>Linked Evidence</a:t>
            </a:r>
            <a:endParaRPr sz="920" b="1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6565392" y="5102352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7201E"/>
                </a:solidFill>
                <a:latin typeface="Arial" panose="020B0604020202090204"/>
              </a:rPr>
              <a:t>Photo → task → finding</a:t>
            </a:r>
            <a:endParaRPr sz="850" b="0" i="0">
              <a:solidFill>
                <a:srgbClr val="17201E"/>
              </a:solidFill>
              <a:latin typeface="Arial" panose="020B0604020202090204"/>
            </a:endParaRPr>
          </a:p>
        </p:txBody>
      </p:sp>
      <p:sp>
        <p:nvSpPr>
          <p:cNvPr id="88" name="Rectangle 87"/>
          <p:cNvSpPr/>
          <p:nvPr/>
        </p:nvSpPr>
        <p:spPr>
          <a:xfrm>
            <a:off x="8266176" y="5084064"/>
            <a:ext cx="237744" cy="310896"/>
          </a:xfrm>
          <a:prstGeom prst="rect">
            <a:avLst/>
          </a:prstGeom>
          <a:solidFill>
            <a:srgbClr val="FFFFFF"/>
          </a:solidFill>
          <a:ln w="10160">
            <a:solidFill>
              <a:srgbClr val="607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577072" y="5157216"/>
            <a:ext cx="237744" cy="310896"/>
          </a:xfrm>
          <a:prstGeom prst="rect">
            <a:avLst/>
          </a:prstGeom>
          <a:solidFill>
            <a:srgbClr val="FFFFFF"/>
          </a:solidFill>
          <a:ln w="10160">
            <a:solidFill>
              <a:srgbClr val="607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8430768" y="5212080"/>
            <a:ext cx="146304" cy="7315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9308592" y="4828032"/>
            <a:ext cx="2724912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9308592" y="4828032"/>
            <a:ext cx="2724912" cy="182880"/>
          </a:xfrm>
          <a:prstGeom prst="rect">
            <a:avLst/>
          </a:prstGeom>
          <a:solidFill>
            <a:srgbClr val="60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400032" y="4873752"/>
            <a:ext cx="254203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20" b="1" i="0">
                <a:solidFill>
                  <a:srgbClr val="FFFFFF"/>
                </a:solidFill>
                <a:latin typeface="Arial" panose="020B0604020202090204"/>
              </a:rPr>
              <a:t>Report Package</a:t>
            </a:r>
            <a:endParaRPr sz="920" b="1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9436608" y="5102352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7201E"/>
                </a:solidFill>
                <a:latin typeface="Arial" panose="020B0604020202090204"/>
              </a:rPr>
              <a:t>Structured export + draft</a:t>
            </a:r>
            <a:endParaRPr sz="850" b="0" i="0">
              <a:solidFill>
                <a:srgbClr val="17201E"/>
              </a:solidFill>
              <a:latin typeface="Arial" panose="020B0604020202090204"/>
            </a:endParaRPr>
          </a:p>
        </p:txBody>
      </p:sp>
      <p:sp>
        <p:nvSpPr>
          <p:cNvPr id="95" name="Rectangle 94"/>
          <p:cNvSpPr/>
          <p:nvPr/>
        </p:nvSpPr>
        <p:spPr>
          <a:xfrm>
            <a:off x="11173968" y="5047488"/>
            <a:ext cx="347472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607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1228832" y="5157216"/>
            <a:ext cx="201168" cy="9144"/>
          </a:xfrm>
          <a:prstGeom prst="rect">
            <a:avLst/>
          </a:prstGeom>
          <a:solidFill>
            <a:srgbClr val="60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1228832" y="5248656"/>
            <a:ext cx="201168" cy="9144"/>
          </a:xfrm>
          <a:prstGeom prst="rect">
            <a:avLst/>
          </a:prstGeom>
          <a:solidFill>
            <a:srgbClr val="60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1228832" y="5340096"/>
            <a:ext cx="201168" cy="9144"/>
          </a:xfrm>
          <a:prstGeom prst="rect">
            <a:avLst/>
          </a:prstGeom>
          <a:solidFill>
            <a:srgbClr val="60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1393424" y="5047488"/>
            <a:ext cx="128016" cy="128016"/>
          </a:xfrm>
          <a:prstGeom prst="rect">
            <a:avLst/>
          </a:prstGeom>
          <a:solidFill>
            <a:srgbClr val="FFFFFF"/>
          </a:solidFill>
          <a:ln w="10160">
            <a:solidFill>
              <a:srgbClr val="607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502920" y="5998464"/>
            <a:ext cx="11539728" cy="438912"/>
          </a:xfrm>
          <a:prstGeom prst="rect">
            <a:avLst/>
          </a:prstGeom>
          <a:solidFill>
            <a:srgbClr val="DCEFE9"/>
          </a:solidFill>
          <a:ln w="635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49808" y="6108192"/>
            <a:ext cx="11018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075F5C"/>
                </a:solidFill>
                <a:latin typeface="Arial" panose="020B0604020202090204"/>
              </a:rPr>
              <a:t>The value is not the form. The value is a structured inspection record that becomes a report-ready package.</a:t>
            </a:r>
            <a:endParaRPr sz="1150" b="1" i="0">
              <a:solidFill>
                <a:srgbClr val="075F5C"/>
              </a:solidFill>
              <a:latin typeface="Arial" panose="020B0604020202090204"/>
            </a:endParaRPr>
          </a:p>
        </p:txBody>
      </p:sp>
      <p:sp>
        <p:nvSpPr>
          <p:cNvPr id="102" name="Rectangle 101"/>
          <p:cNvSpPr/>
          <p:nvPr/>
        </p:nvSpPr>
        <p:spPr>
          <a:xfrm>
            <a:off x="0" y="6565392"/>
            <a:ext cx="12188952" cy="36576"/>
          </a:xfrm>
          <a:prstGeom prst="rect">
            <a:avLst/>
          </a:prstGeom>
          <a:solidFill>
            <a:srgbClr val="8AB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64592" y="6611112"/>
            <a:ext cx="548640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8B8B4"/>
                </a:solidFill>
                <a:latin typeface="Arial" panose="020B0604020202090204"/>
              </a:rPr>
              <a:t>S2 · Pain vs LAIQ</a:t>
            </a:r>
            <a:endParaRPr sz="750" b="0" i="0">
              <a:solidFill>
                <a:srgbClr val="A8B8B4"/>
              </a:solidFill>
              <a:latin typeface="Arial" panose="020B0604020202090204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6400800" y="6611112"/>
            <a:ext cx="5605272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A8B8B4"/>
                </a:solidFill>
                <a:latin typeface="Arial" panose="020B0604020202090204"/>
              </a:rPr>
              <a:t>LAIQ  ·  Confidential</a:t>
            </a:r>
            <a:endParaRPr sz="750" b="0" i="0">
              <a:solidFill>
                <a:srgbClr val="A8B8B4"/>
              </a:solidFill>
              <a:latin typeface="Arial" panose="020B0604020202090204"/>
            </a:endParaRPr>
          </a:p>
        </p:txBody>
      </p:sp>
      <p:pic>
        <p:nvPicPr>
          <p:cNvPr id="105" name="Picture 104" descr="laiq_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91881" y="6565392"/>
            <a:ext cx="514190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" y="0"/>
            <a:ext cx="64008" cy="6858000"/>
          </a:xfrm>
          <a:prstGeom prst="rect">
            <a:avLst/>
          </a:prstGeom>
          <a:solidFill>
            <a:srgbClr val="DC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1521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75F5C"/>
                </a:solidFill>
                <a:latin typeface="Arial" panose="020B0604020202090204"/>
              </a:rPr>
              <a:t>THE PROBLEM</a:t>
            </a:r>
            <a:endParaRPr sz="850" b="1" i="0">
              <a:solidFill>
                <a:srgbClr val="075F5C"/>
              </a:solidFill>
              <a:latin typeface="Arial" panose="020B060402020209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521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A1628"/>
                </a:solidFill>
                <a:latin typeface="Arial" panose="020B0604020202090204"/>
              </a:rPr>
              <a:t>Inspection Data Breaks Before It Becomes a Report</a:t>
            </a:r>
            <a:endParaRPr sz="2600" b="1" i="0">
              <a:solidFill>
                <a:srgbClr val="0A1628"/>
              </a:solidFill>
              <a:latin typeface="Arial" panose="020B060402020209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097280"/>
            <a:ext cx="11521440" cy="36576"/>
          </a:xfrm>
          <a:prstGeom prst="rect">
            <a:avLst/>
          </a:prstGeom>
          <a:solidFill>
            <a:srgbClr val="8AB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" y="1261872"/>
            <a:ext cx="2414016" cy="475488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4416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 panose="020B0604020202090204"/>
              </a:rPr>
              <a:t>Inspector on Site</a:t>
            </a:r>
            <a:endParaRPr sz="1000" b="1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828800" y="1746504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ABBB6"/>
                </a:solidFill>
                <a:latin typeface="Arial" panose="020B0604020202090204"/>
              </a:rPr>
              <a:t>↓</a:t>
            </a:r>
            <a:endParaRPr sz="1400" b="1" i="0">
              <a:solidFill>
                <a:srgbClr val="8ABBB6"/>
              </a:solidFill>
              <a:latin typeface="Arial" panose="020B06040202020902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04672" y="1865376"/>
            <a:ext cx="2414016" cy="475488"/>
          </a:xfrm>
          <a:prstGeom prst="rect">
            <a:avLst/>
          </a:prstGeom>
          <a:solidFill>
            <a:srgbClr val="B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947672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Arial" panose="020B0604020202090204"/>
              </a:rPr>
              <a:t>Notebook / Photos / Excel</a:t>
            </a:r>
            <a:endParaRPr sz="1000" b="0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828800" y="235000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B02020"/>
                </a:solidFill>
                <a:latin typeface="Arial" panose="020B0604020202090204"/>
              </a:rPr>
              <a:t>↓</a:t>
            </a:r>
            <a:endParaRPr sz="1400" b="1" i="0">
              <a:solidFill>
                <a:srgbClr val="B02020"/>
              </a:solidFill>
              <a:latin typeface="Arial" panose="020B06040202020902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04672" y="2468880"/>
            <a:ext cx="2414016" cy="475488"/>
          </a:xfrm>
          <a:prstGeom prst="rect">
            <a:avLst/>
          </a:prstGeom>
          <a:solidFill>
            <a:srgbClr val="B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551176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Arial" panose="020B0604020202090204"/>
              </a:rPr>
              <a:t>Back-Office Re-keying</a:t>
            </a:r>
            <a:endParaRPr sz="1000" b="0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800" y="2953512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B02020"/>
                </a:solidFill>
                <a:latin typeface="Arial" panose="020B0604020202090204"/>
              </a:rPr>
              <a:t>↓</a:t>
            </a:r>
            <a:endParaRPr sz="1400" b="1" i="0">
              <a:solidFill>
                <a:srgbClr val="B02020"/>
              </a:solidFill>
              <a:latin typeface="Arial" panose="020B0604020202090204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04672" y="3072384"/>
            <a:ext cx="2414016" cy="475488"/>
          </a:xfrm>
          <a:prstGeom prst="rect">
            <a:avLst/>
          </a:prstGeom>
          <a:solidFill>
            <a:srgbClr val="B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154679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Arial" panose="020B0604020202090204"/>
              </a:rPr>
              <a:t>Manual Context Rebuild</a:t>
            </a:r>
            <a:endParaRPr sz="1000" b="0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828800" y="3557015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B02020"/>
                </a:solidFill>
                <a:latin typeface="Arial" panose="020B0604020202090204"/>
              </a:rPr>
              <a:t>↓</a:t>
            </a:r>
            <a:endParaRPr sz="1400" b="1" i="0">
              <a:solidFill>
                <a:srgbClr val="B02020"/>
              </a:solidFill>
              <a:latin typeface="Arial" panose="020B0604020202090204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04672" y="3675887"/>
            <a:ext cx="2414016" cy="475488"/>
          </a:xfrm>
          <a:prstGeom prst="rect">
            <a:avLst/>
          </a:prstGeom>
          <a:solidFill>
            <a:srgbClr val="60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758183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Arial" panose="020B0604020202090204"/>
              </a:rPr>
              <a:t>Report QA</a:t>
            </a:r>
            <a:endParaRPr sz="1000" b="0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828800" y="4160519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ABBB6"/>
                </a:solidFill>
                <a:latin typeface="Arial" panose="020B0604020202090204"/>
              </a:rPr>
              <a:t>↓</a:t>
            </a:r>
            <a:endParaRPr sz="1400" b="1" i="0">
              <a:solidFill>
                <a:srgbClr val="8ABBB6"/>
              </a:solidFill>
              <a:latin typeface="Arial" panose="020B0604020202090204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804672" y="4279392"/>
            <a:ext cx="2414016" cy="475488"/>
          </a:xfrm>
          <a:prstGeom prst="rect">
            <a:avLst/>
          </a:prstGeom>
          <a:solidFill>
            <a:srgbClr val="60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36168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 panose="020B0604020202090204"/>
              </a:rPr>
              <a:t>Static PDF Archive</a:t>
            </a:r>
            <a:endParaRPr sz="1000" b="1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438144" y="1956815"/>
            <a:ext cx="2377440" cy="292608"/>
          </a:xfrm>
          <a:prstGeom prst="rect">
            <a:avLst/>
          </a:prstGeom>
          <a:solidFill>
            <a:srgbClr val="FCECEC"/>
          </a:solidFill>
          <a:ln w="6350">
            <a:solidFill>
              <a:srgbClr val="B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11296" y="2002535"/>
            <a:ext cx="22311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B02020"/>
                </a:solidFill>
                <a:latin typeface="Arial" panose="020B0604020202090204"/>
              </a:rPr>
              <a:t>⚠  Duplicate entry</a:t>
            </a:r>
            <a:endParaRPr sz="850" b="1" i="0">
              <a:solidFill>
                <a:srgbClr val="B02020"/>
              </a:solidFill>
              <a:latin typeface="Arial" panose="020B060402020209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273552" y="2011679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2020"/>
                </a:solidFill>
                <a:latin typeface="Arial" panose="020B0604020202090204"/>
              </a:rPr>
              <a:t>─</a:t>
            </a:r>
            <a:endParaRPr sz="1000" b="0" i="0">
              <a:solidFill>
                <a:srgbClr val="B02020"/>
              </a:solidFill>
              <a:latin typeface="Arial" panose="020B0604020202090204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3438144" y="2560320"/>
            <a:ext cx="2377440" cy="292608"/>
          </a:xfrm>
          <a:prstGeom prst="rect">
            <a:avLst/>
          </a:prstGeom>
          <a:solidFill>
            <a:srgbClr val="FCECEC"/>
          </a:solidFill>
          <a:ln w="6350">
            <a:solidFill>
              <a:srgbClr val="B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11296" y="2606039"/>
            <a:ext cx="22311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B02020"/>
                </a:solidFill>
                <a:latin typeface="Arial" panose="020B0604020202090204"/>
              </a:rPr>
              <a:t>⚠  Missing photo evidence</a:t>
            </a:r>
            <a:endParaRPr sz="850" b="1" i="0">
              <a:solidFill>
                <a:srgbClr val="B02020"/>
              </a:solidFill>
              <a:latin typeface="Arial" panose="020B060402020209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273552" y="2615184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2020"/>
                </a:solidFill>
                <a:latin typeface="Arial" panose="020B0604020202090204"/>
              </a:rPr>
              <a:t>─</a:t>
            </a:r>
            <a:endParaRPr sz="1000" b="0" i="0">
              <a:solidFill>
                <a:srgbClr val="B02020"/>
              </a:solidFill>
              <a:latin typeface="Arial" panose="020B0604020202090204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438144" y="3163824"/>
            <a:ext cx="2377440" cy="292608"/>
          </a:xfrm>
          <a:prstGeom prst="rect">
            <a:avLst/>
          </a:prstGeom>
          <a:solidFill>
            <a:srgbClr val="FCECEC"/>
          </a:solidFill>
          <a:ln w="6350">
            <a:solidFill>
              <a:srgbClr val="B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11296" y="3209544"/>
            <a:ext cx="22311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B02020"/>
                </a:solidFill>
                <a:latin typeface="Arial" panose="020B0604020202090204"/>
              </a:rPr>
              <a:t>⚠  Weak location traceability</a:t>
            </a:r>
            <a:endParaRPr sz="850" b="1" i="0">
              <a:solidFill>
                <a:srgbClr val="B02020"/>
              </a:solidFill>
              <a:latin typeface="Arial" panose="020B0604020202090204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273552" y="3218688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2020"/>
                </a:solidFill>
                <a:latin typeface="Arial" panose="020B0604020202090204"/>
              </a:rPr>
              <a:t>─</a:t>
            </a:r>
            <a:endParaRPr sz="1000" b="0" i="0">
              <a:solidFill>
                <a:srgbClr val="B02020"/>
              </a:solidFill>
              <a:latin typeface="Arial" panose="020B060402020209020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486400" y="1261872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A1628"/>
                </a:solidFill>
                <a:latin typeface="Arial" panose="020B0604020202090204"/>
              </a:rPr>
              <a:t>Every inspection creates
valuable data.</a:t>
            </a:r>
            <a:endParaRPr sz="2200" b="1" i="0">
              <a:solidFill>
                <a:srgbClr val="0A1628"/>
              </a:solidFill>
              <a:latin typeface="Arial" panose="020B0604020202090204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486400" y="2029968"/>
            <a:ext cx="6400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2625E"/>
                </a:solidFill>
                <a:latin typeface="Arial" panose="020B0604020202090204"/>
              </a:rPr>
              <a:t>Most of it is trapped in reports, photos,
Excel files, and individual inspector experience.</a:t>
            </a:r>
            <a:endParaRPr sz="1150" b="0" i="0">
              <a:solidFill>
                <a:srgbClr val="52625E"/>
              </a:solidFill>
              <a:latin typeface="Arial" panose="020B0604020202090204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5486400" y="2651760"/>
            <a:ext cx="6492240" cy="36576"/>
          </a:xfrm>
          <a:prstGeom prst="rect">
            <a:avLst/>
          </a:prstGeom>
          <a:solidFill>
            <a:srgbClr val="8AB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86400" y="2779776"/>
            <a:ext cx="6492240" cy="594360"/>
          </a:xfrm>
          <a:prstGeom prst="rect">
            <a:avLst/>
          </a:prstGeom>
          <a:solidFill>
            <a:srgbClr val="F4F7F6"/>
          </a:solidFill>
          <a:ln w="508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86400" y="2779776"/>
            <a:ext cx="54864" cy="594360"/>
          </a:xfrm>
          <a:prstGeom prst="rect">
            <a:avLst/>
          </a:prstGeom>
          <a:solidFill>
            <a:srgbClr val="B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14416" y="2816352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B02020"/>
                </a:solidFill>
                <a:latin typeface="Arial" panose="020B0604020202090204"/>
              </a:rPr>
              <a:t>Duplicate entry</a:t>
            </a:r>
            <a:endParaRPr sz="950" b="1" i="0">
              <a:solidFill>
                <a:srgbClr val="B02020"/>
              </a:solidFill>
              <a:latin typeface="Arial" panose="020B0604020202090204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614416" y="3054096"/>
            <a:ext cx="6236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2625E"/>
                </a:solidFill>
                <a:latin typeface="Arial" panose="020B0604020202090204"/>
              </a:rPr>
              <a:t>UT readings typed once in field, again in office</a:t>
            </a:r>
            <a:endParaRPr sz="850" b="0" i="0">
              <a:solidFill>
                <a:srgbClr val="52625E"/>
              </a:solidFill>
              <a:latin typeface="Arial" panose="020B0604020202090204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5486400" y="3438144"/>
            <a:ext cx="6492240" cy="594360"/>
          </a:xfrm>
          <a:prstGeom prst="rect">
            <a:avLst/>
          </a:prstGeom>
          <a:solidFill>
            <a:srgbClr val="F4F7F6"/>
          </a:solidFill>
          <a:ln w="508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486400" y="3438144"/>
            <a:ext cx="54864" cy="594360"/>
          </a:xfrm>
          <a:prstGeom prst="rect">
            <a:avLst/>
          </a:prstGeom>
          <a:solidFill>
            <a:srgbClr val="B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14416" y="3474720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B02020"/>
                </a:solidFill>
                <a:latin typeface="Arial" panose="020B0604020202090204"/>
              </a:rPr>
              <a:t>Missing evidence</a:t>
            </a:r>
            <a:endParaRPr sz="950" b="1" i="0">
              <a:solidFill>
                <a:srgbClr val="B02020"/>
              </a:solidFill>
              <a:latin typeface="Arial" panose="020B0604020202090204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5614416" y="3712463"/>
            <a:ext cx="6236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2625E"/>
                </a:solidFill>
                <a:latin typeface="Arial" panose="020B0604020202090204"/>
              </a:rPr>
              <a:t>Photos, findings, and readings stored separately</a:t>
            </a:r>
            <a:endParaRPr sz="850" b="0" i="0">
              <a:solidFill>
                <a:srgbClr val="52625E"/>
              </a:solidFill>
              <a:latin typeface="Arial" panose="020B0604020202090204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5486400" y="4096512"/>
            <a:ext cx="6492240" cy="594360"/>
          </a:xfrm>
          <a:prstGeom prst="rect">
            <a:avLst/>
          </a:prstGeom>
          <a:solidFill>
            <a:srgbClr val="F4F7F6"/>
          </a:solidFill>
          <a:ln w="508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86400" y="4096512"/>
            <a:ext cx="54864" cy="594360"/>
          </a:xfrm>
          <a:prstGeom prst="rect">
            <a:avLst/>
          </a:prstGeom>
          <a:solidFill>
            <a:srgbClr val="B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614416" y="4133088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B02020"/>
                </a:solidFill>
                <a:latin typeface="Arial" panose="020B0604020202090204"/>
              </a:rPr>
              <a:t>Slow report turnaround</a:t>
            </a:r>
            <a:endParaRPr sz="950" b="1" i="0">
              <a:solidFill>
                <a:srgbClr val="B02020"/>
              </a:solidFill>
              <a:latin typeface="Arial" panose="020B0604020202090204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614416" y="4370832"/>
            <a:ext cx="6236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2625E"/>
                </a:solidFill>
                <a:latin typeface="Arial" panose="020B0604020202090204"/>
              </a:rPr>
              <a:t>Report assembled back-office after site visit</a:t>
            </a:r>
            <a:endParaRPr sz="850" b="0" i="0">
              <a:solidFill>
                <a:srgbClr val="52625E"/>
              </a:solidFill>
              <a:latin typeface="Arial" panose="020B0604020202090204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5486400" y="4754880"/>
            <a:ext cx="6492240" cy="594360"/>
          </a:xfrm>
          <a:prstGeom prst="rect">
            <a:avLst/>
          </a:prstGeom>
          <a:solidFill>
            <a:srgbClr val="F4F7F6"/>
          </a:solidFill>
          <a:ln w="508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486400" y="4754880"/>
            <a:ext cx="54864" cy="594360"/>
          </a:xfrm>
          <a:prstGeom prst="rect">
            <a:avLst/>
          </a:prstGeom>
          <a:solidFill>
            <a:srgbClr val="B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614416" y="4791456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B02020"/>
                </a:solidFill>
                <a:latin typeface="Arial" panose="020B0604020202090204"/>
              </a:rPr>
              <a:t>Weak location traceability</a:t>
            </a:r>
            <a:endParaRPr sz="950" b="1" i="0">
              <a:solidFill>
                <a:srgbClr val="B02020"/>
              </a:solidFill>
              <a:latin typeface="Arial" panose="020B0604020202090204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5614416" y="5029200"/>
            <a:ext cx="6236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2625E"/>
                </a:solidFill>
                <a:latin typeface="Arial" panose="020B0604020202090204"/>
              </a:rPr>
              <a:t>Defects described in prose, impossible to trend</a:t>
            </a:r>
            <a:endParaRPr sz="850" b="0" i="0">
              <a:solidFill>
                <a:srgbClr val="52625E"/>
              </a:solidFill>
              <a:latin typeface="Arial" panose="020B0604020202090204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5486400" y="5413248"/>
            <a:ext cx="6492240" cy="594360"/>
          </a:xfrm>
          <a:prstGeom prst="rect">
            <a:avLst/>
          </a:prstGeom>
          <a:solidFill>
            <a:srgbClr val="F4F7F6"/>
          </a:solidFill>
          <a:ln w="508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486400" y="5413248"/>
            <a:ext cx="54864" cy="594360"/>
          </a:xfrm>
          <a:prstGeom prst="rect">
            <a:avLst/>
          </a:prstGeom>
          <a:solidFill>
            <a:srgbClr val="B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614416" y="5449824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B02020"/>
                </a:solidFill>
                <a:latin typeface="Arial" panose="020B0604020202090204"/>
              </a:rPr>
              <a:t>No reusable intelligence</a:t>
            </a:r>
            <a:endParaRPr sz="950" b="1" i="0">
              <a:solidFill>
                <a:srgbClr val="B02020"/>
              </a:solidFill>
              <a:latin typeface="Arial" panose="020B0604020202090204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5614416" y="5687568"/>
            <a:ext cx="6236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2625E"/>
                </a:solidFill>
                <a:latin typeface="Arial" panose="020B0604020202090204"/>
              </a:rPr>
              <a:t>Every report starts from scratch — no asset memory</a:t>
            </a:r>
            <a:endParaRPr sz="850" b="0" i="0">
              <a:solidFill>
                <a:srgbClr val="52625E"/>
              </a:solidFill>
              <a:latin typeface="Arial" panose="020B0604020202090204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0" y="6565392"/>
            <a:ext cx="12188952" cy="36576"/>
          </a:xfrm>
          <a:prstGeom prst="rect">
            <a:avLst/>
          </a:prstGeom>
          <a:solidFill>
            <a:srgbClr val="8AB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64592" y="6611112"/>
            <a:ext cx="548640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8B8B4"/>
                </a:solidFill>
                <a:latin typeface="Arial" panose="020B0604020202090204"/>
              </a:rPr>
              <a:t>S2 · Problem</a:t>
            </a:r>
            <a:endParaRPr sz="750" b="0" i="0">
              <a:solidFill>
                <a:srgbClr val="A8B8B4"/>
              </a:solidFill>
              <a:latin typeface="Arial" panose="020B0604020202090204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6400800" y="6611112"/>
            <a:ext cx="5605272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A8B8B4"/>
                </a:solidFill>
                <a:latin typeface="Arial" panose="020B0604020202090204"/>
              </a:rPr>
              <a:t>LAIQ  ·  Confidential</a:t>
            </a:r>
            <a:endParaRPr sz="750" b="0" i="0">
              <a:solidFill>
                <a:srgbClr val="A8B8B4"/>
              </a:solidFill>
              <a:latin typeface="Arial" panose="020B0604020202090204"/>
            </a:endParaRPr>
          </a:p>
        </p:txBody>
      </p:sp>
      <p:pic>
        <p:nvPicPr>
          <p:cNvPr id="59" name="Picture 58" descr="laiq_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91881" y="6565392"/>
            <a:ext cx="514190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" y="0"/>
            <a:ext cx="64008" cy="6858000"/>
          </a:xfrm>
          <a:prstGeom prst="rect">
            <a:avLst/>
          </a:prstGeom>
          <a:solidFill>
            <a:srgbClr val="DC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1521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75F5C"/>
                </a:solidFill>
                <a:latin typeface="Arial" panose="020B0604020202090204"/>
              </a:rPr>
              <a:t>LAIQ SOLUTION</a:t>
            </a:r>
            <a:endParaRPr sz="850" b="1" i="0">
              <a:solidFill>
                <a:srgbClr val="075F5C"/>
              </a:solidFill>
              <a:latin typeface="Arial" panose="020B060402020209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521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75F5C"/>
                </a:solidFill>
                <a:latin typeface="Arial" panose="020B0604020202090204"/>
              </a:rPr>
              <a:t>Capture Once, Deliver a Report-Ready Package</a:t>
            </a:r>
            <a:endParaRPr sz="2600" b="1" i="0">
              <a:solidFill>
                <a:srgbClr val="075F5C"/>
              </a:solidFill>
              <a:latin typeface="Arial" panose="020B060402020209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097280"/>
            <a:ext cx="11521440" cy="36576"/>
          </a:xfrm>
          <a:prstGeom prst="rect">
            <a:avLst/>
          </a:prstGeom>
          <a:solidFill>
            <a:srgbClr val="8AB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280160"/>
            <a:ext cx="5486400" cy="2615184"/>
          </a:xfrm>
          <a:prstGeom prst="rect">
            <a:avLst/>
          </a:prstGeom>
          <a:solidFill>
            <a:srgbClr val="FFFFFF"/>
          </a:solidFill>
          <a:ln w="12700">
            <a:solidFill>
              <a:srgbClr val="B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45936" y="1280160"/>
            <a:ext cx="5285232" cy="2615184"/>
          </a:xfrm>
          <a:prstGeom prst="rect">
            <a:avLst/>
          </a:prstGeom>
          <a:solidFill>
            <a:srgbClr val="FFFFFF"/>
          </a:solidFill>
          <a:ln w="12700">
            <a:solidFill>
              <a:srgbClr val="62B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700784" y="1078992"/>
            <a:ext cx="1755648" cy="347472"/>
          </a:xfrm>
          <a:prstGeom prst="rect">
            <a:avLst/>
          </a:prstGeom>
          <a:solidFill>
            <a:srgbClr val="B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10512" y="1133856"/>
            <a:ext cx="15361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 panose="020B0604020202090204"/>
              </a:rPr>
              <a:t>TODAY</a:t>
            </a:r>
            <a:endParaRPr sz="1200" b="1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699248" y="1078992"/>
            <a:ext cx="1975104" cy="347472"/>
          </a:xfrm>
          <a:prstGeom prst="rect">
            <a:avLst/>
          </a:prstGeom>
          <a:solidFill>
            <a:srgbClr val="62B4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27264" y="1133856"/>
            <a:ext cx="17190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 panose="020B0604020202090204"/>
              </a:rPr>
              <a:t>WITH LAIQ</a:t>
            </a:r>
            <a:endParaRPr sz="1200" b="1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103120" y="2029968"/>
            <a:ext cx="292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B02020"/>
                </a:solidFill>
                <a:latin typeface="Arial" panose="020B0604020202090204"/>
              </a:rPr>
              <a:t>▶</a:t>
            </a:r>
            <a:endParaRPr sz="2200" b="1" i="0">
              <a:solidFill>
                <a:srgbClr val="B02020"/>
              </a:solidFill>
              <a:latin typeface="Arial" panose="020B060402020209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602736" y="2029968"/>
            <a:ext cx="292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B02020"/>
                </a:solidFill>
                <a:latin typeface="Arial" panose="020B0604020202090204"/>
              </a:rPr>
              <a:t>▶</a:t>
            </a:r>
            <a:endParaRPr sz="2200" b="1" i="0">
              <a:solidFill>
                <a:srgbClr val="B02020"/>
              </a:solidFill>
              <a:latin typeface="Arial" panose="020B060402020209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102352" y="2029968"/>
            <a:ext cx="292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B02020"/>
                </a:solidFill>
                <a:latin typeface="Arial" panose="020B0604020202090204"/>
              </a:rPr>
              <a:t>▶</a:t>
            </a:r>
            <a:endParaRPr sz="2200" b="1" i="0">
              <a:solidFill>
                <a:srgbClr val="B02020"/>
              </a:solidFill>
              <a:latin typeface="Arial" panose="020B0604020202090204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097280" y="1755648"/>
            <a:ext cx="493776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1664208"/>
            <a:ext cx="36576" cy="109728"/>
          </a:xfrm>
          <a:prstGeom prst="rect">
            <a:avLst/>
          </a:prstGeom>
          <a:solidFill>
            <a:srgbClr val="60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43584" y="1664208"/>
            <a:ext cx="36576" cy="109728"/>
          </a:xfrm>
          <a:prstGeom prst="rect">
            <a:avLst/>
          </a:prstGeom>
          <a:solidFill>
            <a:srgbClr val="60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44168" y="1664208"/>
            <a:ext cx="36576" cy="109728"/>
          </a:xfrm>
          <a:prstGeom prst="rect">
            <a:avLst/>
          </a:prstGeom>
          <a:solidFill>
            <a:srgbClr val="60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444752" y="1664208"/>
            <a:ext cx="36576" cy="109728"/>
          </a:xfrm>
          <a:prstGeom prst="rect">
            <a:avLst/>
          </a:prstGeom>
          <a:solidFill>
            <a:srgbClr val="60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88720" y="1920240"/>
            <a:ext cx="292608" cy="13716"/>
          </a:xfrm>
          <a:prstGeom prst="rect">
            <a:avLst/>
          </a:prstGeom>
          <a:solidFill>
            <a:srgbClr val="60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88720" y="2066544"/>
            <a:ext cx="292608" cy="13716"/>
          </a:xfrm>
          <a:prstGeom prst="rect">
            <a:avLst/>
          </a:prstGeom>
          <a:solidFill>
            <a:srgbClr val="60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88720" y="2212848"/>
            <a:ext cx="292608" cy="13716"/>
          </a:xfrm>
          <a:prstGeom prst="rect">
            <a:avLst/>
          </a:prstGeom>
          <a:solidFill>
            <a:srgbClr val="60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0704" y="2578608"/>
            <a:ext cx="60350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17201E"/>
                </a:solidFill>
                <a:latin typeface="Arial" panose="020B0604020202090204"/>
              </a:rPr>
              <a:t>Field
Notes</a:t>
            </a:r>
            <a:endParaRPr sz="1050" b="1" i="0">
              <a:solidFill>
                <a:srgbClr val="17201E"/>
              </a:solidFill>
              <a:latin typeface="Arial" panose="020B0604020202090204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2670048" y="1810512"/>
            <a:ext cx="475488" cy="621792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06624" y="1920240"/>
            <a:ext cx="1645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 panose="020B0604020202090204"/>
              </a:rPr>
              <a:t>X</a:t>
            </a:r>
            <a:endParaRPr sz="2000" b="1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2907791" y="1883664"/>
            <a:ext cx="146304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907791" y="1993392"/>
            <a:ext cx="146304" cy="9144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1" y="2103120"/>
            <a:ext cx="146304" cy="9144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78608" y="2578608"/>
            <a:ext cx="71323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17201E"/>
                </a:solidFill>
                <a:latin typeface="Arial" panose="020B0604020202090204"/>
              </a:rPr>
              <a:t>Excel
Entry</a:t>
            </a:r>
            <a:endParaRPr sz="1050" b="1" i="0">
              <a:solidFill>
                <a:srgbClr val="17201E"/>
              </a:solidFill>
              <a:latin typeface="Arial" panose="020B0604020202090204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4114800" y="1883664"/>
            <a:ext cx="566928" cy="420624"/>
          </a:xfrm>
          <a:prstGeom prst="rect">
            <a:avLst/>
          </a:prstGeom>
          <a:solidFill>
            <a:srgbClr val="60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169664" y="1755648"/>
            <a:ext cx="182880" cy="164592"/>
          </a:xfrm>
          <a:prstGeom prst="rect">
            <a:avLst/>
          </a:prstGeom>
          <a:solidFill>
            <a:srgbClr val="60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151376" y="1828800"/>
            <a:ext cx="457200" cy="109728"/>
          </a:xfrm>
          <a:prstGeom prst="rect">
            <a:avLst/>
          </a:prstGeom>
          <a:solidFill>
            <a:srgbClr val="60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78224" y="2578608"/>
            <a:ext cx="71323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17201E"/>
                </a:solidFill>
                <a:latin typeface="Arial" panose="020B0604020202090204"/>
              </a:rPr>
              <a:t>Photo
Folder</a:t>
            </a:r>
            <a:endParaRPr sz="1050" b="1" i="0">
              <a:solidFill>
                <a:srgbClr val="17201E"/>
              </a:solidFill>
              <a:latin typeface="Arial" panose="020B0604020202090204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5687568" y="1773936"/>
            <a:ext cx="420624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980176" y="1773936"/>
            <a:ext cx="128016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760720" y="1920240"/>
            <a:ext cx="182880" cy="10972"/>
          </a:xfrm>
          <a:prstGeom prst="rect">
            <a:avLst/>
          </a:prstGeom>
          <a:solidFill>
            <a:srgbClr val="60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760720" y="2029968"/>
            <a:ext cx="182880" cy="10972"/>
          </a:xfrm>
          <a:prstGeom prst="rect">
            <a:avLst/>
          </a:prstGeom>
          <a:solidFill>
            <a:srgbClr val="60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760720" y="2139696"/>
            <a:ext cx="182880" cy="10972"/>
          </a:xfrm>
          <a:prstGeom prst="rect">
            <a:avLst/>
          </a:prstGeom>
          <a:solidFill>
            <a:srgbClr val="60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760720" y="2249424"/>
            <a:ext cx="182880" cy="10972"/>
          </a:xfrm>
          <a:prstGeom prst="rect">
            <a:avLst/>
          </a:prstGeom>
          <a:solidFill>
            <a:srgbClr val="60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77840" y="2578608"/>
            <a:ext cx="71323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17201E"/>
                </a:solidFill>
                <a:latin typeface="Arial" panose="020B0604020202090204"/>
              </a:rPr>
              <a:t>Manual
Report</a:t>
            </a:r>
            <a:endParaRPr sz="1050" b="1" i="0">
              <a:solidFill>
                <a:srgbClr val="17201E"/>
              </a:solidFill>
              <a:latin typeface="Arial" panose="020B0604020202090204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786384" y="3017520"/>
            <a:ext cx="5029200" cy="18288"/>
          </a:xfrm>
          <a:prstGeom prst="rect">
            <a:avLst/>
          </a:prstGeom>
          <a:solidFill>
            <a:srgbClr val="8AB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645920" y="3163824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B02020"/>
                </a:solidFill>
                <a:latin typeface="Arial" panose="020B0604020202090204"/>
              </a:rPr>
              <a:t>✕ Duplicate entry...</a:t>
            </a:r>
            <a:endParaRPr sz="1700" b="1" i="0">
              <a:solidFill>
                <a:srgbClr val="B02020"/>
              </a:solidFill>
              <a:latin typeface="Arial" panose="020B0604020202090204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406640" y="2029968"/>
            <a:ext cx="292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62B462"/>
                </a:solidFill>
                <a:latin typeface="Arial" panose="020B0604020202090204"/>
              </a:rPr>
              <a:t>▶</a:t>
            </a:r>
            <a:endParaRPr sz="2200" b="1" i="0">
              <a:solidFill>
                <a:srgbClr val="62B462"/>
              </a:solidFill>
              <a:latin typeface="Arial" panose="020B0604020202090204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833104" y="2029968"/>
            <a:ext cx="292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62B462"/>
                </a:solidFill>
                <a:latin typeface="Arial" panose="020B0604020202090204"/>
              </a:rPr>
              <a:t>▶</a:t>
            </a:r>
            <a:endParaRPr sz="2200" b="1" i="0">
              <a:solidFill>
                <a:srgbClr val="62B462"/>
              </a:solidFill>
              <a:latin typeface="Arial" panose="020B0604020202090204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0259568" y="2029968"/>
            <a:ext cx="292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62B462"/>
                </a:solidFill>
                <a:latin typeface="Arial" panose="020B0604020202090204"/>
              </a:rPr>
              <a:t>▶</a:t>
            </a:r>
            <a:endParaRPr sz="2200" b="1" i="0">
              <a:solidFill>
                <a:srgbClr val="62B462"/>
              </a:solidFill>
              <a:latin typeface="Arial" panose="020B0604020202090204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6766559" y="1737360"/>
            <a:ext cx="310896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821424" y="1828800"/>
            <a:ext cx="201168" cy="420624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867144" y="2322576"/>
            <a:ext cx="73152" cy="73152"/>
          </a:xfrm>
          <a:prstGeom prst="ellipse">
            <a:avLst/>
          </a:prstGeom>
          <a:solidFill>
            <a:srgbClr val="60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83680" y="2578608"/>
            <a:ext cx="74980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17201E"/>
                </a:solidFill>
                <a:latin typeface="Arial" panose="020B0604020202090204"/>
              </a:rPr>
              <a:t>Guided
Capture</a:t>
            </a:r>
            <a:endParaRPr sz="1050" b="1" i="0">
              <a:solidFill>
                <a:srgbClr val="17201E"/>
              </a:solidFill>
              <a:latin typeface="Arial" panose="020B0604020202090204"/>
            </a:endParaRPr>
          </a:p>
        </p:txBody>
      </p:sp>
      <p:sp>
        <p:nvSpPr>
          <p:cNvPr id="51" name="Oval 50"/>
          <p:cNvSpPr/>
          <p:nvPr/>
        </p:nvSpPr>
        <p:spPr>
          <a:xfrm>
            <a:off x="8138160" y="1737360"/>
            <a:ext cx="512064" cy="164592"/>
          </a:xfrm>
          <a:prstGeom prst="ellipse">
            <a:avLst/>
          </a:prstGeom>
          <a:solidFill>
            <a:srgbClr val="60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138160" y="1810512"/>
            <a:ext cx="512064" cy="402336"/>
          </a:xfrm>
          <a:prstGeom prst="rect">
            <a:avLst/>
          </a:prstGeom>
          <a:solidFill>
            <a:srgbClr val="60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8138160" y="2139696"/>
            <a:ext cx="512064" cy="164592"/>
          </a:xfrm>
          <a:prstGeom prst="ellipse">
            <a:avLst/>
          </a:prstGeom>
          <a:solidFill>
            <a:srgbClr val="60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046720" y="2578608"/>
            <a:ext cx="74980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17201E"/>
                </a:solidFill>
                <a:latin typeface="Arial" panose="020B0604020202090204"/>
              </a:rPr>
              <a:t>Canonical
Record</a:t>
            </a:r>
            <a:endParaRPr sz="1050" b="1" i="0">
              <a:solidFill>
                <a:srgbClr val="17201E"/>
              </a:solidFill>
              <a:latin typeface="Arial" panose="020B0604020202090204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9619488" y="1773936"/>
            <a:ext cx="384048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875520" y="1773936"/>
            <a:ext cx="128016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9857232" y="2103120"/>
            <a:ext cx="164592" cy="164592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866376" y="2130552"/>
            <a:ext cx="146304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Arial" panose="020B0604020202090204"/>
              </a:rPr>
              <a:t>AI</a:t>
            </a:r>
            <a:endParaRPr sz="750" b="1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9436608" y="2578608"/>
            <a:ext cx="74980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17201E"/>
                </a:solidFill>
                <a:latin typeface="Arial" panose="020B0604020202090204"/>
              </a:rPr>
              <a:t>AI Report
Package</a:t>
            </a:r>
            <a:endParaRPr sz="1050" b="1" i="0">
              <a:solidFill>
                <a:srgbClr val="17201E"/>
              </a:solidFill>
              <a:latin typeface="Arial" panose="020B0604020202090204"/>
            </a:endParaRPr>
          </a:p>
        </p:txBody>
      </p:sp>
      <p:sp>
        <p:nvSpPr>
          <p:cNvPr id="60" name="Oval 59"/>
          <p:cNvSpPr/>
          <p:nvPr/>
        </p:nvSpPr>
        <p:spPr>
          <a:xfrm>
            <a:off x="11064240" y="1773936"/>
            <a:ext cx="402336" cy="40233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1073384" y="1828800"/>
            <a:ext cx="16459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07078"/>
                </a:solidFill>
                <a:latin typeface="Arial" panose="020B0604020202090204"/>
              </a:rPr>
              <a:t>↺</a:t>
            </a:r>
            <a:endParaRPr sz="1600" b="1" i="0">
              <a:solidFill>
                <a:srgbClr val="607078"/>
              </a:solidFill>
              <a:latin typeface="Arial" panose="020B0604020202090204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11301984" y="2029968"/>
            <a:ext cx="45720" cy="182880"/>
          </a:xfrm>
          <a:prstGeom prst="rect">
            <a:avLst/>
          </a:prstGeom>
          <a:solidFill>
            <a:srgbClr val="60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1375136" y="1920240"/>
            <a:ext cx="45720" cy="292608"/>
          </a:xfrm>
          <a:prstGeom prst="rect">
            <a:avLst/>
          </a:prstGeom>
          <a:solidFill>
            <a:srgbClr val="60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844784" y="2578608"/>
            <a:ext cx="822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17201E"/>
                </a:solidFill>
                <a:latin typeface="Arial" panose="020B0604020202090204"/>
              </a:rPr>
              <a:t>Asset
History</a:t>
            </a:r>
            <a:endParaRPr sz="1050" b="1" i="0">
              <a:solidFill>
                <a:srgbClr val="17201E"/>
              </a:solidFill>
              <a:latin typeface="Arial" panose="020B0604020202090204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6547104" y="3017520"/>
            <a:ext cx="4864608" cy="18288"/>
          </a:xfrm>
          <a:prstGeom prst="rect">
            <a:avLst/>
          </a:prstGeom>
          <a:solidFill>
            <a:srgbClr val="8AB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784848" y="3163824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  <a:latin typeface="Arial" panose="020B0604020202090204"/>
              </a:rPr>
              <a:t>✓ Guided capture</a:t>
            </a:r>
            <a:endParaRPr sz="1200" b="1" i="0">
              <a:solidFill>
                <a:srgbClr val="2E7D32"/>
              </a:solidFill>
              <a:latin typeface="Arial" panose="020B0604020202090204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6784848" y="3456432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  <a:latin typeface="Arial" panose="020B0604020202090204"/>
              </a:rPr>
              <a:t>✓ Structured evidence</a:t>
            </a:r>
            <a:endParaRPr sz="1200" b="1" i="0">
              <a:solidFill>
                <a:srgbClr val="2E7D32"/>
              </a:solidFill>
              <a:latin typeface="Arial" panose="020B0604020202090204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9381744" y="3163824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  <a:latin typeface="Arial" panose="020B0604020202090204"/>
              </a:rPr>
              <a:t>✓ Faster transport</a:t>
            </a:r>
            <a:endParaRPr sz="1200" b="1" i="0">
              <a:solidFill>
                <a:srgbClr val="2E7D32"/>
              </a:solidFill>
              <a:latin typeface="Arial" panose="020B0604020202090204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9381744" y="3456432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  <a:latin typeface="Arial" panose="020B0604020202090204"/>
              </a:rPr>
              <a:t>✓ Asset history</a:t>
            </a:r>
            <a:endParaRPr sz="1200" b="1" i="0">
              <a:solidFill>
                <a:srgbClr val="2E7D32"/>
              </a:solidFill>
              <a:latin typeface="Arial" panose="020B0604020202090204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1481328" y="4096512"/>
            <a:ext cx="3749039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627632" y="4169663"/>
            <a:ext cx="345643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7201E"/>
                </a:solidFill>
                <a:latin typeface="Arial" panose="020B0604020202090204"/>
              </a:rPr>
              <a:t>INSPECTION PACKAGE OUTPUT</a:t>
            </a:r>
            <a:endParaRPr sz="1200" b="1" i="0">
              <a:solidFill>
                <a:srgbClr val="17201E"/>
              </a:solidFill>
              <a:latin typeface="Arial" panose="020B0604020202090204"/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502920" y="4261104"/>
            <a:ext cx="11539728" cy="1389888"/>
          </a:xfrm>
          <a:prstGeom prst="rect">
            <a:avLst/>
          </a:prstGeom>
          <a:solidFill>
            <a:srgbClr val="FFFFFF"/>
          </a:solidFill>
          <a:ln w="10160">
            <a:solidFill>
              <a:srgbClr val="607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94944" y="4462272"/>
            <a:ext cx="2761488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94944" y="4462272"/>
            <a:ext cx="2761488" cy="201168"/>
          </a:xfrm>
          <a:prstGeom prst="rect">
            <a:avLst/>
          </a:prstGeom>
          <a:solidFill>
            <a:srgbClr val="60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86384" y="4507992"/>
            <a:ext cx="257860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rial" panose="020B0604020202090204"/>
              </a:rPr>
              <a:t>UT Tables</a:t>
            </a:r>
            <a:endParaRPr sz="950" b="1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822960" y="4773168"/>
            <a:ext cx="1554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20" b="0" i="0">
                <a:solidFill>
                  <a:srgbClr val="17201E"/>
                </a:solidFill>
                <a:latin typeface="Arial" panose="020B0604020202090204"/>
              </a:rPr>
              <a:t>Shell · Roof · Nozzle
MFL-linked readings</a:t>
            </a:r>
            <a:endParaRPr sz="920" b="0" i="0">
              <a:solidFill>
                <a:srgbClr val="17201E"/>
              </a:solidFill>
              <a:latin typeface="Arial" panose="020B0604020202090204"/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2615184" y="4736592"/>
            <a:ext cx="713232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607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2615184" y="4855464"/>
            <a:ext cx="713232" cy="9144"/>
          </a:xfrm>
          <a:prstGeom prst="rect">
            <a:avLst/>
          </a:prstGeom>
          <a:solidFill>
            <a:srgbClr val="60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2615184" y="4974336"/>
            <a:ext cx="713232" cy="9144"/>
          </a:xfrm>
          <a:prstGeom prst="rect">
            <a:avLst/>
          </a:prstGeom>
          <a:solidFill>
            <a:srgbClr val="60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2615184" y="5093207"/>
            <a:ext cx="713232" cy="9144"/>
          </a:xfrm>
          <a:prstGeom prst="rect">
            <a:avLst/>
          </a:prstGeom>
          <a:solidFill>
            <a:srgbClr val="60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2793492" y="4736592"/>
            <a:ext cx="9144" cy="475488"/>
          </a:xfrm>
          <a:prstGeom prst="rect">
            <a:avLst/>
          </a:prstGeom>
          <a:solidFill>
            <a:srgbClr val="60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2971800" y="4736592"/>
            <a:ext cx="9144" cy="475488"/>
          </a:xfrm>
          <a:prstGeom prst="rect">
            <a:avLst/>
          </a:prstGeom>
          <a:solidFill>
            <a:srgbClr val="60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3150108" y="4736592"/>
            <a:ext cx="9144" cy="475488"/>
          </a:xfrm>
          <a:prstGeom prst="rect">
            <a:avLst/>
          </a:prstGeom>
          <a:solidFill>
            <a:srgbClr val="60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3584448" y="4462272"/>
            <a:ext cx="2761488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3584448" y="4462272"/>
            <a:ext cx="2761488" cy="201168"/>
          </a:xfrm>
          <a:prstGeom prst="rect">
            <a:avLst/>
          </a:prstGeom>
          <a:solidFill>
            <a:srgbClr val="60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675887" y="4507992"/>
            <a:ext cx="257860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rial" panose="020B0604020202090204"/>
              </a:rPr>
              <a:t>Findings Register</a:t>
            </a:r>
            <a:endParaRPr sz="950" b="1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3712463" y="4773168"/>
            <a:ext cx="1554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20" b="0" i="0">
                <a:solidFill>
                  <a:srgbClr val="17201E"/>
                </a:solidFill>
                <a:latin typeface="Arial" panose="020B0604020202090204"/>
              </a:rPr>
              <a:t>Defect · severity
measurement · note</a:t>
            </a:r>
            <a:endParaRPr sz="920" b="0" i="0">
              <a:solidFill>
                <a:srgbClr val="17201E"/>
              </a:solidFill>
              <a:latin typeface="Arial" panose="020B0604020202090204"/>
            </a:endParaRPr>
          </a:p>
        </p:txBody>
      </p:sp>
      <p:sp>
        <p:nvSpPr>
          <p:cNvPr id="88" name="Rectangle 87"/>
          <p:cNvSpPr/>
          <p:nvPr/>
        </p:nvSpPr>
        <p:spPr>
          <a:xfrm>
            <a:off x="5577840" y="4718304"/>
            <a:ext cx="512064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607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5632704" y="4791456"/>
            <a:ext cx="45720" cy="45720"/>
          </a:xfrm>
          <a:prstGeom prst="ellipse">
            <a:avLst/>
          </a:prstGeom>
          <a:solidFill>
            <a:srgbClr val="B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5724144" y="4800600"/>
            <a:ext cx="237744" cy="10972"/>
          </a:xfrm>
          <a:prstGeom prst="rect">
            <a:avLst/>
          </a:prstGeom>
          <a:solidFill>
            <a:srgbClr val="60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5632704" y="4910328"/>
            <a:ext cx="45720" cy="45720"/>
          </a:xfrm>
          <a:prstGeom prst="ellipse">
            <a:avLst/>
          </a:prstGeom>
          <a:solidFill>
            <a:srgbClr val="B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5724144" y="4919472"/>
            <a:ext cx="237744" cy="10972"/>
          </a:xfrm>
          <a:prstGeom prst="rect">
            <a:avLst/>
          </a:prstGeom>
          <a:solidFill>
            <a:srgbClr val="60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5632704" y="5029200"/>
            <a:ext cx="45720" cy="45720"/>
          </a:xfrm>
          <a:prstGeom prst="ellipse">
            <a:avLst/>
          </a:prstGeom>
          <a:solidFill>
            <a:srgbClr val="B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5724144" y="5038344"/>
            <a:ext cx="237744" cy="10972"/>
          </a:xfrm>
          <a:prstGeom prst="rect">
            <a:avLst/>
          </a:prstGeom>
          <a:solidFill>
            <a:srgbClr val="60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473952" y="4462272"/>
            <a:ext cx="2761488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6473952" y="4462272"/>
            <a:ext cx="2761488" cy="201168"/>
          </a:xfrm>
          <a:prstGeom prst="rect">
            <a:avLst/>
          </a:prstGeom>
          <a:solidFill>
            <a:srgbClr val="60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565392" y="4507992"/>
            <a:ext cx="257860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rial" panose="020B0604020202090204"/>
              </a:rPr>
              <a:t>Linked Evidence</a:t>
            </a:r>
            <a:endParaRPr sz="950" b="1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6601968" y="4773168"/>
            <a:ext cx="1554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20" b="0" i="0">
                <a:solidFill>
                  <a:srgbClr val="17201E"/>
                </a:solidFill>
                <a:latin typeface="Arial" panose="020B0604020202090204"/>
              </a:rPr>
              <a:t>Photo → task → finding
→ location</a:t>
            </a:r>
            <a:endParaRPr sz="920" b="0" i="0">
              <a:solidFill>
                <a:srgbClr val="17201E"/>
              </a:solidFill>
              <a:latin typeface="Arial" panose="020B0604020202090204"/>
            </a:endParaRPr>
          </a:p>
        </p:txBody>
      </p:sp>
      <p:sp>
        <p:nvSpPr>
          <p:cNvPr id="99" name="Rectangle 98"/>
          <p:cNvSpPr/>
          <p:nvPr/>
        </p:nvSpPr>
        <p:spPr>
          <a:xfrm>
            <a:off x="8394192" y="4736592"/>
            <a:ext cx="310896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607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723376" y="4809744"/>
            <a:ext cx="310896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607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8613648" y="4882896"/>
            <a:ext cx="164592" cy="9144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8741664" y="4773168"/>
            <a:ext cx="164592" cy="9144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363456" y="4462272"/>
            <a:ext cx="2761488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363456" y="4462272"/>
            <a:ext cx="2761488" cy="201168"/>
          </a:xfrm>
          <a:prstGeom prst="rect">
            <a:avLst/>
          </a:prstGeom>
          <a:solidFill>
            <a:srgbClr val="60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454896" y="4507992"/>
            <a:ext cx="257860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rial" panose="020B0604020202090204"/>
              </a:rPr>
              <a:t>Location Map</a:t>
            </a:r>
            <a:endParaRPr sz="950" b="1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9491472" y="4773168"/>
            <a:ext cx="1554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20" b="0" i="0">
                <a:solidFill>
                  <a:srgbClr val="17201E"/>
                </a:solidFill>
                <a:latin typeface="Arial" panose="020B0604020202090204"/>
              </a:rPr>
              <a:t>Surface · plate · coord
· direction</a:t>
            </a:r>
            <a:endParaRPr sz="920" b="0" i="0">
              <a:solidFill>
                <a:srgbClr val="17201E"/>
              </a:solidFill>
              <a:latin typeface="Arial" panose="020B0604020202090204"/>
            </a:endParaRPr>
          </a:p>
        </p:txBody>
      </p:sp>
      <p:sp>
        <p:nvSpPr>
          <p:cNvPr id="107" name="Rectangle 106"/>
          <p:cNvSpPr/>
          <p:nvPr/>
        </p:nvSpPr>
        <p:spPr>
          <a:xfrm>
            <a:off x="11265408" y="4736592"/>
            <a:ext cx="749808" cy="475488"/>
          </a:xfrm>
          <a:prstGeom prst="rect">
            <a:avLst/>
          </a:prstGeom>
          <a:solidFill>
            <a:srgbClr val="F4F7F6"/>
          </a:solidFill>
          <a:ln w="635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1484864" y="4773168"/>
            <a:ext cx="54864" cy="365760"/>
          </a:xfrm>
          <a:prstGeom prst="rect">
            <a:avLst/>
          </a:prstGeom>
          <a:solidFill>
            <a:srgbClr val="DC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1704320" y="4736592"/>
            <a:ext cx="54864" cy="475488"/>
          </a:xfrm>
          <a:prstGeom prst="rect">
            <a:avLst/>
          </a:prstGeom>
          <a:solidFill>
            <a:srgbClr val="DC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1594592" y="4846320"/>
            <a:ext cx="109728" cy="109728"/>
          </a:xfrm>
          <a:prstGeom prst="ellipse">
            <a:avLst/>
          </a:prstGeom>
          <a:solidFill>
            <a:srgbClr val="B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1608308" y="4846320"/>
            <a:ext cx="73152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 panose="020B0604020202090204"/>
              </a:rPr>
              <a:t>•</a:t>
            </a:r>
            <a:endParaRPr sz="1000" b="1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112" name="Rectangle 111"/>
          <p:cNvSpPr/>
          <p:nvPr/>
        </p:nvSpPr>
        <p:spPr>
          <a:xfrm>
            <a:off x="502920" y="5797296"/>
            <a:ext cx="11539728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49808" y="5943600"/>
            <a:ext cx="11018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7201E"/>
                </a:solidFill>
                <a:latin typeface="Arial" panose="020B0604020202090204"/>
              </a:rPr>
              <a:t>The value is not the form. The value is the structured inspection package.</a:t>
            </a:r>
            <a:endParaRPr sz="1500" b="1" i="0">
              <a:solidFill>
                <a:srgbClr val="17201E"/>
              </a:solidFill>
              <a:latin typeface="Arial" panose="020B0604020202090204"/>
            </a:endParaRPr>
          </a:p>
        </p:txBody>
      </p:sp>
      <p:sp>
        <p:nvSpPr>
          <p:cNvPr id="114" name="Rectangle 113"/>
          <p:cNvSpPr/>
          <p:nvPr/>
        </p:nvSpPr>
        <p:spPr>
          <a:xfrm>
            <a:off x="0" y="6565392"/>
            <a:ext cx="12188952" cy="36576"/>
          </a:xfrm>
          <a:prstGeom prst="rect">
            <a:avLst/>
          </a:prstGeom>
          <a:solidFill>
            <a:srgbClr val="8AB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64592" y="6611112"/>
            <a:ext cx="548640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8B8B4"/>
                </a:solidFill>
                <a:latin typeface="Arial" panose="020B0604020202090204"/>
              </a:rPr>
              <a:t>S3 · Target Workflow</a:t>
            </a:r>
            <a:endParaRPr sz="750" b="0" i="0">
              <a:solidFill>
                <a:srgbClr val="A8B8B4"/>
              </a:solidFill>
              <a:latin typeface="Arial" panose="020B0604020202090204"/>
            </a:endParaRPr>
          </a:p>
        </p:txBody>
      </p:sp>
      <p:sp>
        <p:nvSpPr>
          <p:cNvPr id="116" name="TextBox 115"/>
          <p:cNvSpPr txBox="1"/>
          <p:nvPr/>
        </p:nvSpPr>
        <p:spPr>
          <a:xfrm>
            <a:off x="6400800" y="6611112"/>
            <a:ext cx="5605272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A8B8B4"/>
                </a:solidFill>
                <a:latin typeface="Arial" panose="020B0604020202090204"/>
              </a:rPr>
              <a:t>LAIQ  ·  Confidential</a:t>
            </a:r>
            <a:endParaRPr sz="750" b="0" i="0">
              <a:solidFill>
                <a:srgbClr val="A8B8B4"/>
              </a:solidFill>
              <a:latin typeface="Arial" panose="020B0604020202090204"/>
            </a:endParaRPr>
          </a:p>
        </p:txBody>
      </p:sp>
      <p:pic>
        <p:nvPicPr>
          <p:cNvPr id="117" name="Picture 116" descr="laiq_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91881" y="6565392"/>
            <a:ext cx="514190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" y="0"/>
            <a:ext cx="64008" cy="6858000"/>
          </a:xfrm>
          <a:prstGeom prst="rect">
            <a:avLst/>
          </a:prstGeom>
          <a:solidFill>
            <a:srgbClr val="DC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1521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75F5C"/>
                </a:solidFill>
                <a:latin typeface="Arial" panose="020B0604020202090204"/>
              </a:rPr>
              <a:t>PRODUCT ARCHITECTURE</a:t>
            </a:r>
            <a:endParaRPr sz="850" b="1" i="0">
              <a:solidFill>
                <a:srgbClr val="075F5C"/>
              </a:solidFill>
              <a:latin typeface="Arial" panose="020B060402020209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521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A1628"/>
                </a:solidFill>
                <a:latin typeface="Arial" panose="020B0604020202090204"/>
              </a:rPr>
              <a:t>Field-to-Report Architecture</a:t>
            </a:r>
            <a:endParaRPr sz="2600" b="1" i="0">
              <a:solidFill>
                <a:srgbClr val="0A1628"/>
              </a:solidFill>
              <a:latin typeface="Arial" panose="020B060402020209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097280"/>
            <a:ext cx="11521440" cy="36576"/>
          </a:xfrm>
          <a:prstGeom prst="rect">
            <a:avLst/>
          </a:prstGeom>
          <a:solidFill>
            <a:srgbClr val="8AB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43584"/>
            <a:ext cx="7132320" cy="877824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" y="1335024"/>
            <a:ext cx="1188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DCEFE9"/>
                </a:solidFill>
                <a:latin typeface="Arial" panose="020B0604020202090204"/>
              </a:rPr>
              <a:t>Field
Layer</a:t>
            </a:r>
            <a:endParaRPr sz="1000" b="1" i="0">
              <a:solidFill>
                <a:srgbClr val="DCEFE9"/>
              </a:solidFill>
              <a:latin typeface="Arial" panose="020B06040202020902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874519" y="1298448"/>
            <a:ext cx="22860" cy="768096"/>
          </a:xfrm>
          <a:prstGeom prst="rect">
            <a:avLst/>
          </a:prstGeom>
          <a:solidFill>
            <a:srgbClr val="4A8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57400" y="1316736"/>
            <a:ext cx="1031443" cy="731519"/>
          </a:xfrm>
          <a:prstGeom prst="rect">
            <a:avLst/>
          </a:prstGeom>
          <a:solidFill>
            <a:srgbClr val="12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30552" y="1353312"/>
            <a:ext cx="88513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DCEFE9"/>
                </a:solidFill>
                <a:latin typeface="Arial" panose="020B0604020202090204"/>
              </a:rPr>
              <a:t>ATEX/IECEx PDA</a:t>
            </a:r>
            <a:endParaRPr sz="850" b="0" i="0">
              <a:solidFill>
                <a:srgbClr val="DCEFE9"/>
              </a:solidFill>
              <a:latin typeface="Arial" panose="020B0604020202090204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180283" y="1316736"/>
            <a:ext cx="1031443" cy="731519"/>
          </a:xfrm>
          <a:prstGeom prst="rect">
            <a:avLst/>
          </a:prstGeom>
          <a:solidFill>
            <a:srgbClr val="12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53435" y="1353312"/>
            <a:ext cx="88513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DCEFE9"/>
                </a:solidFill>
                <a:latin typeface="Arial" panose="020B0604020202090204"/>
              </a:rPr>
              <a:t>Offline Capture</a:t>
            </a:r>
            <a:endParaRPr sz="850" b="0" i="0">
              <a:solidFill>
                <a:srgbClr val="DCEFE9"/>
              </a:solidFill>
              <a:latin typeface="Arial" panose="020B060402020209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303166" y="1316736"/>
            <a:ext cx="1031443" cy="731519"/>
          </a:xfrm>
          <a:prstGeom prst="rect">
            <a:avLst/>
          </a:prstGeom>
          <a:solidFill>
            <a:srgbClr val="12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76318" y="1353312"/>
            <a:ext cx="88513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DCEFE9"/>
                </a:solidFill>
                <a:latin typeface="Arial" panose="020B0604020202090204"/>
              </a:rPr>
              <a:t>UT Readings</a:t>
            </a:r>
            <a:endParaRPr sz="850" b="0" i="0">
              <a:solidFill>
                <a:srgbClr val="DCEFE9"/>
              </a:solidFill>
              <a:latin typeface="Arial" panose="020B0604020202090204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426049" y="1316736"/>
            <a:ext cx="1031443" cy="731519"/>
          </a:xfrm>
          <a:prstGeom prst="rect">
            <a:avLst/>
          </a:prstGeom>
          <a:solidFill>
            <a:srgbClr val="12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99201" y="1353312"/>
            <a:ext cx="88513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DCEFE9"/>
                </a:solidFill>
                <a:latin typeface="Arial" panose="020B0604020202090204"/>
              </a:rPr>
              <a:t>Photos</a:t>
            </a:r>
            <a:endParaRPr sz="850" b="0" i="0">
              <a:solidFill>
                <a:srgbClr val="DCEFE9"/>
              </a:solidFill>
              <a:latin typeface="Arial" panose="020B06040202020902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548932" y="1316736"/>
            <a:ext cx="1031443" cy="731519"/>
          </a:xfrm>
          <a:prstGeom prst="rect">
            <a:avLst/>
          </a:prstGeom>
          <a:solidFill>
            <a:srgbClr val="12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2084" y="1353312"/>
            <a:ext cx="88513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DCEFE9"/>
                </a:solidFill>
                <a:latin typeface="Arial" panose="020B0604020202090204"/>
              </a:rPr>
              <a:t>Checklist</a:t>
            </a:r>
            <a:endParaRPr sz="850" b="0" i="0">
              <a:solidFill>
                <a:srgbClr val="DCEFE9"/>
              </a:solidFill>
              <a:latin typeface="Arial" panose="020B060402020209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474720" y="213055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8ABBB6"/>
                </a:solidFill>
                <a:latin typeface="Arial" panose="020B0604020202090204"/>
              </a:rPr>
              <a:t>↓  sync / process  ↓</a:t>
            </a:r>
            <a:endParaRPr sz="800" b="1" i="0">
              <a:solidFill>
                <a:srgbClr val="8ABBB6"/>
              </a:solidFill>
              <a:latin typeface="Arial" panose="020B0604020202090204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02920" y="2231136"/>
            <a:ext cx="7132320" cy="87782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" y="2322576"/>
            <a:ext cx="1188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DCEFE9"/>
                </a:solidFill>
                <a:latin typeface="Arial" panose="020B0604020202090204"/>
              </a:rPr>
              <a:t>Data
Layer</a:t>
            </a:r>
            <a:endParaRPr sz="1000" b="1" i="0">
              <a:solidFill>
                <a:srgbClr val="DCEFE9"/>
              </a:solidFill>
              <a:latin typeface="Arial" panose="020B0604020202090204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874519" y="2286000"/>
            <a:ext cx="22860" cy="768096"/>
          </a:xfrm>
          <a:prstGeom prst="rect">
            <a:avLst/>
          </a:prstGeom>
          <a:solidFill>
            <a:srgbClr val="4A8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057400" y="2304288"/>
            <a:ext cx="1312164" cy="731519"/>
          </a:xfrm>
          <a:prstGeom prst="rect">
            <a:avLst/>
          </a:prstGeom>
          <a:solidFill>
            <a:srgbClr val="12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30552" y="2340864"/>
            <a:ext cx="11658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DCEFE9"/>
                </a:solidFill>
                <a:latin typeface="Arial" panose="020B0604020202090204"/>
              </a:rPr>
              <a:t>Canonical Inspection Record</a:t>
            </a:r>
            <a:endParaRPr sz="850" b="0" i="0">
              <a:solidFill>
                <a:srgbClr val="DCEFE9"/>
              </a:solidFill>
              <a:latin typeface="Arial" panose="020B0604020202090204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3461004" y="2304288"/>
            <a:ext cx="1312164" cy="731519"/>
          </a:xfrm>
          <a:prstGeom prst="rect">
            <a:avLst/>
          </a:prstGeom>
          <a:solidFill>
            <a:srgbClr val="12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34156" y="2340864"/>
            <a:ext cx="11658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DCEFE9"/>
                </a:solidFill>
                <a:latin typeface="Arial" panose="020B0604020202090204"/>
              </a:rPr>
              <a:t>Asset · Surface</a:t>
            </a:r>
            <a:endParaRPr sz="850" b="0" i="0">
              <a:solidFill>
                <a:srgbClr val="DCEFE9"/>
              </a:solidFill>
              <a:latin typeface="Arial" panose="020B0604020202090204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4864608" y="2304288"/>
            <a:ext cx="1312164" cy="731519"/>
          </a:xfrm>
          <a:prstGeom prst="rect">
            <a:avLst/>
          </a:prstGeom>
          <a:solidFill>
            <a:srgbClr val="12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37760" y="2340864"/>
            <a:ext cx="11658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DCEFE9"/>
                </a:solidFill>
                <a:latin typeface="Arial" panose="020B0604020202090204"/>
              </a:rPr>
              <a:t>Finding · Evidence</a:t>
            </a:r>
            <a:endParaRPr sz="850" b="0" i="0">
              <a:solidFill>
                <a:srgbClr val="DCEFE9"/>
              </a:solidFill>
              <a:latin typeface="Arial" panose="020B0604020202090204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268212" y="2304288"/>
            <a:ext cx="1312164" cy="731519"/>
          </a:xfrm>
          <a:prstGeom prst="rect">
            <a:avLst/>
          </a:prstGeom>
          <a:solidFill>
            <a:srgbClr val="12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41364" y="2340864"/>
            <a:ext cx="11658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DCEFE9"/>
                </a:solidFill>
                <a:latin typeface="Arial" panose="020B0604020202090204"/>
              </a:rPr>
              <a:t>Inspection History</a:t>
            </a:r>
            <a:endParaRPr sz="850" b="0" i="0">
              <a:solidFill>
                <a:srgbClr val="DCEFE9"/>
              </a:solidFill>
              <a:latin typeface="Arial" panose="020B0604020202090204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474720" y="311810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ABBB6"/>
                </a:solidFill>
                <a:latin typeface="Arial" panose="020B0604020202090204"/>
              </a:rPr>
              <a:t>↓</a:t>
            </a:r>
            <a:endParaRPr sz="1100" b="1" i="0">
              <a:solidFill>
                <a:srgbClr val="8ABBB6"/>
              </a:solidFill>
              <a:latin typeface="Arial" panose="020B0604020202090204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502920" y="3218688"/>
            <a:ext cx="7132320" cy="877824"/>
          </a:xfrm>
          <a:prstGeom prst="rect">
            <a:avLst/>
          </a:prstGeom>
          <a:solidFill>
            <a:srgbClr val="B56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" y="3310128"/>
            <a:ext cx="1188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DF0E0"/>
                </a:solidFill>
                <a:latin typeface="Arial" panose="020B0604020202090204"/>
              </a:rPr>
              <a:t>AI
Layer</a:t>
            </a:r>
            <a:endParaRPr sz="1000" b="1" i="0">
              <a:solidFill>
                <a:srgbClr val="FDF0E0"/>
              </a:solidFill>
              <a:latin typeface="Arial" panose="020B0604020202090204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1874519" y="3273552"/>
            <a:ext cx="22860" cy="768096"/>
          </a:xfrm>
          <a:prstGeom prst="rect">
            <a:avLst/>
          </a:prstGeom>
          <a:solidFill>
            <a:srgbClr val="4A8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057400" y="3291840"/>
            <a:ext cx="1312164" cy="731519"/>
          </a:xfrm>
          <a:prstGeom prst="rect">
            <a:avLst/>
          </a:prstGeom>
          <a:solidFill>
            <a:srgbClr val="12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130552" y="3328416"/>
            <a:ext cx="11658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DF0E0"/>
                </a:solidFill>
                <a:latin typeface="Arial" panose="020B0604020202090204"/>
              </a:rPr>
              <a:t>Report Agent</a:t>
            </a:r>
            <a:endParaRPr sz="850" b="0" i="0">
              <a:solidFill>
                <a:srgbClr val="FDF0E0"/>
              </a:solidFill>
              <a:latin typeface="Arial" panose="020B0604020202090204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3461004" y="3291840"/>
            <a:ext cx="1312164" cy="731519"/>
          </a:xfrm>
          <a:prstGeom prst="rect">
            <a:avLst/>
          </a:prstGeom>
          <a:solidFill>
            <a:srgbClr val="12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534156" y="3328416"/>
            <a:ext cx="11658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DF0E0"/>
                </a:solidFill>
                <a:latin typeface="Arial" panose="020B0604020202090204"/>
              </a:rPr>
              <a:t>QA Check</a:t>
            </a:r>
            <a:endParaRPr sz="850" b="0" i="0">
              <a:solidFill>
                <a:srgbClr val="FDF0E0"/>
              </a:solidFill>
              <a:latin typeface="Arial" panose="020B0604020202090204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4864608" y="3291840"/>
            <a:ext cx="1312164" cy="731519"/>
          </a:xfrm>
          <a:prstGeom prst="rect">
            <a:avLst/>
          </a:prstGeom>
          <a:solidFill>
            <a:srgbClr val="12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3328416"/>
            <a:ext cx="11658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DF0E0"/>
                </a:solidFill>
                <a:latin typeface="Arial" panose="020B0604020202090204"/>
              </a:rPr>
              <a:t>Missing Field Detection</a:t>
            </a:r>
            <a:endParaRPr sz="850" b="0" i="0">
              <a:solidFill>
                <a:srgbClr val="FDF0E0"/>
              </a:solidFill>
              <a:latin typeface="Arial" panose="020B0604020202090204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6268212" y="3291840"/>
            <a:ext cx="1312164" cy="731519"/>
          </a:xfrm>
          <a:prstGeom prst="rect">
            <a:avLst/>
          </a:prstGeom>
          <a:solidFill>
            <a:srgbClr val="12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41364" y="3328416"/>
            <a:ext cx="11658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DF0E0"/>
                </a:solidFill>
                <a:latin typeface="Arial" panose="020B0604020202090204"/>
              </a:rPr>
              <a:t>Template Mapping</a:t>
            </a:r>
            <a:endParaRPr sz="850" b="0" i="0">
              <a:solidFill>
                <a:srgbClr val="FDF0E0"/>
              </a:solidFill>
              <a:latin typeface="Arial" panose="020B0604020202090204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3474720" y="410565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ABBB6"/>
                </a:solidFill>
                <a:latin typeface="Arial" panose="020B0604020202090204"/>
              </a:rPr>
              <a:t>↓</a:t>
            </a:r>
            <a:endParaRPr sz="1100" b="1" i="0">
              <a:solidFill>
                <a:srgbClr val="8ABBB6"/>
              </a:solidFill>
              <a:latin typeface="Arial" panose="020B060402020209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502920" y="4206240"/>
            <a:ext cx="7132320" cy="877824"/>
          </a:xfrm>
          <a:prstGeom prst="rect">
            <a:avLst/>
          </a:prstGeom>
          <a:solidFill>
            <a:srgbClr val="4A8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0936" y="4297680"/>
            <a:ext cx="1188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 panose="020B0604020202090204"/>
              </a:rPr>
              <a:t>Output
Layer</a:t>
            </a:r>
            <a:endParaRPr sz="1000" b="1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1874519" y="4261104"/>
            <a:ext cx="22860" cy="768096"/>
          </a:xfrm>
          <a:prstGeom prst="rect">
            <a:avLst/>
          </a:prstGeom>
          <a:solidFill>
            <a:srgbClr val="4A8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057400" y="4279392"/>
            <a:ext cx="1312164" cy="731519"/>
          </a:xfrm>
          <a:prstGeom prst="rect">
            <a:avLst/>
          </a:prstGeom>
          <a:solidFill>
            <a:srgbClr val="12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30552" y="4315968"/>
            <a:ext cx="11658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Arial" panose="020B0604020202090204"/>
              </a:rPr>
              <a:t>PDF / Word Report</a:t>
            </a:r>
            <a:endParaRPr sz="850" b="0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3461004" y="4279392"/>
            <a:ext cx="1312164" cy="731519"/>
          </a:xfrm>
          <a:prstGeom prst="rect">
            <a:avLst/>
          </a:prstGeom>
          <a:solidFill>
            <a:srgbClr val="12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534156" y="4315968"/>
            <a:ext cx="11658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Arial" panose="020B0604020202090204"/>
              </a:rPr>
              <a:t>CSV / JSON Export</a:t>
            </a:r>
            <a:endParaRPr sz="850" b="0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4864608" y="4279392"/>
            <a:ext cx="1312164" cy="731519"/>
          </a:xfrm>
          <a:prstGeom prst="rect">
            <a:avLst/>
          </a:prstGeom>
          <a:solidFill>
            <a:srgbClr val="12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937760" y="4315968"/>
            <a:ext cx="11658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Arial" panose="020B0604020202090204"/>
              </a:rPr>
              <a:t>CMMS Ready</a:t>
            </a:r>
            <a:endParaRPr sz="850" b="0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6268212" y="4279392"/>
            <a:ext cx="1312164" cy="731519"/>
          </a:xfrm>
          <a:prstGeom prst="rect">
            <a:avLst/>
          </a:prstGeom>
          <a:solidFill>
            <a:srgbClr val="12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41364" y="4315968"/>
            <a:ext cx="11658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Arial" panose="020B0604020202090204"/>
              </a:rPr>
              <a:t>Digital Twin Ready</a:t>
            </a:r>
            <a:endParaRPr sz="850" b="0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3474720" y="509320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ABBB6"/>
                </a:solidFill>
                <a:latin typeface="Arial" panose="020B0604020202090204"/>
              </a:rPr>
              <a:t>↓</a:t>
            </a:r>
            <a:endParaRPr sz="1100" b="1" i="0">
              <a:solidFill>
                <a:srgbClr val="8ABBB6"/>
              </a:solidFill>
              <a:latin typeface="Arial" panose="020B0604020202090204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502920" y="5193792"/>
            <a:ext cx="7132320" cy="877824"/>
          </a:xfrm>
          <a:prstGeom prst="rect">
            <a:avLst/>
          </a:prstGeom>
          <a:solidFill>
            <a:srgbClr val="172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0936" y="5285232"/>
            <a:ext cx="1188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DCEFE9"/>
                </a:solidFill>
                <a:latin typeface="Arial" panose="020B0604020202090204"/>
              </a:rPr>
              <a:t>Intelligence
Layer</a:t>
            </a:r>
            <a:endParaRPr sz="1000" b="1" i="0">
              <a:solidFill>
                <a:srgbClr val="DCEFE9"/>
              </a:solidFill>
              <a:latin typeface="Arial" panose="020B0604020202090204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1874519" y="5248656"/>
            <a:ext cx="22860" cy="768096"/>
          </a:xfrm>
          <a:prstGeom prst="rect">
            <a:avLst/>
          </a:prstGeom>
          <a:solidFill>
            <a:srgbClr val="4A8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057400" y="5266944"/>
            <a:ext cx="1312164" cy="731519"/>
          </a:xfrm>
          <a:prstGeom prst="rect">
            <a:avLst/>
          </a:prstGeom>
          <a:solidFill>
            <a:srgbClr val="12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30552" y="5303520"/>
            <a:ext cx="11658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DCEFE9"/>
                </a:solidFill>
                <a:latin typeface="Arial" panose="020B0604020202090204"/>
              </a:rPr>
              <a:t>Weak Point Analysis</a:t>
            </a:r>
            <a:endParaRPr sz="850" b="0" i="0">
              <a:solidFill>
                <a:srgbClr val="DCEFE9"/>
              </a:solidFill>
              <a:latin typeface="Arial" panose="020B0604020202090204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3461004" y="5266944"/>
            <a:ext cx="1312164" cy="731519"/>
          </a:xfrm>
          <a:prstGeom prst="rect">
            <a:avLst/>
          </a:prstGeom>
          <a:solidFill>
            <a:srgbClr val="12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534156" y="5303520"/>
            <a:ext cx="11658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DCEFE9"/>
                </a:solidFill>
                <a:latin typeface="Arial" panose="020B0604020202090204"/>
              </a:rPr>
              <a:t>Remaining Life</a:t>
            </a:r>
            <a:endParaRPr sz="850" b="0" i="0">
              <a:solidFill>
                <a:srgbClr val="DCEFE9"/>
              </a:solidFill>
              <a:latin typeface="Arial" panose="020B0604020202090204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4864608" y="5266944"/>
            <a:ext cx="1312164" cy="731519"/>
          </a:xfrm>
          <a:prstGeom prst="rect">
            <a:avLst/>
          </a:prstGeom>
          <a:solidFill>
            <a:srgbClr val="12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937760" y="5303520"/>
            <a:ext cx="11658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DCEFE9"/>
                </a:solidFill>
                <a:latin typeface="Arial" panose="020B0604020202090204"/>
              </a:rPr>
              <a:t>FMEA Library</a:t>
            </a:r>
            <a:endParaRPr sz="850" b="0" i="0">
              <a:solidFill>
                <a:srgbClr val="DCEFE9"/>
              </a:solidFill>
              <a:latin typeface="Arial" panose="020B0604020202090204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6268212" y="5266944"/>
            <a:ext cx="1312164" cy="731519"/>
          </a:xfrm>
          <a:prstGeom prst="rect">
            <a:avLst/>
          </a:prstGeom>
          <a:solidFill>
            <a:srgbClr val="12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341364" y="5303520"/>
            <a:ext cx="11658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DCEFE9"/>
                </a:solidFill>
                <a:latin typeface="Arial" panose="020B0604020202090204"/>
              </a:rPr>
              <a:t>Spare Part Signals</a:t>
            </a:r>
            <a:endParaRPr sz="850" b="0" i="0">
              <a:solidFill>
                <a:srgbClr val="DCEFE9"/>
              </a:solidFill>
              <a:latin typeface="Arial" panose="020B0604020202090204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7754112" y="1207008"/>
            <a:ext cx="27432" cy="5394960"/>
          </a:xfrm>
          <a:prstGeom prst="rect">
            <a:avLst/>
          </a:prstGeom>
          <a:solidFill>
            <a:srgbClr val="4A8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863840" y="1243584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A1628"/>
                </a:solidFill>
                <a:latin typeface="Arial" panose="020B0604020202090204"/>
              </a:rPr>
              <a:t>App screenshots</a:t>
            </a:r>
            <a:endParaRPr sz="950" b="1" i="0">
              <a:solidFill>
                <a:srgbClr val="0A1628"/>
              </a:solidFill>
              <a:latin typeface="Arial" panose="020B0604020202090204"/>
            </a:endParaRPr>
          </a:p>
        </p:txBody>
      </p:sp>
      <p:pic>
        <p:nvPicPr>
          <p:cNvPr id="70" name="Picture 69" descr="05_taskboar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850" y="1517904"/>
            <a:ext cx="684499" cy="1481328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7863840" y="3026664"/>
            <a:ext cx="4160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A8B8B4"/>
                </a:solidFill>
                <a:latin typeface="Arial" panose="020B0604020202090204"/>
              </a:rPr>
              <a:t>Field · task board &amp; scope setup</a:t>
            </a:r>
            <a:endParaRPr sz="750" b="0" i="1">
              <a:solidFill>
                <a:srgbClr val="A8B8B4"/>
              </a:solidFill>
              <a:latin typeface="Arial" panose="020B0604020202090204"/>
            </a:endParaRPr>
          </a:p>
        </p:txBody>
      </p:sp>
      <p:pic>
        <p:nvPicPr>
          <p:cNvPr id="72" name="Picture 71" descr="07_shellut_read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850" y="3273552"/>
            <a:ext cx="684499" cy="1481328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7863840" y="4782312"/>
            <a:ext cx="4160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A8B8B4"/>
                </a:solidFill>
                <a:latin typeface="Arial" panose="020B0604020202090204"/>
              </a:rPr>
              <a:t>Data · UT readings matrix</a:t>
            </a:r>
            <a:endParaRPr sz="750" b="0" i="1">
              <a:solidFill>
                <a:srgbClr val="A8B8B4"/>
              </a:solidFill>
              <a:latin typeface="Arial" panose="020B0604020202090204"/>
            </a:endParaRPr>
          </a:p>
        </p:txBody>
      </p:sp>
      <p:pic>
        <p:nvPicPr>
          <p:cNvPr id="74" name="Picture 73" descr="12_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850" y="5029200"/>
            <a:ext cx="684499" cy="1481328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7863840" y="6537960"/>
            <a:ext cx="4160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A8B8B4"/>
                </a:solidFill>
                <a:latin typeface="Arial" panose="020B0604020202090204"/>
              </a:rPr>
              <a:t>Output · review &amp; report package</a:t>
            </a:r>
            <a:endParaRPr sz="750" b="0" i="1">
              <a:solidFill>
                <a:srgbClr val="A8B8B4"/>
              </a:solidFill>
              <a:latin typeface="Arial" panose="020B0604020202090204"/>
            </a:endParaRPr>
          </a:p>
        </p:txBody>
      </p:sp>
      <p:sp>
        <p:nvSpPr>
          <p:cNvPr id="76" name="Rectangle 75"/>
          <p:cNvSpPr/>
          <p:nvPr/>
        </p:nvSpPr>
        <p:spPr>
          <a:xfrm>
            <a:off x="0" y="6565392"/>
            <a:ext cx="12188952" cy="36576"/>
          </a:xfrm>
          <a:prstGeom prst="rect">
            <a:avLst/>
          </a:prstGeom>
          <a:solidFill>
            <a:srgbClr val="8AB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64592" y="6611112"/>
            <a:ext cx="548640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8B8B4"/>
                </a:solidFill>
                <a:latin typeface="Arial" panose="020B0604020202090204"/>
              </a:rPr>
              <a:t>S4 · Product Architecture</a:t>
            </a:r>
            <a:endParaRPr sz="750" b="0" i="0">
              <a:solidFill>
                <a:srgbClr val="A8B8B4"/>
              </a:solidFill>
              <a:latin typeface="Arial" panose="020B0604020202090204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6400800" y="6611112"/>
            <a:ext cx="5605272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A8B8B4"/>
                </a:solidFill>
                <a:latin typeface="Arial" panose="020B0604020202090204"/>
              </a:rPr>
              <a:t>LAIQ  ·  Confidential</a:t>
            </a:r>
            <a:endParaRPr sz="750" b="0" i="0">
              <a:solidFill>
                <a:srgbClr val="A8B8B4"/>
              </a:solidFill>
              <a:latin typeface="Arial" panose="020B0604020202090204"/>
            </a:endParaRPr>
          </a:p>
        </p:txBody>
      </p:sp>
      <p:pic>
        <p:nvPicPr>
          <p:cNvPr id="79" name="Picture 78" descr="laiq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91881" y="6565392"/>
            <a:ext cx="514190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" y="0"/>
            <a:ext cx="64008" cy="6858000"/>
          </a:xfrm>
          <a:prstGeom prst="rect">
            <a:avLst/>
          </a:prstGeom>
          <a:solidFill>
            <a:srgbClr val="DC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1521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75F5C"/>
                </a:solidFill>
                <a:latin typeface="Arial" panose="020B0604020202090204"/>
              </a:rPr>
              <a:t>BEACHHEAD MARKET</a:t>
            </a:r>
            <a:endParaRPr sz="850" b="1" i="0">
              <a:solidFill>
                <a:srgbClr val="075F5C"/>
              </a:solidFill>
              <a:latin typeface="Arial" panose="020B060402020209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521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75F5C"/>
                </a:solidFill>
                <a:latin typeface="Arial" panose="020B0604020202090204"/>
              </a:rPr>
              <a:t>Start with Oil &amp; Gas Tank Inspection</a:t>
            </a:r>
            <a:endParaRPr sz="2600" b="1" i="0">
              <a:solidFill>
                <a:srgbClr val="075F5C"/>
              </a:solidFill>
              <a:latin typeface="Arial" panose="020B060402020209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097280"/>
            <a:ext cx="11521440" cy="36576"/>
          </a:xfrm>
          <a:prstGeom prst="rect">
            <a:avLst/>
          </a:prstGeom>
          <a:solidFill>
            <a:srgbClr val="8AB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70432"/>
            <a:ext cx="11338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2625E"/>
                </a:solidFill>
                <a:latin typeface="Arial" panose="020B0604020202090204"/>
              </a:rPr>
              <a:t>Why this beachhead first: high-frequency inspection workflows, heavy capture burden, and reports that are still largely assembled manually.</a:t>
            </a:r>
            <a:endParaRPr sz="1050" b="0" i="0">
              <a:solidFill>
                <a:srgbClr val="52625E"/>
              </a:solidFill>
              <a:latin typeface="Arial" panose="020B060402020209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2920" y="1536192"/>
            <a:ext cx="3749039" cy="4572000"/>
          </a:xfrm>
          <a:prstGeom prst="rect">
            <a:avLst/>
          </a:prstGeom>
          <a:solidFill>
            <a:srgbClr val="F4F7F6"/>
          </a:solidFill>
          <a:ln w="635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700784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1628"/>
                </a:solidFill>
                <a:latin typeface="Arial" panose="020B0604020202090204"/>
              </a:rPr>
              <a:t>Inspection scale and burden</a:t>
            </a:r>
            <a:endParaRPr sz="1000" b="1" i="0">
              <a:solidFill>
                <a:srgbClr val="0A1628"/>
              </a:solidFill>
              <a:latin typeface="Arial" panose="020B060402020209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13232" y="192024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0" b="0" i="1">
                <a:solidFill>
                  <a:srgbClr val="A8B8B4"/>
                </a:solidFill>
                <a:latin typeface="Arial" panose="020B0604020202090204"/>
              </a:rPr>
              <a:t>Public tank counts are fragmented. Commercial terminal datasets still show a very large installed base.</a:t>
            </a:r>
            <a:endParaRPr sz="820" b="0" i="1">
              <a:solidFill>
                <a:srgbClr val="A8B8B4"/>
              </a:solidFill>
              <a:latin typeface="Arial" panose="020B060402020209020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13232" y="2322576"/>
            <a:ext cx="1609344" cy="1115568"/>
          </a:xfrm>
          <a:prstGeom prst="rect">
            <a:avLst/>
          </a:prstGeom>
          <a:solidFill>
            <a:srgbClr val="FFFFFF"/>
          </a:solidFill>
          <a:ln w="508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3232" y="2322576"/>
            <a:ext cx="54864" cy="1115568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432304"/>
            <a:ext cx="1316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75F5C"/>
                </a:solidFill>
                <a:latin typeface="Arial" panose="020B0604020202090204"/>
              </a:rPr>
              <a:t>10,100+</a:t>
            </a:r>
            <a:endParaRPr sz="1700" b="1" i="0">
              <a:solidFill>
                <a:srgbClr val="075F5C"/>
              </a:solidFill>
              <a:latin typeface="Arial" panose="020B060402020209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59536" y="2779776"/>
            <a:ext cx="13167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70" b="0" i="0">
                <a:solidFill>
                  <a:srgbClr val="17201E"/>
                </a:solidFill>
                <a:latin typeface="Arial" panose="020B0604020202090204"/>
              </a:rPr>
              <a:t>tank terminals worldwide
in TankTerminals demo scope</a:t>
            </a:r>
            <a:endParaRPr sz="770" b="0" i="0">
              <a:solidFill>
                <a:srgbClr val="17201E"/>
              </a:solidFill>
              <a:latin typeface="Arial" panose="020B0604020202090204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487168" y="2322576"/>
            <a:ext cx="1609344" cy="1115568"/>
          </a:xfrm>
          <a:prstGeom prst="rect">
            <a:avLst/>
          </a:prstGeom>
          <a:solidFill>
            <a:srgbClr val="FFFFFF"/>
          </a:solidFill>
          <a:ln w="508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87168" y="2322576"/>
            <a:ext cx="54864" cy="1115568"/>
          </a:xfrm>
          <a:prstGeom prst="rect">
            <a:avLst/>
          </a:prstGeom>
          <a:solidFill>
            <a:srgbClr val="4A8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33472" y="2432304"/>
            <a:ext cx="1316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4A807C"/>
                </a:solidFill>
                <a:latin typeface="Arial" panose="020B0604020202090204"/>
              </a:rPr>
              <a:t>12,600+</a:t>
            </a:r>
            <a:endParaRPr sz="1700" b="1" i="0">
              <a:solidFill>
                <a:srgbClr val="4A807C"/>
              </a:solidFill>
              <a:latin typeface="Arial" panose="020B060402020209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633472" y="2779776"/>
            <a:ext cx="13167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70" b="0" i="0">
                <a:solidFill>
                  <a:srgbClr val="17201E"/>
                </a:solidFill>
                <a:latin typeface="Arial" panose="020B0604020202090204"/>
              </a:rPr>
              <a:t>tank storage facilities in
broader platform scope</a:t>
            </a:r>
            <a:endParaRPr sz="770" b="0" i="0">
              <a:solidFill>
                <a:srgbClr val="17201E"/>
              </a:solidFill>
              <a:latin typeface="Arial" panose="020B0604020202090204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13232" y="3675887"/>
            <a:ext cx="1609344" cy="1115568"/>
          </a:xfrm>
          <a:prstGeom prst="rect">
            <a:avLst/>
          </a:prstGeom>
          <a:solidFill>
            <a:srgbClr val="FFFFFF"/>
          </a:solidFill>
          <a:ln w="508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3232" y="3675887"/>
            <a:ext cx="54864" cy="111556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3785615"/>
            <a:ext cx="1316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E67E22"/>
                </a:solidFill>
                <a:latin typeface="Arial" panose="020B0604020202090204"/>
              </a:rPr>
              <a:t>~1,000–2,000+</a:t>
            </a:r>
            <a:endParaRPr sz="1700" b="1" i="0">
              <a:solidFill>
                <a:srgbClr val="E67E22"/>
              </a:solidFill>
              <a:latin typeface="Arial" panose="020B060402020209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59536" y="4133087"/>
            <a:ext cx="13167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70" b="0" i="0">
                <a:solidFill>
                  <a:srgbClr val="17201E"/>
                </a:solidFill>
                <a:latin typeface="Arial" panose="020B0604020202090204"/>
              </a:rPr>
              <a:t>terminal-level external inspection
cycles per year at a 5-year cadence</a:t>
            </a:r>
            <a:endParaRPr sz="770" b="0" i="0">
              <a:solidFill>
                <a:srgbClr val="17201E"/>
              </a:solidFill>
              <a:latin typeface="Arial" panose="020B0604020202090204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487168" y="3675887"/>
            <a:ext cx="1609344" cy="1115568"/>
          </a:xfrm>
          <a:prstGeom prst="rect">
            <a:avLst/>
          </a:prstGeom>
          <a:solidFill>
            <a:srgbClr val="FFFFFF"/>
          </a:solidFill>
          <a:ln w="508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487168" y="3675887"/>
            <a:ext cx="54864" cy="111556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33472" y="3785615"/>
            <a:ext cx="1316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A1628"/>
                </a:solidFill>
                <a:latin typeface="Arial" panose="020B0604020202090204"/>
              </a:rPr>
              <a:t>580+</a:t>
            </a:r>
            <a:endParaRPr sz="1700" b="1" i="0">
              <a:solidFill>
                <a:srgbClr val="0A1628"/>
              </a:solidFill>
              <a:latin typeface="Arial" panose="020B060402020209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633472" y="4133087"/>
            <a:ext cx="13167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70" b="0" i="0">
                <a:solidFill>
                  <a:srgbClr val="17201E"/>
                </a:solidFill>
                <a:latin typeface="Arial" panose="020B0604020202090204"/>
              </a:rPr>
              <a:t>structured capture points in one sample tank report
before photos and MFL maps</a:t>
            </a:r>
            <a:endParaRPr sz="770" b="0" i="0">
              <a:solidFill>
                <a:srgbClr val="17201E"/>
              </a:solidFill>
              <a:latin typeface="Arial" panose="020B0604020202090204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713232" y="5138928"/>
            <a:ext cx="3328416" cy="749808"/>
          </a:xfrm>
          <a:prstGeom prst="rect">
            <a:avLst/>
          </a:prstGeom>
          <a:solidFill>
            <a:srgbClr val="FFFFFF"/>
          </a:solidFill>
          <a:ln w="508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" y="5285232"/>
            <a:ext cx="1645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75F5C"/>
                </a:solidFill>
                <a:latin typeface="Arial" panose="020B0604020202090204"/>
              </a:rPr>
              <a:t>Sample report burden</a:t>
            </a:r>
            <a:endParaRPr sz="950" b="1" i="0">
              <a:solidFill>
                <a:srgbClr val="075F5C"/>
              </a:solidFill>
              <a:latin typeface="Arial" panose="020B060402020209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77824" y="5504688"/>
            <a:ext cx="2834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40" b="0" i="0">
                <a:solidFill>
                  <a:srgbClr val="17201E"/>
                </a:solidFill>
                <a:latin typeface="Arial" panose="020B0604020202090204"/>
              </a:rPr>
              <a:t>36–74 pages
9.5k–12.3k words
195 checklist items
~385 UT readings</a:t>
            </a:r>
            <a:endParaRPr sz="840" b="0" i="0">
              <a:solidFill>
                <a:srgbClr val="17201E"/>
              </a:solidFill>
              <a:latin typeface="Arial" panose="020B0604020202090204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4462272" y="1536192"/>
            <a:ext cx="3822191" cy="4572000"/>
          </a:xfrm>
          <a:prstGeom prst="rect">
            <a:avLst/>
          </a:prstGeom>
          <a:solidFill>
            <a:srgbClr val="DCEFE9"/>
          </a:solidFill>
          <a:ln w="635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462272" y="1536192"/>
            <a:ext cx="3822191" cy="493776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81728" y="1664208"/>
            <a:ext cx="3383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20" b="1" i="0">
                <a:solidFill>
                  <a:srgbClr val="FFFFFF"/>
                </a:solidFill>
                <a:latin typeface="Arial" panose="020B0604020202090204"/>
              </a:rPr>
              <a:t>Solution — structured field capture to AI report package</a:t>
            </a:r>
            <a:endParaRPr sz="1020" b="1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663440" y="2194560"/>
            <a:ext cx="34015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60" b="0" i="0">
                <a:solidFill>
                  <a:srgbClr val="52625E"/>
                </a:solidFill>
                <a:latin typeface="Arial" panose="020B0604020202090204"/>
              </a:rPr>
              <a:t>Today: notebook → Excel → photo folder → report assembly</a:t>
            </a:r>
            <a:endParaRPr sz="860" b="0" i="0">
              <a:solidFill>
                <a:srgbClr val="52625E"/>
              </a:solidFill>
              <a:latin typeface="Arial" panose="020B0604020202090204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4681728" y="2487168"/>
            <a:ext cx="804672" cy="420624"/>
          </a:xfrm>
          <a:prstGeom prst="rect">
            <a:avLst/>
          </a:prstGeom>
          <a:solidFill>
            <a:srgbClr val="60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4880" y="2542032"/>
            <a:ext cx="6583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20" b="1" i="0">
                <a:solidFill>
                  <a:srgbClr val="FFFFFF"/>
                </a:solidFill>
                <a:latin typeface="Arial" panose="020B0604020202090204"/>
              </a:rPr>
              <a:t>Field
Capture</a:t>
            </a:r>
            <a:endParaRPr sz="820" b="1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522976" y="2496312"/>
            <a:ext cx="21945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52625E"/>
                </a:solidFill>
                <a:latin typeface="Arial" panose="020B0604020202090204"/>
              </a:rPr>
              <a:t>▶</a:t>
            </a:r>
            <a:endParaRPr sz="1000" b="1" i="0">
              <a:solidFill>
                <a:srgbClr val="52625E"/>
              </a:solidFill>
              <a:latin typeface="Arial" panose="020B0604020202090204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5650992" y="2487168"/>
            <a:ext cx="804672" cy="420624"/>
          </a:xfrm>
          <a:prstGeom prst="rect">
            <a:avLst/>
          </a:prstGeom>
          <a:solidFill>
            <a:srgbClr val="60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724144" y="2542032"/>
            <a:ext cx="6583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20" b="1" i="0">
                <a:solidFill>
                  <a:srgbClr val="FFFFFF"/>
                </a:solidFill>
                <a:latin typeface="Arial" panose="020B0604020202090204"/>
              </a:rPr>
              <a:t>Excel
Re-key</a:t>
            </a:r>
            <a:endParaRPr sz="820" b="1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492240" y="2496312"/>
            <a:ext cx="21945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52625E"/>
                </a:solidFill>
                <a:latin typeface="Arial" panose="020B0604020202090204"/>
              </a:rPr>
              <a:t>▶</a:t>
            </a:r>
            <a:endParaRPr sz="1000" b="1" i="0">
              <a:solidFill>
                <a:srgbClr val="52625E"/>
              </a:solidFill>
              <a:latin typeface="Arial" panose="020B0604020202090204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6620256" y="2487168"/>
            <a:ext cx="804672" cy="420624"/>
          </a:xfrm>
          <a:prstGeom prst="rect">
            <a:avLst/>
          </a:prstGeom>
          <a:solidFill>
            <a:srgbClr val="60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93408" y="2542032"/>
            <a:ext cx="6583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20" b="1" i="0">
                <a:solidFill>
                  <a:srgbClr val="FFFFFF"/>
                </a:solidFill>
                <a:latin typeface="Arial" panose="020B0604020202090204"/>
              </a:rPr>
              <a:t>Photo
Folder</a:t>
            </a:r>
            <a:endParaRPr sz="820" b="1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839712" y="2962656"/>
            <a:ext cx="36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2625E"/>
                </a:solidFill>
                <a:latin typeface="Arial" panose="020B0604020202090204"/>
              </a:rPr>
              <a:t>↓</a:t>
            </a:r>
            <a:endParaRPr sz="1400" b="1" i="0">
              <a:solidFill>
                <a:srgbClr val="52625E"/>
              </a:solidFill>
              <a:latin typeface="Arial" panose="020B0604020202090204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6620256" y="3182112"/>
            <a:ext cx="804672" cy="420624"/>
          </a:xfrm>
          <a:prstGeom prst="rect">
            <a:avLst/>
          </a:prstGeom>
          <a:solidFill>
            <a:srgbClr val="60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93408" y="3236976"/>
            <a:ext cx="6583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20" b="1" i="0">
                <a:solidFill>
                  <a:srgbClr val="FFFFFF"/>
                </a:solidFill>
                <a:latin typeface="Arial" panose="020B0604020202090204"/>
              </a:rPr>
              <a:t>Manual
Report</a:t>
            </a:r>
            <a:endParaRPr sz="820" b="1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4663440" y="3694176"/>
            <a:ext cx="1993392" cy="1755648"/>
          </a:xfrm>
          <a:prstGeom prst="rect">
            <a:avLst/>
          </a:prstGeom>
          <a:solidFill>
            <a:srgbClr val="DC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atex_pda_mocku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6592" y="4051467"/>
            <a:ext cx="1847088" cy="1041064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4882896" y="5486400"/>
            <a:ext cx="157276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A8B8B4"/>
                </a:solidFill>
                <a:latin typeface="Arial" panose="020B0604020202090204"/>
              </a:rPr>
              <a:t>LAIQ field workflow</a:t>
            </a:r>
            <a:endParaRPr sz="750" b="0" i="1">
              <a:solidFill>
                <a:srgbClr val="A8B8B4"/>
              </a:solidFill>
              <a:latin typeface="Arial" panose="020B0604020202090204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876288" y="4096512"/>
            <a:ext cx="384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75F5C"/>
                </a:solidFill>
                <a:latin typeface="Arial" panose="020B0604020202090204"/>
              </a:rPr>
              <a:t>AI</a:t>
            </a:r>
            <a:endParaRPr sz="1800" b="1" i="0">
              <a:solidFill>
                <a:srgbClr val="075F5C"/>
              </a:solidFill>
              <a:latin typeface="Arial" panose="020B0604020202090204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638544" y="4443984"/>
            <a:ext cx="2194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75F5C"/>
                </a:solidFill>
                <a:latin typeface="Arial" panose="020B0604020202090204"/>
              </a:rPr>
              <a:t>▶</a:t>
            </a:r>
            <a:endParaRPr sz="1600" b="1" i="0">
              <a:solidFill>
                <a:srgbClr val="075F5C"/>
              </a:solidFill>
              <a:latin typeface="Arial" panose="020B0604020202090204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7278624" y="4443984"/>
            <a:ext cx="2194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75F5C"/>
                </a:solidFill>
                <a:latin typeface="Arial" panose="020B0604020202090204"/>
              </a:rPr>
              <a:t>▶</a:t>
            </a:r>
            <a:endParaRPr sz="1600" b="1" i="0">
              <a:solidFill>
                <a:srgbClr val="075F5C"/>
              </a:solidFill>
              <a:latin typeface="Arial" panose="020B0604020202090204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7406640" y="3675887"/>
            <a:ext cx="658368" cy="1810512"/>
          </a:xfrm>
          <a:prstGeom prst="rect">
            <a:avLst/>
          </a:prstGeom>
          <a:solidFill>
            <a:srgbClr val="FFFFFF"/>
          </a:solidFill>
          <a:ln w="381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report_sample_shell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9792" y="4219068"/>
            <a:ext cx="512063" cy="724151"/>
          </a:xfrm>
          <a:prstGeom prst="rect">
            <a:avLst/>
          </a:prstGeom>
        </p:spPr>
      </p:pic>
      <p:sp>
        <p:nvSpPr>
          <p:cNvPr id="53" name="Rectangle 52"/>
          <p:cNvSpPr/>
          <p:nvPr/>
        </p:nvSpPr>
        <p:spPr>
          <a:xfrm>
            <a:off x="7461504" y="3730752"/>
            <a:ext cx="54864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461504" y="5230368"/>
            <a:ext cx="548640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187184" y="5486400"/>
            <a:ext cx="1078992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A8B8B4"/>
                </a:solidFill>
                <a:latin typeface="Arial" panose="020B0604020202090204"/>
              </a:rPr>
              <a:t>AI report output</a:t>
            </a:r>
            <a:endParaRPr sz="750" b="0" i="1">
              <a:solidFill>
                <a:srgbClr val="A8B8B4"/>
              </a:solidFill>
              <a:latin typeface="Arial" panose="020B0604020202090204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4681728" y="5669280"/>
            <a:ext cx="3383280" cy="274320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791456" y="5742432"/>
            <a:ext cx="316382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40" b="1" i="0">
                <a:solidFill>
                  <a:srgbClr val="FFFFFF"/>
                </a:solidFill>
                <a:latin typeface="Arial" panose="020B0604020202090204"/>
              </a:rPr>
              <a:t>1 capture path → structured record → report draft</a:t>
            </a:r>
            <a:endParaRPr sz="840" b="1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8485632" y="1536192"/>
            <a:ext cx="3557016" cy="4572000"/>
          </a:xfrm>
          <a:prstGeom prst="rect">
            <a:avLst/>
          </a:prstGeom>
          <a:solidFill>
            <a:srgbClr val="F4F7F6"/>
          </a:solidFill>
          <a:ln w="635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705088" y="1700784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1628"/>
                </a:solidFill>
                <a:latin typeface="Arial" panose="020B0604020202090204"/>
              </a:rPr>
              <a:t>What LAIQ changes</a:t>
            </a:r>
            <a:endParaRPr sz="1000" b="1" i="0">
              <a:solidFill>
                <a:srgbClr val="0A1628"/>
              </a:solidFill>
              <a:latin typeface="Arial" panose="020B0604020202090204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8705088" y="1993392"/>
            <a:ext cx="3127248" cy="749808"/>
          </a:xfrm>
          <a:prstGeom prst="rect">
            <a:avLst/>
          </a:prstGeom>
          <a:solidFill>
            <a:srgbClr val="FFFFFF"/>
          </a:solidFill>
          <a:ln w="508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705088" y="1993392"/>
            <a:ext cx="64008" cy="749808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887968" y="2084832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1" i="0">
                <a:solidFill>
                  <a:srgbClr val="17201E"/>
                </a:solidFill>
                <a:latin typeface="Arial" panose="020B0604020202090204"/>
              </a:rPr>
              <a:t>One-time capture</a:t>
            </a:r>
            <a:endParaRPr sz="940" b="1" i="0">
              <a:solidFill>
                <a:srgbClr val="17201E"/>
              </a:solidFill>
              <a:latin typeface="Arial" panose="020B0604020202090204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8887968" y="230428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0" b="0" i="0">
                <a:solidFill>
                  <a:srgbClr val="52625E"/>
                </a:solidFill>
                <a:latin typeface="Arial" panose="020B0604020202090204"/>
              </a:rPr>
              <a:t>No notebook → Excel → report re-key chain</a:t>
            </a:r>
            <a:endParaRPr sz="820" b="0" i="0">
              <a:solidFill>
                <a:srgbClr val="52625E"/>
              </a:solidFill>
              <a:latin typeface="Arial" panose="020B0604020202090204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8705088" y="2944368"/>
            <a:ext cx="3127248" cy="749808"/>
          </a:xfrm>
          <a:prstGeom prst="rect">
            <a:avLst/>
          </a:prstGeom>
          <a:solidFill>
            <a:srgbClr val="FFFFFF"/>
          </a:solidFill>
          <a:ln w="508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705088" y="2944368"/>
            <a:ext cx="64008" cy="749808"/>
          </a:xfrm>
          <a:prstGeom prst="rect">
            <a:avLst/>
          </a:prstGeom>
          <a:solidFill>
            <a:srgbClr val="4A8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887968" y="3035808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1" i="0">
                <a:solidFill>
                  <a:srgbClr val="17201E"/>
                </a:solidFill>
                <a:latin typeface="Arial" panose="020B0604020202090204"/>
              </a:rPr>
              <a:t>Structured evidence</a:t>
            </a:r>
            <a:endParaRPr sz="940" b="1" i="0">
              <a:solidFill>
                <a:srgbClr val="17201E"/>
              </a:solidFill>
              <a:latin typeface="Arial" panose="020B0604020202090204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8887968" y="325526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0" b="0" i="0">
                <a:solidFill>
                  <a:srgbClr val="52625E"/>
                </a:solidFill>
                <a:latin typeface="Arial" panose="020B0604020202090204"/>
              </a:rPr>
              <a:t>UT, findings, photos, and MFL stay linked at source</a:t>
            </a:r>
            <a:endParaRPr sz="820" b="0" i="0">
              <a:solidFill>
                <a:srgbClr val="52625E"/>
              </a:solidFill>
              <a:latin typeface="Arial" panose="020B0604020202090204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8705088" y="3895344"/>
            <a:ext cx="3127248" cy="749808"/>
          </a:xfrm>
          <a:prstGeom prst="rect">
            <a:avLst/>
          </a:prstGeom>
          <a:solidFill>
            <a:srgbClr val="FFFFFF"/>
          </a:solidFill>
          <a:ln w="508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705088" y="3895344"/>
            <a:ext cx="64008" cy="74980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887968" y="3986783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1" i="0">
                <a:solidFill>
                  <a:srgbClr val="17201E"/>
                </a:solidFill>
                <a:latin typeface="Arial" panose="020B0604020202090204"/>
              </a:rPr>
              <a:t>1-click report draft</a:t>
            </a:r>
            <a:endParaRPr sz="940" b="1" i="0">
              <a:solidFill>
                <a:srgbClr val="17201E"/>
              </a:solidFill>
              <a:latin typeface="Arial" panose="020B0604020202090204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8887968" y="420624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0" b="0" i="0">
                <a:solidFill>
                  <a:srgbClr val="52625E"/>
                </a:solidFill>
                <a:latin typeface="Arial" panose="020B0604020202090204"/>
              </a:rPr>
              <a:t>Tables, findings register, and evidence pack assemble from the same record</a:t>
            </a:r>
            <a:endParaRPr sz="820" b="0" i="0">
              <a:solidFill>
                <a:srgbClr val="52625E"/>
              </a:solidFill>
              <a:latin typeface="Arial" panose="020B0604020202090204"/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8705088" y="4846320"/>
            <a:ext cx="3127248" cy="749808"/>
          </a:xfrm>
          <a:prstGeom prst="rect">
            <a:avLst/>
          </a:prstGeom>
          <a:solidFill>
            <a:srgbClr val="FFFFFF"/>
          </a:solidFill>
          <a:ln w="508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705088" y="4846320"/>
            <a:ext cx="64008" cy="74980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887968" y="4937760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1" i="0">
                <a:solidFill>
                  <a:srgbClr val="17201E"/>
                </a:solidFill>
                <a:latin typeface="Arial" panose="020B0604020202090204"/>
              </a:rPr>
              <a:t>Asset history starts now</a:t>
            </a:r>
            <a:endParaRPr sz="940" b="1" i="0">
              <a:solidFill>
                <a:srgbClr val="17201E"/>
              </a:solidFill>
              <a:latin typeface="Arial" panose="020B0604020202090204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8887968" y="515721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0" b="0" i="0">
                <a:solidFill>
                  <a:srgbClr val="52625E"/>
                </a:solidFill>
                <a:latin typeface="Arial" panose="020B0604020202090204"/>
              </a:rPr>
              <a:t>Every finished report becomes reusable inspection memory</a:t>
            </a:r>
            <a:endParaRPr sz="820" b="0" i="0">
              <a:solidFill>
                <a:srgbClr val="52625E"/>
              </a:solidFill>
              <a:latin typeface="Arial" panose="020B0604020202090204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658368" y="6309360"/>
            <a:ext cx="110642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60" b="0" i="1">
                <a:solidFill>
                  <a:srgbClr val="A8B8B4"/>
                </a:solidFill>
                <a:latin typeface="Arial" panose="020B0604020202090204"/>
              </a:rPr>
              <a:t>Source note: TankTerminals commercial database pages; 5-year external inspection cadence from API 653 market-practice references; sample-report burden from LAIQ analysis of 3 reports in /data.</a:t>
            </a:r>
            <a:endParaRPr sz="660" b="0" i="1">
              <a:solidFill>
                <a:srgbClr val="A8B8B4"/>
              </a:solidFill>
              <a:latin typeface="Arial" panose="020B0604020202090204"/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0" y="6565392"/>
            <a:ext cx="12188952" cy="36576"/>
          </a:xfrm>
          <a:prstGeom prst="rect">
            <a:avLst/>
          </a:prstGeom>
          <a:solidFill>
            <a:srgbClr val="8AB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4592" y="6611112"/>
            <a:ext cx="548640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8B8B4"/>
                </a:solidFill>
                <a:latin typeface="Arial" panose="020B0604020202090204"/>
              </a:rPr>
              <a:t>S5 · Beachhead</a:t>
            </a:r>
            <a:endParaRPr sz="750" b="0" i="0">
              <a:solidFill>
                <a:srgbClr val="A8B8B4"/>
              </a:solidFill>
              <a:latin typeface="Arial" panose="020B0604020202090204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6400800" y="6611112"/>
            <a:ext cx="5605272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A8B8B4"/>
                </a:solidFill>
                <a:latin typeface="Arial" panose="020B0604020202090204"/>
              </a:rPr>
              <a:t>LAIQ  ·  Confidential</a:t>
            </a:r>
            <a:endParaRPr sz="750" b="0" i="0">
              <a:solidFill>
                <a:srgbClr val="A8B8B4"/>
              </a:solidFill>
              <a:latin typeface="Arial" panose="020B0604020202090204"/>
            </a:endParaRPr>
          </a:p>
        </p:txBody>
      </p:sp>
      <p:pic>
        <p:nvPicPr>
          <p:cNvPr id="80" name="Picture 79" descr="laiq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91881" y="6565392"/>
            <a:ext cx="514190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" y="0"/>
            <a:ext cx="64008" cy="6858000"/>
          </a:xfrm>
          <a:prstGeom prst="rect">
            <a:avLst/>
          </a:prstGeom>
          <a:solidFill>
            <a:srgbClr val="DC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1521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75F5C"/>
                </a:solidFill>
                <a:latin typeface="Arial" panose="020B0604020202090204"/>
              </a:rPr>
              <a:t>BUSINESS MODEL</a:t>
            </a:r>
            <a:endParaRPr sz="850" b="1" i="0">
              <a:solidFill>
                <a:srgbClr val="075F5C"/>
              </a:solidFill>
              <a:latin typeface="Arial" panose="020B060402020209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521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75F5C"/>
                </a:solidFill>
                <a:latin typeface="Arial" panose="020B0604020202090204"/>
              </a:rPr>
              <a:t>Free Capture Creates Paid Report Volume</a:t>
            </a:r>
            <a:endParaRPr sz="2600" b="1" i="0">
              <a:solidFill>
                <a:srgbClr val="075F5C"/>
              </a:solidFill>
              <a:latin typeface="Arial" panose="020B060402020209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097280"/>
            <a:ext cx="11521440" cy="36576"/>
          </a:xfrm>
          <a:prstGeom prst="rect">
            <a:avLst/>
          </a:prstGeom>
          <a:solidFill>
            <a:srgbClr val="8AB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70432"/>
            <a:ext cx="11338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2625E"/>
                </a:solidFill>
                <a:latin typeface="Arial" panose="020B0604020202090204"/>
              </a:rPr>
              <a:t>The model starts with low-friction adoption, then monetises the report package and expands into recurring intelligence products.</a:t>
            </a:r>
            <a:endParaRPr sz="1050" b="0" i="0">
              <a:solidFill>
                <a:srgbClr val="52625E"/>
              </a:solidFill>
              <a:latin typeface="Arial" panose="020B060402020209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1628"/>
                </a:solidFill>
                <a:latin typeface="Arial" panose="020B0604020202090204"/>
              </a:rPr>
              <a:t>Commercial stack</a:t>
            </a:r>
            <a:endParaRPr sz="1000" b="1" i="0">
              <a:solidFill>
                <a:srgbClr val="0A1628"/>
              </a:solidFill>
              <a:latin typeface="Arial" panose="020B06040202020902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02920" y="1865376"/>
            <a:ext cx="4892040" cy="749808"/>
          </a:xfrm>
          <a:prstGeom prst="rect">
            <a:avLst/>
          </a:prstGeom>
          <a:solidFill>
            <a:srgbClr val="F4F7F6"/>
          </a:solidFill>
          <a:ln w="508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865376"/>
            <a:ext cx="82296" cy="749808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1956816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7201E"/>
                </a:solidFill>
                <a:latin typeface="Arial" panose="020B0604020202090204"/>
              </a:rPr>
              <a:t>1. Device</a:t>
            </a:r>
            <a:endParaRPr sz="950" b="1" i="0">
              <a:solidFill>
                <a:srgbClr val="17201E"/>
              </a:solidFill>
              <a:latin typeface="Arial" panose="020B060402020209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874519" y="1956816"/>
            <a:ext cx="2148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52625E"/>
                </a:solidFill>
                <a:latin typeface="Arial" panose="020B0604020202090204"/>
              </a:rPr>
              <a:t>ATEX/IECEx field device</a:t>
            </a:r>
            <a:endParaRPr sz="880" b="0" i="0">
              <a:solidFill>
                <a:srgbClr val="52625E"/>
              </a:solidFill>
              <a:latin typeface="Arial" panose="020B060402020209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474720" y="223113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75F5C"/>
                </a:solidFill>
                <a:latin typeface="Arial" panose="020B0604020202090204"/>
              </a:rPr>
              <a:t>USD 5,000 / device</a:t>
            </a:r>
            <a:endParaRPr sz="1200" b="1" i="0">
              <a:solidFill>
                <a:srgbClr val="075F5C"/>
              </a:solidFill>
              <a:latin typeface="Arial" panose="020B060402020209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02920" y="2798064"/>
            <a:ext cx="4892040" cy="749808"/>
          </a:xfrm>
          <a:prstGeom prst="rect">
            <a:avLst/>
          </a:prstGeom>
          <a:solidFill>
            <a:srgbClr val="F4F7F6"/>
          </a:solidFill>
          <a:ln w="508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2798064"/>
            <a:ext cx="82296" cy="749808"/>
          </a:xfrm>
          <a:prstGeom prst="rect">
            <a:avLst/>
          </a:prstGeom>
          <a:solidFill>
            <a:srgbClr val="4A8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" y="2889504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7201E"/>
                </a:solidFill>
                <a:latin typeface="Arial" panose="020B0604020202090204"/>
              </a:rPr>
              <a:t>2. Seats</a:t>
            </a:r>
            <a:endParaRPr sz="950" b="1" i="0">
              <a:solidFill>
                <a:srgbClr val="17201E"/>
              </a:solidFill>
              <a:latin typeface="Arial" panose="020B060402020209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874519" y="2889504"/>
            <a:ext cx="2148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52625E"/>
                </a:solidFill>
                <a:latin typeface="Arial" panose="020B0604020202090204"/>
              </a:rPr>
              <a:t>Inspectors and reviewers</a:t>
            </a:r>
            <a:endParaRPr sz="880" b="0" i="0">
              <a:solidFill>
                <a:srgbClr val="52625E"/>
              </a:solidFill>
              <a:latin typeface="Arial" panose="020B060402020209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474720" y="3163824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4A807C"/>
                </a:solidFill>
                <a:latin typeface="Arial" panose="020B0604020202090204"/>
              </a:rPr>
              <a:t>USD 50–80 / user / year</a:t>
            </a:r>
            <a:endParaRPr sz="1200" b="1" i="0">
              <a:solidFill>
                <a:srgbClr val="4A807C"/>
              </a:solidFill>
              <a:latin typeface="Arial" panose="020B0604020202090204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02920" y="3730752"/>
            <a:ext cx="4892040" cy="749808"/>
          </a:xfrm>
          <a:prstGeom prst="rect">
            <a:avLst/>
          </a:prstGeom>
          <a:solidFill>
            <a:srgbClr val="F4F7F6"/>
          </a:solidFill>
          <a:ln w="508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3730752"/>
            <a:ext cx="82296" cy="74980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" y="3822191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7201E"/>
                </a:solidFill>
                <a:latin typeface="Arial" panose="020B0604020202090204"/>
              </a:rPr>
              <a:t>3. Reports</a:t>
            </a:r>
            <a:endParaRPr sz="950" b="1" i="0">
              <a:solidFill>
                <a:srgbClr val="17201E"/>
              </a:solidFill>
              <a:latin typeface="Arial" panose="020B060402020209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874519" y="3822191"/>
            <a:ext cx="2148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52625E"/>
                </a:solidFill>
                <a:latin typeface="Arial" panose="020B0604020202090204"/>
              </a:rPr>
              <a:t>AI-generated inspection package</a:t>
            </a:r>
            <a:endParaRPr sz="880" b="0" i="0">
              <a:solidFill>
                <a:srgbClr val="52625E"/>
              </a:solidFill>
              <a:latin typeface="Arial" panose="020B060402020209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474720" y="409651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E67E22"/>
                </a:solidFill>
                <a:latin typeface="Arial" panose="020B0604020202090204"/>
              </a:rPr>
              <a:t>USD 50–300 / report</a:t>
            </a:r>
            <a:endParaRPr sz="1200" b="1" i="0">
              <a:solidFill>
                <a:srgbClr val="E67E22"/>
              </a:solidFill>
              <a:latin typeface="Arial" panose="020B0604020202090204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02920" y="4663440"/>
            <a:ext cx="4892040" cy="749808"/>
          </a:xfrm>
          <a:prstGeom prst="rect">
            <a:avLst/>
          </a:prstGeom>
          <a:solidFill>
            <a:srgbClr val="F4F7F6"/>
          </a:solidFill>
          <a:ln w="508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4663440"/>
            <a:ext cx="82296" cy="74980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" y="4754879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7201E"/>
                </a:solidFill>
                <a:latin typeface="Arial" panose="020B0604020202090204"/>
              </a:rPr>
              <a:t>4. Enterprise</a:t>
            </a:r>
            <a:endParaRPr sz="950" b="1" i="0">
              <a:solidFill>
                <a:srgbClr val="17201E"/>
              </a:solidFill>
              <a:latin typeface="Arial" panose="020B060402020209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874519" y="4754879"/>
            <a:ext cx="2148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52625E"/>
                </a:solidFill>
                <a:latin typeface="Arial" panose="020B0604020202090204"/>
              </a:rPr>
              <a:t>Asset memory + reliability modules</a:t>
            </a:r>
            <a:endParaRPr sz="880" b="0" i="0">
              <a:solidFill>
                <a:srgbClr val="52625E"/>
              </a:solidFill>
              <a:latin typeface="Arial" panose="020B060402020209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474720" y="502920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A1628"/>
                </a:solidFill>
                <a:latin typeface="Arial" panose="020B0604020202090204"/>
              </a:rPr>
              <a:t>Premium subscription</a:t>
            </a:r>
            <a:endParaRPr sz="1200" b="1" i="0">
              <a:solidFill>
                <a:srgbClr val="0A1628"/>
              </a:solidFill>
              <a:latin typeface="Arial" panose="020B0604020202090204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502920" y="5760720"/>
            <a:ext cx="4892040" cy="438912"/>
          </a:xfrm>
          <a:prstGeom prst="rect">
            <a:avLst/>
          </a:prstGeom>
          <a:solidFill>
            <a:srgbClr val="DCEFE9"/>
          </a:solidFill>
          <a:ln w="635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5870448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1">
                <a:solidFill>
                  <a:srgbClr val="075F5C"/>
                </a:solidFill>
                <a:latin typeface="Arial" panose="020B0604020202090204"/>
              </a:rPr>
              <a:t>Free capture is an acquisition strategy. Paid value starts when LAIQ assembles the report package.</a:t>
            </a:r>
            <a:endParaRPr sz="880" b="0" i="1">
              <a:solidFill>
                <a:srgbClr val="075F5C"/>
              </a:solidFill>
              <a:latin typeface="Arial" panose="020B06040202020902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806440" y="1572768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1628"/>
                </a:solidFill>
                <a:latin typeface="Arial" panose="020B0604020202090204"/>
              </a:rPr>
              <a:t>Data flywheel</a:t>
            </a:r>
            <a:endParaRPr sz="1000" b="1" i="0">
              <a:solidFill>
                <a:srgbClr val="0A1628"/>
              </a:solidFill>
              <a:latin typeface="Arial" panose="020B0604020202090204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8001000" y="2743200"/>
            <a:ext cx="1920240" cy="950976"/>
          </a:xfrm>
          <a:prstGeom prst="ellipse">
            <a:avLst/>
          </a:prstGeom>
          <a:solidFill>
            <a:srgbClr val="DCEFE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83879" y="2907792"/>
            <a:ext cx="1554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75F5C"/>
                </a:solidFill>
                <a:latin typeface="Arial" panose="020B0604020202090204"/>
              </a:rPr>
              <a:t>Better
Report Agent</a:t>
            </a:r>
            <a:endParaRPr sz="1200" b="1" i="0">
              <a:solidFill>
                <a:srgbClr val="075F5C"/>
              </a:solidFill>
              <a:latin typeface="Arial" panose="020B0604020202090204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5897880" y="1920240"/>
            <a:ext cx="1755648" cy="676656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98464" y="2011680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rial" panose="020B0604020202090204"/>
              </a:rPr>
              <a:t>Free Capture</a:t>
            </a:r>
            <a:endParaRPr sz="950" b="1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998464" y="2249424"/>
            <a:ext cx="15544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DCEFE9"/>
                </a:solidFill>
                <a:latin typeface="Arial" panose="020B0604020202090204"/>
              </a:rPr>
              <a:t>more inspectors</a:t>
            </a:r>
            <a:endParaRPr sz="780" b="0" i="0">
              <a:solidFill>
                <a:srgbClr val="DCEFE9"/>
              </a:solidFill>
              <a:latin typeface="Arial" panose="020B0604020202090204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10058400" y="1920240"/>
            <a:ext cx="1755648" cy="676656"/>
          </a:xfrm>
          <a:prstGeom prst="rect">
            <a:avLst/>
          </a:prstGeom>
          <a:solidFill>
            <a:srgbClr val="4A8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149840" y="2011680"/>
            <a:ext cx="15727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rial" panose="020B0604020202090204"/>
              </a:rPr>
              <a:t>More Records</a:t>
            </a:r>
            <a:endParaRPr sz="950" b="1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0149840" y="2249424"/>
            <a:ext cx="157276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DCEFE9"/>
                </a:solidFill>
                <a:latin typeface="Arial" panose="020B0604020202090204"/>
              </a:rPr>
              <a:t>structured history</a:t>
            </a:r>
            <a:endParaRPr sz="780" b="0" i="0">
              <a:solidFill>
                <a:srgbClr val="DCEFE9"/>
              </a:solidFill>
              <a:latin typeface="Arial" panose="020B0604020202090204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10058400" y="3858768"/>
            <a:ext cx="1755648" cy="67665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49840" y="3950208"/>
            <a:ext cx="15727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rial" panose="020B0604020202090204"/>
              </a:rPr>
              <a:t>Paid Reports</a:t>
            </a:r>
            <a:endParaRPr sz="950" b="1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149840" y="4187952"/>
            <a:ext cx="157276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FDF0E0"/>
                </a:solidFill>
                <a:latin typeface="Arial" panose="020B0604020202090204"/>
              </a:rPr>
              <a:t>faster output</a:t>
            </a:r>
            <a:endParaRPr sz="780" b="0" i="0">
              <a:solidFill>
                <a:srgbClr val="FDF0E0"/>
              </a:solidFill>
              <a:latin typeface="Arial" panose="020B0604020202090204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5897880" y="3858768"/>
            <a:ext cx="1755648" cy="67665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98464" y="3950208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rial" panose="020B0604020202090204"/>
              </a:rPr>
              <a:t>Asset Memory</a:t>
            </a:r>
            <a:endParaRPr sz="950" b="1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998464" y="4187952"/>
            <a:ext cx="15544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60" b="0" i="0">
                <a:solidFill>
                  <a:srgbClr val="DCEFE9"/>
                </a:solidFill>
                <a:latin typeface="Arial" panose="020B0604020202090204"/>
              </a:rPr>
              <a:t>better recommendations</a:t>
            </a:r>
            <a:endParaRPr sz="760" b="0" i="0">
              <a:solidFill>
                <a:srgbClr val="DCEFE9"/>
              </a:solidFill>
              <a:latin typeface="Arial" panose="020B0604020202090204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7662672" y="2103120"/>
            <a:ext cx="2560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8ABBB6"/>
                </a:solidFill>
                <a:latin typeface="Arial" panose="020B0604020202090204"/>
              </a:rPr>
              <a:t>▶</a:t>
            </a:r>
            <a:endParaRPr sz="1600" b="1" i="0">
              <a:solidFill>
                <a:srgbClr val="8ABBB6"/>
              </a:solidFill>
              <a:latin typeface="Arial" panose="020B0604020202090204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0753344" y="2633472"/>
            <a:ext cx="2560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8ABBB6"/>
                </a:solidFill>
                <a:latin typeface="Arial" panose="020B0604020202090204"/>
              </a:rPr>
              <a:t>▼</a:t>
            </a:r>
            <a:endParaRPr sz="1600" b="1" i="0">
              <a:solidFill>
                <a:srgbClr val="8ABBB6"/>
              </a:solidFill>
              <a:latin typeface="Arial" panose="020B0604020202090204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7662672" y="4041648"/>
            <a:ext cx="2560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8ABBB6"/>
                </a:solidFill>
                <a:latin typeface="Arial" panose="020B0604020202090204"/>
              </a:rPr>
              <a:t>◀</a:t>
            </a:r>
            <a:endParaRPr sz="1600" b="1" i="0">
              <a:solidFill>
                <a:srgbClr val="8ABBB6"/>
              </a:solidFill>
              <a:latin typeface="Arial" panose="020B0604020202090204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7315200" y="2633472"/>
            <a:ext cx="2560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8ABBB6"/>
                </a:solidFill>
                <a:latin typeface="Arial" panose="020B0604020202090204"/>
              </a:rPr>
              <a:t>▲</a:t>
            </a:r>
            <a:endParaRPr sz="1600" b="1" i="0">
              <a:solidFill>
                <a:srgbClr val="8ABBB6"/>
              </a:solidFill>
              <a:latin typeface="Arial" panose="020B0604020202090204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5806440" y="4937760"/>
            <a:ext cx="6080760" cy="987552"/>
          </a:xfrm>
          <a:prstGeom prst="rect">
            <a:avLst/>
          </a:prstGeom>
          <a:solidFill>
            <a:srgbClr val="F4F7F6"/>
          </a:solidFill>
          <a:ln w="635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998464" y="5102352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75F5C"/>
                </a:solidFill>
                <a:latin typeface="Arial" panose="020B0604020202090204"/>
              </a:rPr>
              <a:t>Why this matters</a:t>
            </a:r>
            <a:endParaRPr sz="950" b="1" i="0">
              <a:solidFill>
                <a:srgbClr val="075F5C"/>
              </a:solidFill>
              <a:latin typeface="Arial" panose="020B0604020202090204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5998464" y="5376672"/>
            <a:ext cx="5532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20" b="0" i="0">
                <a:solidFill>
                  <a:srgbClr val="17201E"/>
                </a:solidFill>
                <a:latin typeface="Arial" panose="020B0604020202090204"/>
              </a:rPr>
              <a:t>Every completed report improves the structured dataset, which improves future report generation and makes higher-value intelligence products more credible.</a:t>
            </a:r>
            <a:endParaRPr sz="920" b="0" i="0">
              <a:solidFill>
                <a:srgbClr val="17201E"/>
              </a:solidFill>
              <a:latin typeface="Arial" panose="020B0604020202090204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0" y="6565392"/>
            <a:ext cx="12188952" cy="36576"/>
          </a:xfrm>
          <a:prstGeom prst="rect">
            <a:avLst/>
          </a:prstGeom>
          <a:solidFill>
            <a:srgbClr val="8AB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64592" y="6611112"/>
            <a:ext cx="548640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8B8B4"/>
                </a:solidFill>
                <a:latin typeface="Arial" panose="020B0604020202090204"/>
              </a:rPr>
              <a:t>S6 · Business Model</a:t>
            </a:r>
            <a:endParaRPr sz="750" b="0" i="0">
              <a:solidFill>
                <a:srgbClr val="A8B8B4"/>
              </a:solidFill>
              <a:latin typeface="Arial" panose="020B0604020202090204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6400800" y="6611112"/>
            <a:ext cx="5605272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A8B8B4"/>
                </a:solidFill>
                <a:latin typeface="Arial" panose="020B0604020202090204"/>
              </a:rPr>
              <a:t>LAIQ  ·  Confidential</a:t>
            </a:r>
            <a:endParaRPr sz="750" b="0" i="0">
              <a:solidFill>
                <a:srgbClr val="A8B8B4"/>
              </a:solidFill>
              <a:latin typeface="Arial" panose="020B0604020202090204"/>
            </a:endParaRPr>
          </a:p>
        </p:txBody>
      </p:sp>
      <p:pic>
        <p:nvPicPr>
          <p:cNvPr id="56" name="Picture 55" descr="laiq_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91881" y="6565392"/>
            <a:ext cx="514190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" y="0"/>
            <a:ext cx="64008" cy="6858000"/>
          </a:xfrm>
          <a:prstGeom prst="rect">
            <a:avLst/>
          </a:prstGeom>
          <a:solidFill>
            <a:srgbClr val="DC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1521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75F5C"/>
                </a:solidFill>
                <a:latin typeface="Arial" panose="020B0604020202090204"/>
              </a:rPr>
              <a:t>MARKET SIZE</a:t>
            </a:r>
            <a:endParaRPr sz="850" b="1" i="0">
              <a:solidFill>
                <a:srgbClr val="075F5C"/>
              </a:solidFill>
              <a:latin typeface="Arial" panose="020B060402020209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521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A1628"/>
                </a:solidFill>
                <a:latin typeface="Arial" panose="020B0604020202090204"/>
              </a:rPr>
              <a:t>Focused Oil &amp; Gas Entry, Larger Industrial Inspection TAM</a:t>
            </a:r>
            <a:endParaRPr sz="2600" b="1" i="0">
              <a:solidFill>
                <a:srgbClr val="0A1628"/>
              </a:solidFill>
              <a:latin typeface="Arial" panose="020B060402020209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097280"/>
            <a:ext cx="11521440" cy="36576"/>
          </a:xfrm>
          <a:prstGeom prst="rect">
            <a:avLst/>
          </a:prstGeom>
          <a:solidFill>
            <a:srgbClr val="8AB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70432"/>
            <a:ext cx="11338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2625E"/>
                </a:solidFill>
                <a:latin typeface="Arial" panose="020B0604020202090204"/>
              </a:rPr>
              <a:t>Use a narrow entry wedge first, then expand the same structured workflow into adjacent asset-heavy inspections.</a:t>
            </a:r>
            <a:endParaRPr sz="1050" b="0" i="0">
              <a:solidFill>
                <a:srgbClr val="52625E"/>
              </a:solidFill>
              <a:latin typeface="Arial" panose="020B060402020209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1628"/>
                </a:solidFill>
                <a:latin typeface="Arial" panose="020B0604020202090204"/>
              </a:rPr>
              <a:t>Addressable ladder</a:t>
            </a:r>
            <a:endParaRPr sz="1000" b="1" i="0">
              <a:solidFill>
                <a:srgbClr val="0A1628"/>
              </a:solidFill>
              <a:latin typeface="Arial" panose="020B06040202020902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02920" y="1883664"/>
            <a:ext cx="5852160" cy="841248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" y="199339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 panose="020B0604020202090204"/>
              </a:rPr>
              <a:t>TAM</a:t>
            </a:r>
            <a:endParaRPr sz="1000" b="1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600200" y="1975104"/>
            <a:ext cx="2331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 panose="020B0604020202090204"/>
              </a:rPr>
              <a:t>USD 1.9B–6.5B</a:t>
            </a:r>
            <a:endParaRPr sz="2000" b="1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050791" y="1993392"/>
            <a:ext cx="21762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DCEFE9"/>
                </a:solidFill>
                <a:latin typeface="Arial" panose="020B0604020202090204"/>
              </a:rPr>
              <a:t>Industrial inspection workflow + report layer</a:t>
            </a:r>
            <a:endParaRPr sz="880" b="0" i="0">
              <a:solidFill>
                <a:srgbClr val="DCEFE9"/>
              </a:solidFill>
              <a:latin typeface="Arial" panose="020B06040202020902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32104" y="2999232"/>
            <a:ext cx="5193792" cy="841248"/>
          </a:xfrm>
          <a:prstGeom prst="rect">
            <a:avLst/>
          </a:prstGeom>
          <a:solidFill>
            <a:srgbClr val="4A8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10896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 panose="020B0604020202090204"/>
              </a:rPr>
              <a:t>SAM</a:t>
            </a:r>
            <a:endParaRPr sz="1000" b="1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929384" y="3090672"/>
            <a:ext cx="2331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 panose="020B0604020202090204"/>
              </a:rPr>
              <a:t>USD 36M–134M</a:t>
            </a:r>
            <a:endParaRPr sz="2000" b="1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379976" y="3108960"/>
            <a:ext cx="151790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DCEFE9"/>
                </a:solidFill>
                <a:latin typeface="Arial" panose="020B0604020202090204"/>
              </a:rPr>
              <a:t>Digitally ready oil &amp; gas inspection workflows</a:t>
            </a:r>
            <a:endParaRPr sz="880" b="0" i="0">
              <a:solidFill>
                <a:srgbClr val="DCEFE9"/>
              </a:solidFill>
              <a:latin typeface="Arial" panose="020B0604020202090204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161288" y="4114800"/>
            <a:ext cx="4535424" cy="84124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9304" y="422452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 panose="020B0604020202090204"/>
              </a:rPr>
              <a:t>SOM</a:t>
            </a:r>
            <a:endParaRPr sz="1000" b="1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258568" y="4206240"/>
            <a:ext cx="2331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 panose="020B0604020202090204"/>
              </a:rPr>
              <a:t>USD 0.9M–7.1M</a:t>
            </a:r>
            <a:endParaRPr sz="2000" b="1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709160" y="4224528"/>
            <a:ext cx="8595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DCEFE9"/>
                </a:solidFill>
                <a:latin typeface="Arial" panose="020B0604020202090204"/>
              </a:rPr>
              <a:t>3-year beachhead in oil &amp; gas tank inspection</a:t>
            </a:r>
            <a:endParaRPr sz="880" b="0" i="0">
              <a:solidFill>
                <a:srgbClr val="DCEFE9"/>
              </a:solidFill>
              <a:latin typeface="Arial" panose="020B0604020202090204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02920" y="5358384"/>
            <a:ext cx="5669280" cy="493776"/>
          </a:xfrm>
          <a:prstGeom prst="rect">
            <a:avLst/>
          </a:prstGeom>
          <a:solidFill>
            <a:srgbClr val="DCEFE9"/>
          </a:solidFill>
          <a:ln w="635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5504688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0" b="0" i="1">
                <a:solidFill>
                  <a:srgbClr val="075F5C"/>
                </a:solidFill>
                <a:latin typeface="Arial" panose="020B0604020202090204"/>
              </a:rPr>
              <a:t>Illustrative sizing based on device, seat, and report-generation layers.</a:t>
            </a:r>
            <a:endParaRPr sz="860" b="0" i="1">
              <a:solidFill>
                <a:srgbClr val="075F5C"/>
              </a:solidFill>
              <a:latin typeface="Arial" panose="020B060402020209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92240" y="1572768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1628"/>
                </a:solidFill>
                <a:latin typeface="Arial" panose="020B0604020202090204"/>
              </a:rPr>
              <a:t>Revenue pools inside the wedge</a:t>
            </a:r>
            <a:endParaRPr sz="1000" b="1" i="0">
              <a:solidFill>
                <a:srgbClr val="0A1628"/>
              </a:solidFill>
              <a:latin typeface="Arial" panose="020B0604020202090204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492240" y="1883664"/>
            <a:ext cx="5074920" cy="786384"/>
          </a:xfrm>
          <a:prstGeom prst="rect">
            <a:avLst/>
          </a:prstGeom>
          <a:solidFill>
            <a:srgbClr val="F4F7F6"/>
          </a:solidFill>
          <a:ln w="508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38544" y="1975104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1" i="0">
                <a:solidFill>
                  <a:srgbClr val="17201E"/>
                </a:solidFill>
                <a:latin typeface="Arial" panose="020B0604020202090204"/>
              </a:rPr>
              <a:t>Report generation</a:t>
            </a:r>
            <a:endParaRPr sz="940" b="1" i="0">
              <a:solidFill>
                <a:srgbClr val="17201E"/>
              </a:solidFill>
              <a:latin typeface="Arial" panose="020B0604020202090204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638544" y="2267712"/>
            <a:ext cx="4254703" cy="20116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48272" y="2267712"/>
            <a:ext cx="4297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1" i="0">
                <a:solidFill>
                  <a:srgbClr val="FFFFFF"/>
                </a:solidFill>
                <a:latin typeface="Arial" panose="020B0604020202090204"/>
              </a:rPr>
              <a:t>USD 900M–3.6B / yr</a:t>
            </a:r>
            <a:endParaRPr sz="880" b="1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492240" y="2852928"/>
            <a:ext cx="5074920" cy="786384"/>
          </a:xfrm>
          <a:prstGeom prst="rect">
            <a:avLst/>
          </a:prstGeom>
          <a:solidFill>
            <a:srgbClr val="F4F7F6"/>
          </a:solidFill>
          <a:ln w="508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38544" y="2944368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1" i="0">
                <a:solidFill>
                  <a:srgbClr val="17201E"/>
                </a:solidFill>
                <a:latin typeface="Arial" panose="020B0604020202090204"/>
              </a:rPr>
              <a:t>Field devices</a:t>
            </a:r>
            <a:endParaRPr sz="940" b="1" i="0">
              <a:solidFill>
                <a:srgbClr val="17201E"/>
              </a:solidFill>
              <a:latin typeface="Arial" panose="020B0604020202090204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638544" y="3236976"/>
            <a:ext cx="3530498" cy="201168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48272" y="3236976"/>
            <a:ext cx="4297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1" i="0">
                <a:solidFill>
                  <a:srgbClr val="FFFFFF"/>
                </a:solidFill>
                <a:latin typeface="Arial" panose="020B0604020202090204"/>
              </a:rPr>
              <a:t>USD 1.0B–3.0B</a:t>
            </a:r>
            <a:endParaRPr sz="880" b="1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6492240" y="3822191"/>
            <a:ext cx="5074920" cy="786384"/>
          </a:xfrm>
          <a:prstGeom prst="rect">
            <a:avLst/>
          </a:prstGeom>
          <a:solidFill>
            <a:srgbClr val="F4F7F6"/>
          </a:solidFill>
          <a:ln w="508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38544" y="3913631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1" i="0">
                <a:solidFill>
                  <a:srgbClr val="17201E"/>
                </a:solidFill>
                <a:latin typeface="Arial" panose="020B0604020202090204"/>
              </a:rPr>
              <a:t>Subscriptions</a:t>
            </a:r>
            <a:endParaRPr sz="940" b="1" i="0">
              <a:solidFill>
                <a:srgbClr val="17201E"/>
              </a:solidFill>
              <a:latin typeface="Arial" panose="020B0604020202090204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6638544" y="4206240"/>
            <a:ext cx="1901037" cy="201168"/>
          </a:xfrm>
          <a:prstGeom prst="rect">
            <a:avLst/>
          </a:prstGeom>
          <a:solidFill>
            <a:srgbClr val="4A8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48272" y="4206240"/>
            <a:ext cx="4297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1" i="0">
                <a:solidFill>
                  <a:srgbClr val="17201E"/>
                </a:solidFill>
                <a:latin typeface="Arial" panose="020B0604020202090204"/>
              </a:rPr>
              <a:t>USD 30M–144M / yr</a:t>
            </a:r>
            <a:endParaRPr sz="880" b="1" i="0">
              <a:solidFill>
                <a:srgbClr val="17201E"/>
              </a:solidFill>
              <a:latin typeface="Arial" panose="020B0604020202090204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6492240" y="4937760"/>
            <a:ext cx="5074920" cy="1005840"/>
          </a:xfrm>
          <a:prstGeom prst="rect">
            <a:avLst/>
          </a:prstGeom>
          <a:solidFill>
            <a:srgbClr val="F4F7F6"/>
          </a:solidFill>
          <a:ln w="635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56832" y="5102352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75F5C"/>
                </a:solidFill>
                <a:latin typeface="Arial" panose="020B0604020202090204"/>
              </a:rPr>
              <a:t>Assumptions</a:t>
            </a:r>
            <a:endParaRPr sz="950" b="1" i="0">
              <a:solidFill>
                <a:srgbClr val="075F5C"/>
              </a:solidFill>
              <a:latin typeface="Arial" panose="020B0604020202090204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656832" y="5376672"/>
            <a:ext cx="4572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17201E"/>
                </a:solidFill>
                <a:latin typeface="Arial" panose="020B0604020202090204"/>
              </a:rPr>
              <a:t>▸  USD 5k certified field device</a:t>
            </a:r>
            <a:endParaRPr sz="880" b="0" i="0">
              <a:solidFill>
                <a:srgbClr val="17201E"/>
              </a:solidFill>
              <a:latin typeface="Arial" panose="020B0604020202090204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656832" y="5596128"/>
            <a:ext cx="4572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17201E"/>
                </a:solidFill>
                <a:latin typeface="Arial" panose="020B0604020202090204"/>
              </a:rPr>
              <a:t>▸  USD 50–80 user subscription per year</a:t>
            </a:r>
            <a:endParaRPr sz="880" b="0" i="0">
              <a:solidFill>
                <a:srgbClr val="17201E"/>
              </a:solidFill>
              <a:latin typeface="Arial" panose="020B0604020202090204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656832" y="5815583"/>
            <a:ext cx="4572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17201E"/>
                </a:solidFill>
                <a:latin typeface="Arial" panose="020B0604020202090204"/>
              </a:rPr>
              <a:t>▸  USD 50–300 per report package</a:t>
            </a:r>
            <a:endParaRPr sz="880" b="0" i="0">
              <a:solidFill>
                <a:srgbClr val="17201E"/>
              </a:solidFill>
              <a:latin typeface="Arial" panose="020B0604020202090204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502920" y="6126480"/>
            <a:ext cx="11539728" cy="36576"/>
          </a:xfrm>
          <a:prstGeom prst="rect">
            <a:avLst/>
          </a:prstGeom>
          <a:solidFill>
            <a:srgbClr val="E2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621792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1" i="0">
                <a:solidFill>
                  <a:srgbClr val="0A1628"/>
                </a:solidFill>
                <a:latin typeface="Arial" panose="020B0604020202090204"/>
              </a:rPr>
              <a:t>Expansion industries:</a:t>
            </a:r>
            <a:endParaRPr sz="880" b="1" i="0">
              <a:solidFill>
                <a:srgbClr val="0A1628"/>
              </a:solidFill>
              <a:latin typeface="Arial" panose="020B0604020202090204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2057400" y="6199632"/>
            <a:ext cx="808329" cy="237744"/>
          </a:xfrm>
          <a:prstGeom prst="rect">
            <a:avLst/>
          </a:prstGeom>
          <a:solidFill>
            <a:srgbClr val="DCEFE9"/>
          </a:solidFill>
          <a:ln w="508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130552" y="6217920"/>
            <a:ext cx="680313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 i="0">
                <a:solidFill>
                  <a:srgbClr val="075F5C"/>
                </a:solidFill>
                <a:latin typeface="Arial" panose="020B0604020202090204"/>
              </a:rPr>
              <a:t>Oil &amp; Gas</a:t>
            </a:r>
            <a:endParaRPr sz="780" b="1" i="0">
              <a:solidFill>
                <a:srgbClr val="075F5C"/>
              </a:solidFill>
              <a:latin typeface="Arial" panose="020B060402020209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938881" y="6199632"/>
            <a:ext cx="738835" cy="237744"/>
          </a:xfrm>
          <a:prstGeom prst="rect">
            <a:avLst/>
          </a:prstGeom>
          <a:solidFill>
            <a:srgbClr val="DCEFE9"/>
          </a:solidFill>
          <a:ln w="508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012033" y="6217920"/>
            <a:ext cx="61081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 i="0">
                <a:solidFill>
                  <a:srgbClr val="075F5C"/>
                </a:solidFill>
                <a:latin typeface="Arial" panose="020B0604020202090204"/>
              </a:rPr>
              <a:t>Chemical</a:t>
            </a:r>
            <a:endParaRPr sz="780" b="1" i="0">
              <a:solidFill>
                <a:srgbClr val="075F5C"/>
              </a:solidFill>
              <a:latin typeface="Arial" panose="020B0604020202090204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3750868" y="6199632"/>
            <a:ext cx="1086307" cy="237744"/>
          </a:xfrm>
          <a:prstGeom prst="rect">
            <a:avLst/>
          </a:prstGeom>
          <a:solidFill>
            <a:srgbClr val="DCEFE9"/>
          </a:solidFill>
          <a:ln w="508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824020" y="6217920"/>
            <a:ext cx="958291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 i="0">
                <a:solidFill>
                  <a:srgbClr val="075F5C"/>
                </a:solidFill>
                <a:latin typeface="Arial" panose="020B0604020202090204"/>
              </a:rPr>
              <a:t>Petrochemical</a:t>
            </a:r>
            <a:endParaRPr sz="780" b="1" i="0">
              <a:solidFill>
                <a:srgbClr val="075F5C"/>
              </a:solidFill>
              <a:latin typeface="Arial" panose="020B0604020202090204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4910328" y="6199632"/>
            <a:ext cx="530352" cy="237744"/>
          </a:xfrm>
          <a:prstGeom prst="rect">
            <a:avLst/>
          </a:prstGeom>
          <a:solidFill>
            <a:srgbClr val="DCEFE9"/>
          </a:solidFill>
          <a:ln w="508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83480" y="6217920"/>
            <a:ext cx="4023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 i="0">
                <a:solidFill>
                  <a:srgbClr val="075F5C"/>
                </a:solidFill>
                <a:latin typeface="Arial" panose="020B0604020202090204"/>
              </a:rPr>
              <a:t>Power</a:t>
            </a:r>
            <a:endParaRPr sz="780" b="1" i="0">
              <a:solidFill>
                <a:srgbClr val="075F5C"/>
              </a:solidFill>
              <a:latin typeface="Arial" panose="020B0604020202090204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5513832" y="6199632"/>
            <a:ext cx="599846" cy="237744"/>
          </a:xfrm>
          <a:prstGeom prst="rect">
            <a:avLst/>
          </a:prstGeom>
          <a:solidFill>
            <a:srgbClr val="DCEFE9"/>
          </a:solidFill>
          <a:ln w="508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586984" y="6217920"/>
            <a:ext cx="47183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 i="0">
                <a:solidFill>
                  <a:srgbClr val="075F5C"/>
                </a:solidFill>
                <a:latin typeface="Arial" panose="020B0604020202090204"/>
              </a:rPr>
              <a:t>Mining</a:t>
            </a:r>
            <a:endParaRPr sz="780" b="1" i="0">
              <a:solidFill>
                <a:srgbClr val="075F5C"/>
              </a:solidFill>
              <a:latin typeface="Arial" panose="020B0604020202090204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6186830" y="6199632"/>
            <a:ext cx="599846" cy="237744"/>
          </a:xfrm>
          <a:prstGeom prst="rect">
            <a:avLst/>
          </a:prstGeom>
          <a:solidFill>
            <a:srgbClr val="DCEFE9"/>
          </a:solidFill>
          <a:ln w="508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59982" y="6217920"/>
            <a:ext cx="47183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 i="0">
                <a:solidFill>
                  <a:srgbClr val="075F5C"/>
                </a:solidFill>
                <a:latin typeface="Arial" panose="020B0604020202090204"/>
              </a:rPr>
              <a:t>Marine</a:t>
            </a:r>
            <a:endParaRPr sz="780" b="1" i="0">
              <a:solidFill>
                <a:srgbClr val="075F5C"/>
              </a:solidFill>
              <a:latin typeface="Arial" panose="020B0604020202090204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6859828" y="6199632"/>
            <a:ext cx="808329" cy="237744"/>
          </a:xfrm>
          <a:prstGeom prst="rect">
            <a:avLst/>
          </a:prstGeom>
          <a:solidFill>
            <a:srgbClr val="DCEFE9"/>
          </a:solidFill>
          <a:ln w="508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932980" y="6217920"/>
            <a:ext cx="680313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 i="0">
                <a:solidFill>
                  <a:srgbClr val="075F5C"/>
                </a:solidFill>
                <a:latin typeface="Arial" panose="020B0604020202090204"/>
              </a:rPr>
              <a:t>Utilities</a:t>
            </a:r>
            <a:endParaRPr sz="780" b="1" i="0">
              <a:solidFill>
                <a:srgbClr val="075F5C"/>
              </a:solidFill>
              <a:latin typeface="Arial" panose="020B0604020202090204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7741310" y="6199632"/>
            <a:ext cx="1225295" cy="237744"/>
          </a:xfrm>
          <a:prstGeom prst="rect">
            <a:avLst/>
          </a:prstGeom>
          <a:solidFill>
            <a:srgbClr val="DCEFE9"/>
          </a:solidFill>
          <a:ln w="508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814462" y="6217920"/>
            <a:ext cx="109727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 i="0">
                <a:solidFill>
                  <a:srgbClr val="075F5C"/>
                </a:solidFill>
                <a:latin typeface="Arial" panose="020B0604020202090204"/>
              </a:rPr>
              <a:t>Heavy Machinery</a:t>
            </a:r>
            <a:endParaRPr sz="780" b="1" i="0">
              <a:solidFill>
                <a:srgbClr val="075F5C"/>
              </a:solidFill>
              <a:latin typeface="Arial" panose="020B0604020202090204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0" y="6565392"/>
            <a:ext cx="12188952" cy="36576"/>
          </a:xfrm>
          <a:prstGeom prst="rect">
            <a:avLst/>
          </a:prstGeom>
          <a:solidFill>
            <a:srgbClr val="8AB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64592" y="6611112"/>
            <a:ext cx="548640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8B8B4"/>
                </a:solidFill>
                <a:latin typeface="Arial" panose="020B0604020202090204"/>
              </a:rPr>
              <a:t>S7 · Market Size</a:t>
            </a:r>
            <a:endParaRPr sz="750" b="0" i="0">
              <a:solidFill>
                <a:srgbClr val="A8B8B4"/>
              </a:solidFill>
              <a:latin typeface="Arial" panose="020B0604020202090204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6400800" y="6611112"/>
            <a:ext cx="5605272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A8B8B4"/>
                </a:solidFill>
                <a:latin typeface="Arial" panose="020B0604020202090204"/>
              </a:rPr>
              <a:t>LAIQ  ·  Confidential</a:t>
            </a:r>
            <a:endParaRPr sz="750" b="0" i="0">
              <a:solidFill>
                <a:srgbClr val="A8B8B4"/>
              </a:solidFill>
              <a:latin typeface="Arial" panose="020B0604020202090204"/>
            </a:endParaRPr>
          </a:p>
        </p:txBody>
      </p:sp>
      <p:pic>
        <p:nvPicPr>
          <p:cNvPr id="62" name="Picture 61" descr="laiq_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91881" y="6565392"/>
            <a:ext cx="514190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" y="0"/>
            <a:ext cx="64008" cy="6858000"/>
          </a:xfrm>
          <a:prstGeom prst="rect">
            <a:avLst/>
          </a:prstGeom>
          <a:solidFill>
            <a:srgbClr val="DC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1521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75F5C"/>
                </a:solidFill>
                <a:latin typeface="Arial" panose="020B0604020202090204"/>
              </a:rPr>
              <a:t>EXPANSION STRATEGY</a:t>
            </a:r>
            <a:endParaRPr sz="850" b="1" i="0">
              <a:solidFill>
                <a:srgbClr val="075F5C"/>
              </a:solidFill>
              <a:latin typeface="Arial" panose="020B060402020209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521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75F5C"/>
                </a:solidFill>
                <a:latin typeface="Arial" panose="020B0604020202090204"/>
              </a:rPr>
              <a:t>From Report Generation to Asset Intelligence</a:t>
            </a:r>
            <a:endParaRPr sz="2600" b="1" i="0">
              <a:solidFill>
                <a:srgbClr val="075F5C"/>
              </a:solidFill>
              <a:latin typeface="Arial" panose="020B060402020209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097280"/>
            <a:ext cx="11521440" cy="36576"/>
          </a:xfrm>
          <a:prstGeom prst="rect">
            <a:avLst/>
          </a:prstGeom>
          <a:solidFill>
            <a:srgbClr val="8AB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52144"/>
            <a:ext cx="115397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1">
                <a:solidFill>
                  <a:srgbClr val="075F5C"/>
                </a:solidFill>
                <a:latin typeface="Arial" panose="020B0604020202090204"/>
              </a:rPr>
              <a:t>The report is the entry point.   The asset knowledge base is the platform.</a:t>
            </a:r>
            <a:endParaRPr sz="1050" b="1" i="1">
              <a:solidFill>
                <a:srgbClr val="075F5C"/>
              </a:solidFill>
              <a:latin typeface="Arial" panose="020B060402020209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2920" y="1444752"/>
            <a:ext cx="11539728" cy="36576"/>
          </a:xfrm>
          <a:prstGeom prst="rect">
            <a:avLst/>
          </a:prstGeom>
          <a:solidFill>
            <a:srgbClr val="E2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2763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1628"/>
                </a:solidFill>
                <a:latin typeface="Arial" panose="020B0604020202090204"/>
              </a:rPr>
              <a:t>Three horizons, one data spine</a:t>
            </a:r>
            <a:endParaRPr sz="1000" b="1" i="0">
              <a:solidFill>
                <a:srgbClr val="0A1628"/>
              </a:solidFill>
              <a:latin typeface="Arial" panose="020B06040202020902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02920" y="1938528"/>
            <a:ext cx="3493008" cy="2834640"/>
          </a:xfrm>
          <a:prstGeom prst="rect">
            <a:avLst/>
          </a:prstGeom>
          <a:solidFill>
            <a:srgbClr val="F4F7F6"/>
          </a:solidFill>
          <a:ln w="635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938528"/>
            <a:ext cx="3493008" cy="54864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67512" y="2084831"/>
            <a:ext cx="384048" cy="384048"/>
          </a:xfrm>
          <a:prstGeom prst="ellipse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2084831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 panose="020B0604020202090204"/>
              </a:rPr>
              <a:t>1</a:t>
            </a:r>
            <a:endParaRPr sz="1100" b="1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61288" y="2048256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7201E"/>
                </a:solidFill>
                <a:latin typeface="Arial" panose="020B0604020202090204"/>
              </a:rPr>
              <a:t>Report-ready workflow</a:t>
            </a:r>
            <a:endParaRPr sz="1150" b="1" i="0">
              <a:solidFill>
                <a:srgbClr val="17201E"/>
              </a:solidFill>
              <a:latin typeface="Arial" panose="020B0604020202090204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67512" y="2487168"/>
            <a:ext cx="3127248" cy="27432"/>
          </a:xfrm>
          <a:prstGeom prst="rect">
            <a:avLst/>
          </a:prstGeom>
          <a:solidFill>
            <a:srgbClr val="E2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" y="2651760"/>
            <a:ext cx="312724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20" b="0" i="0">
                <a:solidFill>
                  <a:srgbClr val="52625E"/>
                </a:solidFill>
                <a:latin typeface="Arial" panose="020B0604020202090204"/>
              </a:rPr>
              <a:t>Win the inspection workflow and the report package</a:t>
            </a:r>
            <a:endParaRPr sz="920" b="0" i="0">
              <a:solidFill>
                <a:srgbClr val="52625E"/>
              </a:solidFill>
              <a:latin typeface="Arial" panose="020B0604020202090204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67512" y="3986784"/>
            <a:ext cx="2103120" cy="237744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" y="4032504"/>
            <a:ext cx="19568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1" i="0">
                <a:solidFill>
                  <a:srgbClr val="FFFFFF"/>
                </a:solidFill>
                <a:latin typeface="Arial" panose="020B0604020202090204"/>
              </a:rPr>
              <a:t>Per-device + per-report</a:t>
            </a:r>
            <a:endParaRPr sz="780" b="1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087368" y="3255264"/>
            <a:ext cx="2560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8ABBB6"/>
                </a:solidFill>
                <a:latin typeface="Arial" panose="020B0604020202090204"/>
              </a:rPr>
              <a:t>▶</a:t>
            </a:r>
            <a:endParaRPr sz="1600" b="1" i="0">
              <a:solidFill>
                <a:srgbClr val="8ABBB6"/>
              </a:solidFill>
              <a:latin typeface="Arial" panose="020B0604020202090204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361688" y="1938528"/>
            <a:ext cx="3493008" cy="2834640"/>
          </a:xfrm>
          <a:prstGeom prst="rect">
            <a:avLst/>
          </a:prstGeom>
          <a:solidFill>
            <a:srgbClr val="F4F7F6"/>
          </a:solidFill>
          <a:ln w="635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61688" y="1938528"/>
            <a:ext cx="3493008" cy="54864"/>
          </a:xfrm>
          <a:prstGeom prst="rect">
            <a:avLst/>
          </a:prstGeom>
          <a:solidFill>
            <a:srgbClr val="4A8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526279" y="2084831"/>
            <a:ext cx="384048" cy="384048"/>
          </a:xfrm>
          <a:prstGeom prst="ellipse">
            <a:avLst/>
          </a:prstGeom>
          <a:solidFill>
            <a:srgbClr val="4A8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6279" y="2084831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 panose="020B0604020202090204"/>
              </a:rPr>
              <a:t>2</a:t>
            </a:r>
            <a:endParaRPr sz="1100" b="1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020055" y="2048256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7201E"/>
                </a:solidFill>
                <a:latin typeface="Arial" panose="020B0604020202090204"/>
              </a:rPr>
              <a:t>Structured asset memory</a:t>
            </a:r>
            <a:endParaRPr sz="1150" b="1" i="0">
              <a:solidFill>
                <a:srgbClr val="17201E"/>
              </a:solidFill>
              <a:latin typeface="Arial" panose="020B0604020202090204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4526279" y="2487168"/>
            <a:ext cx="3127248" cy="27432"/>
          </a:xfrm>
          <a:prstGeom prst="rect">
            <a:avLst/>
          </a:prstGeom>
          <a:solidFill>
            <a:srgbClr val="E2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26279" y="2651760"/>
            <a:ext cx="312724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20" b="0" i="0">
                <a:solidFill>
                  <a:srgbClr val="52625E"/>
                </a:solidFill>
                <a:latin typeface="Arial" panose="020B0604020202090204"/>
              </a:rPr>
              <a:t>Accumulate inspection history across tanks, contractors, and cycles</a:t>
            </a:r>
            <a:endParaRPr sz="920" b="0" i="0">
              <a:solidFill>
                <a:srgbClr val="52625E"/>
              </a:solidFill>
              <a:latin typeface="Arial" panose="020B0604020202090204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4526279" y="3986784"/>
            <a:ext cx="2103120" cy="237744"/>
          </a:xfrm>
          <a:prstGeom prst="rect">
            <a:avLst/>
          </a:prstGeom>
          <a:solidFill>
            <a:srgbClr val="4A8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99431" y="4032504"/>
            <a:ext cx="19568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1" i="0">
                <a:solidFill>
                  <a:srgbClr val="FFFFFF"/>
                </a:solidFill>
                <a:latin typeface="Arial" panose="020B0604020202090204"/>
              </a:rPr>
              <a:t>Subscription / dashboard</a:t>
            </a:r>
            <a:endParaRPr sz="780" b="1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946136" y="3255264"/>
            <a:ext cx="2560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8ABBB6"/>
                </a:solidFill>
                <a:latin typeface="Arial" panose="020B0604020202090204"/>
              </a:rPr>
              <a:t>▶</a:t>
            </a:r>
            <a:endParaRPr sz="1600" b="1" i="0">
              <a:solidFill>
                <a:srgbClr val="8ABBB6"/>
              </a:solidFill>
              <a:latin typeface="Arial" panose="020B0604020202090204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8220456" y="1938528"/>
            <a:ext cx="3493008" cy="2834640"/>
          </a:xfrm>
          <a:prstGeom prst="rect">
            <a:avLst/>
          </a:prstGeom>
          <a:solidFill>
            <a:srgbClr val="F4F7F6"/>
          </a:solidFill>
          <a:ln w="635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20456" y="1938528"/>
            <a:ext cx="3493008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385048" y="2084831"/>
            <a:ext cx="384048" cy="384048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85048" y="2084831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 panose="020B0604020202090204"/>
              </a:rPr>
              <a:t>3</a:t>
            </a:r>
            <a:endParaRPr sz="1100" b="1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878824" y="2048256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7201E"/>
                </a:solidFill>
                <a:latin typeface="Arial" panose="020B0604020202090204"/>
              </a:rPr>
              <a:t>Reliability intelligence</a:t>
            </a:r>
            <a:endParaRPr sz="1150" b="1" i="0">
              <a:solidFill>
                <a:srgbClr val="17201E"/>
              </a:solidFill>
              <a:latin typeface="Arial" panose="020B0604020202090204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8385048" y="2487168"/>
            <a:ext cx="3127248" cy="27432"/>
          </a:xfrm>
          <a:prstGeom prst="rect">
            <a:avLst/>
          </a:prstGeom>
          <a:solidFill>
            <a:srgbClr val="E2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85048" y="2651760"/>
            <a:ext cx="312724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20" b="0" i="0">
                <a:solidFill>
                  <a:srgbClr val="52625E"/>
                </a:solidFill>
                <a:latin typeface="Arial" panose="020B0604020202090204"/>
              </a:rPr>
              <a:t>Turn structured history into weak-point, life, and maintenance signals</a:t>
            </a:r>
            <a:endParaRPr sz="920" b="0" i="0">
              <a:solidFill>
                <a:srgbClr val="52625E"/>
              </a:solidFill>
              <a:latin typeface="Arial" panose="020B0604020202090204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8385048" y="3986784"/>
            <a:ext cx="2103120" cy="23774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58200" y="4032504"/>
            <a:ext cx="19568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1" i="0">
                <a:solidFill>
                  <a:srgbClr val="FFFFFF"/>
                </a:solidFill>
                <a:latin typeface="Arial" panose="020B0604020202090204"/>
              </a:rPr>
              <a:t>Premium enterprise module</a:t>
            </a:r>
            <a:endParaRPr sz="780" b="1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502920" y="5102352"/>
            <a:ext cx="11539728" cy="36576"/>
          </a:xfrm>
          <a:prstGeom prst="rect">
            <a:avLst/>
          </a:prstGeom>
          <a:solidFill>
            <a:srgbClr val="E2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5230368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1" i="0">
                <a:solidFill>
                  <a:srgbClr val="0A1628"/>
                </a:solidFill>
                <a:latin typeface="Arial" panose="020B0604020202090204"/>
              </a:rPr>
              <a:t>Expansion industries</a:t>
            </a:r>
            <a:endParaRPr sz="880" b="1" i="0">
              <a:solidFill>
                <a:srgbClr val="0A1628"/>
              </a:solidFill>
              <a:latin typeface="Arial" panose="020B0604020202090204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1993392" y="5212080"/>
            <a:ext cx="806500" cy="237744"/>
          </a:xfrm>
          <a:prstGeom prst="rect">
            <a:avLst/>
          </a:prstGeom>
          <a:solidFill>
            <a:srgbClr val="DCEFE9"/>
          </a:solidFill>
          <a:ln w="508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066544" y="5230368"/>
            <a:ext cx="67848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 i="0">
                <a:solidFill>
                  <a:srgbClr val="075F5C"/>
                </a:solidFill>
                <a:latin typeface="Arial" panose="020B0604020202090204"/>
              </a:rPr>
              <a:t>Oil &amp; Gas</a:t>
            </a:r>
            <a:endParaRPr sz="780" b="1" i="0">
              <a:solidFill>
                <a:srgbClr val="075F5C"/>
              </a:solidFill>
              <a:latin typeface="Arial" panose="020B0604020202090204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2873044" y="5212080"/>
            <a:ext cx="735177" cy="237744"/>
          </a:xfrm>
          <a:prstGeom prst="rect">
            <a:avLst/>
          </a:prstGeom>
          <a:solidFill>
            <a:srgbClr val="DCEFE9"/>
          </a:solidFill>
          <a:ln w="508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946196" y="5230368"/>
            <a:ext cx="607161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 i="0">
                <a:solidFill>
                  <a:srgbClr val="075F5C"/>
                </a:solidFill>
                <a:latin typeface="Arial" panose="020B0604020202090204"/>
              </a:rPr>
              <a:t>Chemical</a:t>
            </a:r>
            <a:endParaRPr sz="780" b="1" i="0">
              <a:solidFill>
                <a:srgbClr val="075F5C"/>
              </a:solidFill>
              <a:latin typeface="Arial" panose="020B060402020209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3681374" y="5212080"/>
            <a:ext cx="1091793" cy="237744"/>
          </a:xfrm>
          <a:prstGeom prst="rect">
            <a:avLst/>
          </a:prstGeom>
          <a:solidFill>
            <a:srgbClr val="DCEFE9"/>
          </a:solidFill>
          <a:ln w="508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54526" y="5230368"/>
            <a:ext cx="963777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 i="0">
                <a:solidFill>
                  <a:srgbClr val="075F5C"/>
                </a:solidFill>
                <a:latin typeface="Arial" panose="020B0604020202090204"/>
              </a:rPr>
              <a:t>Petrochemical</a:t>
            </a:r>
            <a:endParaRPr sz="780" b="1" i="0">
              <a:solidFill>
                <a:srgbClr val="075F5C"/>
              </a:solidFill>
              <a:latin typeface="Arial" panose="020B0604020202090204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4846320" y="5212080"/>
            <a:ext cx="521208" cy="237744"/>
          </a:xfrm>
          <a:prstGeom prst="rect">
            <a:avLst/>
          </a:prstGeom>
          <a:solidFill>
            <a:srgbClr val="DCEFE9"/>
          </a:solidFill>
          <a:ln w="508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919472" y="5230368"/>
            <a:ext cx="3931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 i="0">
                <a:solidFill>
                  <a:srgbClr val="075F5C"/>
                </a:solidFill>
                <a:latin typeface="Arial" panose="020B0604020202090204"/>
              </a:rPr>
              <a:t>Power</a:t>
            </a:r>
            <a:endParaRPr sz="780" b="1" i="0">
              <a:solidFill>
                <a:srgbClr val="075F5C"/>
              </a:solidFill>
              <a:latin typeface="Arial" panose="020B0604020202090204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5440680" y="5212080"/>
            <a:ext cx="592531" cy="237744"/>
          </a:xfrm>
          <a:prstGeom prst="rect">
            <a:avLst/>
          </a:prstGeom>
          <a:solidFill>
            <a:srgbClr val="DCEFE9"/>
          </a:solidFill>
          <a:ln w="508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513832" y="5230368"/>
            <a:ext cx="464515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 i="0">
                <a:solidFill>
                  <a:srgbClr val="075F5C"/>
                </a:solidFill>
                <a:latin typeface="Arial" panose="020B0604020202090204"/>
              </a:rPr>
              <a:t>Mining</a:t>
            </a:r>
            <a:endParaRPr sz="780" b="1" i="0">
              <a:solidFill>
                <a:srgbClr val="075F5C"/>
              </a:solidFill>
              <a:latin typeface="Arial" panose="020B0604020202090204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6106363" y="5212080"/>
            <a:ext cx="592531" cy="237744"/>
          </a:xfrm>
          <a:prstGeom prst="rect">
            <a:avLst/>
          </a:prstGeom>
          <a:solidFill>
            <a:srgbClr val="DCEFE9"/>
          </a:solidFill>
          <a:ln w="508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79515" y="5230368"/>
            <a:ext cx="464515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 i="0">
                <a:solidFill>
                  <a:srgbClr val="075F5C"/>
                </a:solidFill>
                <a:latin typeface="Arial" panose="020B0604020202090204"/>
              </a:rPr>
              <a:t>Marine</a:t>
            </a:r>
            <a:endParaRPr sz="780" b="1" i="0">
              <a:solidFill>
                <a:srgbClr val="075F5C"/>
              </a:solidFill>
              <a:latin typeface="Arial" panose="020B0604020202090204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6772046" y="5212080"/>
            <a:ext cx="806500" cy="237744"/>
          </a:xfrm>
          <a:prstGeom prst="rect">
            <a:avLst/>
          </a:prstGeom>
          <a:solidFill>
            <a:srgbClr val="DCEFE9"/>
          </a:solidFill>
          <a:ln w="508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845198" y="5230368"/>
            <a:ext cx="67848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 i="0">
                <a:solidFill>
                  <a:srgbClr val="075F5C"/>
                </a:solidFill>
                <a:latin typeface="Arial" panose="020B0604020202090204"/>
              </a:rPr>
              <a:t>Utilities</a:t>
            </a:r>
            <a:endParaRPr sz="780" b="1" i="0">
              <a:solidFill>
                <a:srgbClr val="075F5C"/>
              </a:solidFill>
              <a:latin typeface="Arial" panose="020B0604020202090204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7651699" y="5212080"/>
            <a:ext cx="1234439" cy="237744"/>
          </a:xfrm>
          <a:prstGeom prst="rect">
            <a:avLst/>
          </a:prstGeom>
          <a:solidFill>
            <a:srgbClr val="DCEFE9"/>
          </a:solidFill>
          <a:ln w="508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724851" y="5230368"/>
            <a:ext cx="110642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 i="0">
                <a:solidFill>
                  <a:srgbClr val="075F5C"/>
                </a:solidFill>
                <a:latin typeface="Arial" panose="020B0604020202090204"/>
              </a:rPr>
              <a:t>Heavy Machinery</a:t>
            </a:r>
            <a:endParaRPr sz="780" b="1" i="0">
              <a:solidFill>
                <a:srgbClr val="075F5C"/>
              </a:solidFill>
              <a:latin typeface="Arial" panose="020B0604020202090204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502920" y="5614416"/>
            <a:ext cx="11539728" cy="566928"/>
          </a:xfrm>
          <a:prstGeom prst="rect">
            <a:avLst/>
          </a:prstGeom>
          <a:solidFill>
            <a:srgbClr val="0A1628"/>
          </a:solidFill>
          <a:ln w="5080">
            <a:solidFill>
              <a:srgbClr val="4A80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9808" y="5779008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20" b="1" i="0">
                <a:solidFill>
                  <a:srgbClr val="DCEFE9"/>
                </a:solidFill>
                <a:latin typeface="Arial" panose="020B0604020202090204"/>
              </a:rPr>
              <a:t>Expansion principle: keep the same structured capture and report spine, then add higher-value memory and intelligence layers on top.</a:t>
            </a:r>
            <a:endParaRPr sz="1020" b="1" i="0">
              <a:solidFill>
                <a:srgbClr val="DCEFE9"/>
              </a:solidFill>
              <a:latin typeface="Arial" panose="020B0604020202090204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0" y="6565392"/>
            <a:ext cx="12188952" cy="36576"/>
          </a:xfrm>
          <a:prstGeom prst="rect">
            <a:avLst/>
          </a:prstGeom>
          <a:solidFill>
            <a:srgbClr val="8AB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64592" y="6611112"/>
            <a:ext cx="548640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8B8B4"/>
                </a:solidFill>
                <a:latin typeface="Arial" panose="020B0604020202090204"/>
              </a:rPr>
              <a:t>S8 · Expansion</a:t>
            </a:r>
            <a:endParaRPr sz="750" b="0" i="0">
              <a:solidFill>
                <a:srgbClr val="A8B8B4"/>
              </a:solidFill>
              <a:latin typeface="Arial" panose="020B0604020202090204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6400800" y="6611112"/>
            <a:ext cx="5605272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A8B8B4"/>
                </a:solidFill>
                <a:latin typeface="Arial" panose="020B0604020202090204"/>
              </a:rPr>
              <a:t>LAIQ  ·  Confidential</a:t>
            </a:r>
            <a:endParaRPr sz="750" b="0" i="0">
              <a:solidFill>
                <a:srgbClr val="A8B8B4"/>
              </a:solidFill>
              <a:latin typeface="Arial" panose="020B0604020202090204"/>
            </a:endParaRPr>
          </a:p>
        </p:txBody>
      </p:sp>
      <p:pic>
        <p:nvPicPr>
          <p:cNvPr id="62" name="Picture 61" descr="laiq_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91881" y="6565392"/>
            <a:ext cx="514190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4A8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aiq_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82880"/>
            <a:ext cx="514190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182880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75F5C"/>
                </a:solidFill>
                <a:latin typeface="Arial" panose="020B0604020202090204"/>
              </a:rPr>
              <a:t>COMPETITIVE MOAT</a:t>
            </a:r>
            <a:endParaRPr sz="850" b="1" i="0">
              <a:solidFill>
                <a:srgbClr val="075F5C"/>
              </a:solidFill>
              <a:latin typeface="Arial" panose="020B060402020209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 panose="020B0604020202090204"/>
              </a:rPr>
              <a:t>Every Report Builds the Customer's Asset Intelligence</a:t>
            </a:r>
            <a:endParaRPr sz="2600" b="1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66928" y="1060704"/>
            <a:ext cx="11475720" cy="36576"/>
          </a:xfrm>
          <a:prstGeom prst="rect">
            <a:avLst/>
          </a:prstGeom>
          <a:solidFill>
            <a:srgbClr val="4A8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225296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DCEFE9"/>
                </a:solidFill>
                <a:latin typeface="Arial" panose="020B0604020202090204"/>
              </a:rPr>
              <a:t>Compounding moat loop</a:t>
            </a:r>
            <a:endParaRPr sz="950" b="1" i="0">
              <a:solidFill>
                <a:srgbClr val="DCEFE9"/>
              </a:solidFill>
              <a:latin typeface="Arial" panose="020B0604020202090204"/>
            </a:endParaRPr>
          </a:p>
        </p:txBody>
      </p:sp>
      <p:sp>
        <p:nvSpPr>
          <p:cNvPr id="9" name="Oval 8"/>
          <p:cNvSpPr/>
          <p:nvPr/>
        </p:nvSpPr>
        <p:spPr>
          <a:xfrm>
            <a:off x="2944368" y="2432304"/>
            <a:ext cx="2468880" cy="1115568"/>
          </a:xfrm>
          <a:prstGeom prst="ellipse">
            <a:avLst/>
          </a:prstGeom>
          <a:solidFill>
            <a:srgbClr val="DCEFE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36976" y="2706624"/>
            <a:ext cx="188366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75F5C"/>
                </a:solidFill>
                <a:latin typeface="Arial" panose="020B0604020202090204"/>
              </a:rPr>
              <a:t>Structured
Asset Memory</a:t>
            </a:r>
            <a:endParaRPr sz="1500" b="1" i="0">
              <a:solidFill>
                <a:srgbClr val="075F5C"/>
              </a:solidFill>
              <a:latin typeface="Arial" panose="020B060402020209020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04672" y="1883664"/>
            <a:ext cx="1737360" cy="694944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029968"/>
            <a:ext cx="15179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 panose="020B0604020202090204"/>
              </a:rPr>
              <a:t>Captured
Data</a:t>
            </a:r>
            <a:endParaRPr sz="1100" b="1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14400" y="2286000"/>
            <a:ext cx="151790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60" b="0" i="0">
                <a:solidFill>
                  <a:srgbClr val="DCEFE9"/>
                </a:solidFill>
                <a:latin typeface="Arial" panose="020B0604020202090204"/>
              </a:rPr>
              <a:t>UT · findings · photos</a:t>
            </a:r>
            <a:endParaRPr sz="760" b="0" i="0">
              <a:solidFill>
                <a:srgbClr val="DCEFE9"/>
              </a:solidFill>
              <a:latin typeface="Arial" panose="020B060402020209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797296" y="1883664"/>
            <a:ext cx="1737360" cy="69494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07024" y="2029968"/>
            <a:ext cx="15179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 panose="020B0604020202090204"/>
              </a:rPr>
              <a:t>Better
Reports</a:t>
            </a:r>
            <a:endParaRPr sz="1100" b="1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907024" y="2286000"/>
            <a:ext cx="151790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60" b="0" i="0">
                <a:solidFill>
                  <a:srgbClr val="FDF0E0"/>
                </a:solidFill>
                <a:latin typeface="Arial" panose="020B0604020202090204"/>
              </a:rPr>
              <a:t>faster, more consistent</a:t>
            </a:r>
            <a:endParaRPr sz="760" b="0" i="0">
              <a:solidFill>
                <a:srgbClr val="FDF0E0"/>
              </a:solidFill>
              <a:latin typeface="Arial" panose="020B0604020202090204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04672" y="3712463"/>
            <a:ext cx="1737360" cy="694944"/>
          </a:xfrm>
          <a:prstGeom prst="rect">
            <a:avLst/>
          </a:prstGeom>
          <a:solidFill>
            <a:srgbClr val="12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858768"/>
            <a:ext cx="15179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 panose="020B0604020202090204"/>
              </a:rPr>
              <a:t>Higher
Retention</a:t>
            </a:r>
            <a:endParaRPr sz="1100" b="1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14400" y="4114800"/>
            <a:ext cx="151790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60" b="0" i="0">
                <a:solidFill>
                  <a:srgbClr val="DCEFE9"/>
                </a:solidFill>
                <a:latin typeface="Arial" panose="020B0604020202090204"/>
              </a:rPr>
              <a:t>workflow becomes sticky</a:t>
            </a:r>
            <a:endParaRPr sz="760" b="0" i="0">
              <a:solidFill>
                <a:srgbClr val="DCEFE9"/>
              </a:solidFill>
              <a:latin typeface="Arial" panose="020B0604020202090204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797296" y="3712463"/>
            <a:ext cx="1737360" cy="694944"/>
          </a:xfrm>
          <a:prstGeom prst="rect">
            <a:avLst/>
          </a:prstGeom>
          <a:solidFill>
            <a:srgbClr val="4A8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07024" y="3858768"/>
            <a:ext cx="15179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 panose="020B0604020202090204"/>
              </a:rPr>
              <a:t>Intelligence
Modules</a:t>
            </a:r>
            <a:endParaRPr sz="1100" b="1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907024" y="4114800"/>
            <a:ext cx="151790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" b="0" i="0">
                <a:solidFill>
                  <a:srgbClr val="DCEFE9"/>
                </a:solidFill>
                <a:latin typeface="Arial" panose="020B0604020202090204"/>
              </a:rPr>
              <a:t>life · weak points · FMEA</a:t>
            </a:r>
            <a:endParaRPr sz="720" b="0" i="0">
              <a:solidFill>
                <a:srgbClr val="DCEFE9"/>
              </a:solidFill>
              <a:latin typeface="Arial" panose="020B060402020209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615184" y="2103120"/>
            <a:ext cx="256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8ABBB6"/>
                </a:solidFill>
                <a:latin typeface="Arial" panose="020B0604020202090204"/>
              </a:rPr>
              <a:t>▶</a:t>
            </a:r>
            <a:endParaRPr sz="1600" b="1" i="0">
              <a:solidFill>
                <a:srgbClr val="8ABBB6"/>
              </a:solidFill>
              <a:latin typeface="Arial" panose="020B060402020209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455664" y="2816352"/>
            <a:ext cx="256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8ABBB6"/>
                </a:solidFill>
                <a:latin typeface="Arial" panose="020B0604020202090204"/>
              </a:rPr>
              <a:t>▼</a:t>
            </a:r>
            <a:endParaRPr sz="1600" b="1" i="0">
              <a:solidFill>
                <a:srgbClr val="8ABBB6"/>
              </a:solidFill>
              <a:latin typeface="Arial" panose="020B060402020209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615184" y="3931920"/>
            <a:ext cx="256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8ABBB6"/>
                </a:solidFill>
                <a:latin typeface="Arial" panose="020B0604020202090204"/>
              </a:rPr>
              <a:t>◀</a:t>
            </a:r>
            <a:endParaRPr sz="1600" b="1" i="0">
              <a:solidFill>
                <a:srgbClr val="8ABBB6"/>
              </a:solidFill>
              <a:latin typeface="Arial" panose="020B060402020209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426464" y="2779776"/>
            <a:ext cx="256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8ABBB6"/>
                </a:solidFill>
                <a:latin typeface="Arial" panose="020B0604020202090204"/>
              </a:rPr>
              <a:t>▲</a:t>
            </a:r>
            <a:endParaRPr sz="1600" b="1" i="0">
              <a:solidFill>
                <a:srgbClr val="8ABBB6"/>
              </a:solidFill>
              <a:latin typeface="Arial" panose="020B060402020209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174736" y="12252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DCEFE9"/>
                </a:solidFill>
                <a:latin typeface="Arial" panose="020B0604020202090204"/>
              </a:rPr>
              <a:t>Why this is hard to copy</a:t>
            </a:r>
            <a:endParaRPr sz="950" b="1" i="0">
              <a:solidFill>
                <a:srgbClr val="DCEFE9"/>
              </a:solidFill>
              <a:latin typeface="Arial" panose="020B0604020202090204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8174736" y="1481328"/>
            <a:ext cx="3639312" cy="749808"/>
          </a:xfrm>
          <a:prstGeom prst="rect">
            <a:avLst/>
          </a:prstGeom>
          <a:solidFill>
            <a:srgbClr val="122440"/>
          </a:solidFill>
          <a:ln w="6350">
            <a:solidFill>
              <a:srgbClr val="4A80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74736" y="1481328"/>
            <a:ext cx="3639312" cy="45720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1572768"/>
            <a:ext cx="33467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20" b="1" i="0">
                <a:solidFill>
                  <a:srgbClr val="FFFFFF"/>
                </a:solidFill>
                <a:latin typeface="Arial" panose="020B0604020202090204"/>
              </a:rPr>
              <a:t>Customer-specific report logic</a:t>
            </a:r>
            <a:endParaRPr sz="920" b="1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321040" y="1828800"/>
            <a:ext cx="3346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0" b="0" i="0">
                <a:solidFill>
                  <a:srgbClr val="A8B8B4"/>
                </a:solidFill>
                <a:latin typeface="Arial" panose="020B0604020202090204"/>
              </a:rPr>
              <a:t>Templates and evidence logic embed inside the workflow.</a:t>
            </a:r>
            <a:endParaRPr sz="820" b="0" i="0">
              <a:solidFill>
                <a:srgbClr val="A8B8B4"/>
              </a:solidFill>
              <a:latin typeface="Arial" panose="020B0604020202090204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8174736" y="2395728"/>
            <a:ext cx="3639312" cy="749808"/>
          </a:xfrm>
          <a:prstGeom prst="rect">
            <a:avLst/>
          </a:prstGeom>
          <a:solidFill>
            <a:srgbClr val="122440"/>
          </a:solidFill>
          <a:ln w="6350">
            <a:solidFill>
              <a:srgbClr val="4A80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74736" y="2395728"/>
            <a:ext cx="3639312" cy="45720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21040" y="2487168"/>
            <a:ext cx="33467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20" b="1" i="0">
                <a:solidFill>
                  <a:srgbClr val="FFFFFF"/>
                </a:solidFill>
                <a:latin typeface="Arial" panose="020B0604020202090204"/>
              </a:rPr>
              <a:t>Inspection history</a:t>
            </a:r>
            <a:endParaRPr sz="920" b="1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321040" y="2743200"/>
            <a:ext cx="3346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0" b="0" i="0">
                <a:solidFill>
                  <a:srgbClr val="A8B8B4"/>
                </a:solidFill>
                <a:latin typeface="Arial" panose="020B0604020202090204"/>
              </a:rPr>
              <a:t>Every cycle adds more context than a static report archive.</a:t>
            </a:r>
            <a:endParaRPr sz="820" b="0" i="0">
              <a:solidFill>
                <a:srgbClr val="A8B8B4"/>
              </a:solidFill>
              <a:latin typeface="Arial" panose="020B0604020202090204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8174736" y="3310128"/>
            <a:ext cx="3639312" cy="749808"/>
          </a:xfrm>
          <a:prstGeom prst="rect">
            <a:avLst/>
          </a:prstGeom>
          <a:solidFill>
            <a:srgbClr val="122440"/>
          </a:solidFill>
          <a:ln w="6350">
            <a:solidFill>
              <a:srgbClr val="4A80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174736" y="3310128"/>
            <a:ext cx="3639312" cy="45720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21040" y="3401568"/>
            <a:ext cx="33467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20" b="1" i="0">
                <a:solidFill>
                  <a:srgbClr val="FFFFFF"/>
                </a:solidFill>
                <a:latin typeface="Arial" panose="020B0604020202090204"/>
              </a:rPr>
              <a:t>Model tuning from real field data</a:t>
            </a:r>
            <a:endParaRPr sz="920" b="1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321040" y="3657600"/>
            <a:ext cx="3346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0" b="0" i="0">
                <a:solidFill>
                  <a:srgbClr val="A8B8B4"/>
                </a:solidFill>
                <a:latin typeface="Arial" panose="020B0604020202090204"/>
              </a:rPr>
              <a:t>Better structured data improves future AI output quality.</a:t>
            </a:r>
            <a:endParaRPr sz="820" b="0" i="0">
              <a:solidFill>
                <a:srgbClr val="A8B8B4"/>
              </a:solidFill>
              <a:latin typeface="Arial" panose="020B0604020202090204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8174736" y="4224528"/>
            <a:ext cx="3639312" cy="749808"/>
          </a:xfrm>
          <a:prstGeom prst="rect">
            <a:avLst/>
          </a:prstGeom>
          <a:solidFill>
            <a:srgbClr val="122440"/>
          </a:solidFill>
          <a:ln w="6350">
            <a:solidFill>
              <a:srgbClr val="4A80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174736" y="4224528"/>
            <a:ext cx="3639312" cy="45720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21040" y="4315968"/>
            <a:ext cx="33467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20" b="1" i="0">
                <a:solidFill>
                  <a:srgbClr val="FFFFFF"/>
                </a:solidFill>
                <a:latin typeface="Arial" panose="020B0604020202090204"/>
              </a:rPr>
              <a:t>Workflow lock-in</a:t>
            </a:r>
            <a:endParaRPr sz="920" b="1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321040" y="4572000"/>
            <a:ext cx="3346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0" b="0" i="0">
                <a:solidFill>
                  <a:srgbClr val="A8B8B4"/>
                </a:solidFill>
                <a:latin typeface="Arial" panose="020B0604020202090204"/>
              </a:rPr>
              <a:t>Once the report package is trusted, replacement becomes harder.</a:t>
            </a:r>
            <a:endParaRPr sz="820" b="0" i="0">
              <a:solidFill>
                <a:srgbClr val="A8B8B4"/>
              </a:solidFill>
              <a:latin typeface="Arial" panose="020B0604020202090204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566928" y="4992624"/>
            <a:ext cx="11247120" cy="676656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1248" y="5212080"/>
            <a:ext cx="10698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0" b="1" i="0">
                <a:solidFill>
                  <a:srgbClr val="FFFFFF"/>
                </a:solidFill>
                <a:latin typeface="Arial" panose="020B0604020202090204"/>
              </a:rPr>
              <a:t>Generic AI can generate text. LAIQ's moat comes from owning the structured inspection memory behind every report.</a:t>
            </a:r>
            <a:endParaRPr sz="1120" b="1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0" y="6565392"/>
            <a:ext cx="12188952" cy="36576"/>
          </a:xfrm>
          <a:prstGeom prst="rect">
            <a:avLst/>
          </a:prstGeom>
          <a:solidFill>
            <a:srgbClr val="8AB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4592" y="6611112"/>
            <a:ext cx="548640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8B8B4"/>
                </a:solidFill>
                <a:latin typeface="Arial" panose="020B0604020202090204"/>
              </a:rPr>
              <a:t>S9 · Moat</a:t>
            </a:r>
            <a:endParaRPr sz="750" b="0" i="0">
              <a:solidFill>
                <a:srgbClr val="A8B8B4"/>
              </a:solidFill>
              <a:latin typeface="Arial" panose="020B0604020202090204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400800" y="6611112"/>
            <a:ext cx="5605272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A8B8B4"/>
                </a:solidFill>
                <a:latin typeface="Arial" panose="020B0604020202090204"/>
              </a:rPr>
              <a:t>LAIQ  ·  Confidential</a:t>
            </a:r>
            <a:endParaRPr sz="750" b="0" i="0">
              <a:solidFill>
                <a:srgbClr val="A8B8B4"/>
              </a:solidFill>
              <a:latin typeface="Arial" panose="020B0604020202090204"/>
            </a:endParaRPr>
          </a:p>
        </p:txBody>
      </p:sp>
      <p:pic>
        <p:nvPicPr>
          <p:cNvPr id="49" name="Picture 48" descr="laiq_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91881" y="6565392"/>
            <a:ext cx="514190" cy="23774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8412</Words>
  <Application>WPS Sheets</Application>
  <PresentationFormat>On-screen Show (4:3)</PresentationFormat>
  <Paragraphs>684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SimSun</vt:lpstr>
      <vt:lpstr>Wingdings</vt:lpstr>
      <vt:lpstr>Arial</vt:lpstr>
      <vt:lpstr>Calibri</vt:lpstr>
      <vt:lpstr>Helvetica Neue</vt:lpstr>
      <vt:lpstr>宋体-简</vt:lpstr>
      <vt:lpstr>Apple Color Emoji</vt:lpstr>
      <vt:lpstr>Microsoft YaHei</vt:lpstr>
      <vt:lpstr>汉仪旗黑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oscar</cp:lastModifiedBy>
  <cp:revision>2</cp:revision>
  <dcterms:created xsi:type="dcterms:W3CDTF">2026-04-28T08:12:11Z</dcterms:created>
  <dcterms:modified xsi:type="dcterms:W3CDTF">2026-04-28T08:12:11Z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98E8D257C7F0D604DB6BF0694F5F9983_42</vt:lpwstr>
  </property>
  <property fmtid="{D5CDD505-2E9C-101B-9397-08002B2CF9AE}" pid="3" name="KSOProductBuildVer">
    <vt:lpwstr>1033-12.1.23155.23155</vt:lpwstr>
  </property>
</Properties>
</file>