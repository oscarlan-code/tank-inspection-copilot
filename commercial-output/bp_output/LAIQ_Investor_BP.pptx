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9456"/>
            <a:ext cx="593296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0972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DCEFE9"/>
                </a:solidFill>
                <a:latin typeface="Arial"/>
              </a:rPr>
              <a:t>Leave Site with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36192"/>
            <a:ext cx="7132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Report-Ready
Inspection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15184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B8B4"/>
                </a:solidFill>
                <a:latin typeface="Arial"/>
              </a:rPr>
              <a:t>AI-powered field inspection and asset intelligence · starting with oil &amp; 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999232"/>
            <a:ext cx="7132320" cy="27432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3108960"/>
            <a:ext cx="1280160" cy="62179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3145536"/>
            <a:ext cx="11521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Field
Inspection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6231" y="3218687"/>
            <a:ext cx="2560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B8B4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56816" y="3108960"/>
            <a:ext cx="1280160" cy="621792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20824" y="3145536"/>
            <a:ext cx="11521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Structured
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218687"/>
            <a:ext cx="2560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B8B4"/>
                </a:solidFill>
                <a:latin typeface="Arial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46704" y="3108960"/>
            <a:ext cx="1280160" cy="6217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3145536"/>
            <a:ext cx="11521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AI Report
Package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218687"/>
            <a:ext cx="2560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B8B4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36592" y="3108960"/>
            <a:ext cx="1280160" cy="621792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3145536"/>
            <a:ext cx="11521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Asset
Knowledge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3218687"/>
            <a:ext cx="2560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B8B4"/>
                </a:solidFill>
                <a:latin typeface="Arial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3108960"/>
            <a:ext cx="1280160" cy="621792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0488" y="3145536"/>
            <a:ext cx="11521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Weak Point /
FMEA Intel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858768"/>
            <a:ext cx="1517904" cy="256032"/>
          </a:xfrm>
          <a:prstGeom prst="rect">
            <a:avLst/>
          </a:prstGeom>
          <a:solidFill>
            <a:srgbClr val="DCEFE9"/>
          </a:solidFill>
          <a:ln w="6350"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877056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75F5C"/>
                </a:solidFill>
                <a:latin typeface="Arial"/>
              </a:rPr>
              <a:t>Beachhead: Oil &amp; Gas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76272" y="3858768"/>
            <a:ext cx="2439619" cy="256032"/>
          </a:xfrm>
          <a:prstGeom prst="rect">
            <a:avLst/>
          </a:prstGeom>
          <a:solidFill>
            <a:srgbClr val="FDF0E0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9424" y="3877056"/>
            <a:ext cx="231160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67E22"/>
                </a:solidFill>
                <a:latin typeface="Arial"/>
              </a:rPr>
              <a:t>Model: Free Capture + Paid Reports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7331" y="3858768"/>
            <a:ext cx="1978761" cy="256032"/>
          </a:xfrm>
          <a:prstGeom prst="rect">
            <a:avLst/>
          </a:prstGeom>
          <a:solidFill>
            <a:srgbClr val="DCEFE9"/>
          </a:solidFill>
          <a:ln w="6350"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80483" y="3877056"/>
            <a:ext cx="185074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A1628"/>
                </a:solidFill>
                <a:latin typeface="Arial"/>
              </a:rPr>
              <a:t>Hardware: ATEX/IECEx Device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77532" y="3858768"/>
            <a:ext cx="1781251" cy="256032"/>
          </a:xfrm>
          <a:prstGeom prst="rect">
            <a:avLst/>
          </a:prstGeom>
          <a:solidFill>
            <a:srgbClr val="DCEFE9"/>
          </a:solidFill>
          <a:ln w="6350"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0684" y="3877056"/>
            <a:ext cx="16532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75F5C"/>
                </a:solidFill>
                <a:latin typeface="Arial"/>
              </a:rPr>
              <a:t>Moat: Asset Intelligence</a:t>
            </a:r>
          </a:p>
        </p:txBody>
      </p:sp>
      <p:pic>
        <p:nvPicPr>
          <p:cNvPr id="31" name="Picture 30" descr="atex_pda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347" y="2468880"/>
            <a:ext cx="4380361" cy="24688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82127" y="499262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8B8B4"/>
                </a:solidFill>
                <a:latin typeface="Arial"/>
              </a:rPr>
              <a:t>ATEX/IECEx certified rugged tablet with LAIQ Field App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1005840"/>
            <a:ext cx="27432" cy="5486400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4592" y="6611112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B4"/>
                </a:solidFill>
                <a:latin typeface="Arial"/>
              </a:rPr>
              <a:t>S1 · Cover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611112"/>
            <a:ext cx="560527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8B8B4"/>
                </a:solidFill>
                <a:latin typeface="Arial"/>
              </a:rPr>
              <a:t>LAIQ  ·  Confidential</a:t>
            </a:r>
          </a:p>
        </p:txBody>
      </p:sp>
      <p:pic>
        <p:nvPicPr>
          <p:cNvPr id="37" name="Picture 36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1881" y="6565392"/>
            <a:ext cx="514190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6400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75F5C"/>
                </a:solidFill>
                <a:latin typeface="Arial"/>
              </a:rPr>
              <a:t>PROBLEM +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75F5C"/>
                </a:solidFill>
                <a:latin typeface="Arial"/>
              </a:rPr>
              <a:t>Manual Inspection Data Capture Breaks Report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521440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Most tank inspections still move through notebooks, phone photos, spreadsheets, and back-office report assembly. LAIQ replaces that with one structured capture path.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5440680" cy="2907792"/>
          </a:xfrm>
          <a:prstGeom prst="rect">
            <a:avLst/>
          </a:prstGeom>
          <a:solidFill>
            <a:srgbClr val="FFFFFF"/>
          </a:solidFill>
          <a:ln w="1143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37360" y="1353312"/>
            <a:ext cx="1572768" cy="310896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65376" y="1399032"/>
            <a:ext cx="13167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02020"/>
                </a:solidFill>
                <a:latin typeface="Arial"/>
              </a:rPr>
              <a:t>Current inspection workflow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" y="2066543"/>
            <a:ext cx="822960" cy="603504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724912"/>
            <a:ext cx="676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 i="0">
                <a:solidFill>
                  <a:srgbClr val="17201E"/>
                </a:solidFill>
                <a:latin typeface="Arial"/>
              </a:rPr>
              <a:t>Field
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226771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02020"/>
                </a:solidFill>
                <a:latin typeface="Arial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48256" y="2066543"/>
            <a:ext cx="822960" cy="603504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21408" y="2724912"/>
            <a:ext cx="676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 i="0">
                <a:solidFill>
                  <a:srgbClr val="17201E"/>
                </a:solidFill>
                <a:latin typeface="Arial"/>
              </a:rPr>
              <a:t>Excel
Entry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26771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02020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18688" y="2066543"/>
            <a:ext cx="822960" cy="603504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2724912"/>
            <a:ext cx="676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 i="0">
                <a:solidFill>
                  <a:srgbClr val="17201E"/>
                </a:solidFill>
                <a:latin typeface="Arial"/>
              </a:rPr>
              <a:t>Photo
Folder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6512" y="226771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02020"/>
                </a:solidFill>
                <a:latin typeface="Arial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2066543"/>
            <a:ext cx="822960" cy="603504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2724912"/>
            <a:ext cx="676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 i="0">
                <a:solidFill>
                  <a:srgbClr val="17201E"/>
                </a:solidFill>
                <a:latin typeface="Arial"/>
              </a:rPr>
              <a:t>Manual
Report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2212848"/>
            <a:ext cx="237744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33856" y="2286000"/>
            <a:ext cx="146304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3856" y="2359152"/>
            <a:ext cx="146304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33856" y="2432304"/>
            <a:ext cx="146304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31136" y="2194560"/>
            <a:ext cx="292608" cy="32918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67712" y="2276856"/>
            <a:ext cx="914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2249424"/>
            <a:ext cx="347472" cy="219456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38144" y="2176272"/>
            <a:ext cx="128016" cy="91440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08576" y="2194560"/>
            <a:ext cx="219456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54296" y="2286000"/>
            <a:ext cx="128016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54296" y="2359152"/>
            <a:ext cx="128016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54296" y="2432304"/>
            <a:ext cx="128016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9808" y="3163824"/>
            <a:ext cx="4937760" cy="18288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334670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B02020"/>
                </a:solidFill>
                <a:latin typeface="Arial"/>
              </a:rPr>
              <a:t>▸  Duplicate entry: field notes are typed again in the office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362102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B02020"/>
                </a:solidFill>
                <a:latin typeface="Arial"/>
              </a:rPr>
              <a:t>▸  Broken evidence chain: photos and findings live outside the UT record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389534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B02020"/>
                </a:solidFill>
                <a:latin typeface="Arial"/>
              </a:rPr>
              <a:t>▸  Weak traceability: location is reconstructed later from memory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" y="416966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B02020"/>
                </a:solidFill>
                <a:latin typeface="Arial"/>
              </a:rPr>
              <a:t>▸  Slow turnaround: report assembly starts after the site visit ends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6208" y="1536192"/>
            <a:ext cx="5806440" cy="2907792"/>
          </a:xfrm>
          <a:prstGeom prst="rect">
            <a:avLst/>
          </a:prstGeom>
          <a:solidFill>
            <a:srgbClr val="FFFFFF"/>
          </a:solidFill>
          <a:ln w="11430">
            <a:solidFill>
              <a:srgbClr val="62B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56448" y="1353312"/>
            <a:ext cx="1938528" cy="310896"/>
          </a:xfrm>
          <a:prstGeom prst="rect">
            <a:avLst/>
          </a:prstGeom>
          <a:solidFill>
            <a:srgbClr val="62B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1399032"/>
            <a:ext cx="16093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WITH LAIQ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1792224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75F5C"/>
                </a:solidFill>
                <a:latin typeface="Arial"/>
              </a:rPr>
              <a:t>Structured capture to report-ready package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10528" y="2066543"/>
            <a:ext cx="969264" cy="60350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215798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 i="0">
                <a:solidFill>
                  <a:srgbClr val="FFFFFF"/>
                </a:solidFill>
                <a:latin typeface="Arial"/>
              </a:rPr>
              <a:t>Guided
Capture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16368" y="226771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2B462"/>
                </a:solidFill>
                <a:latin typeface="Arial"/>
              </a:rPr>
              <a:t>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82127" y="2066543"/>
            <a:ext cx="969264" cy="603504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55279" y="215798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 i="0">
                <a:solidFill>
                  <a:srgbClr val="FFFFFF"/>
                </a:solidFill>
                <a:latin typeface="Arial"/>
              </a:rPr>
              <a:t>Structured
Record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87967" y="226771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2B462"/>
                </a:solidFill>
                <a:latin typeface="Arial"/>
              </a:rPr>
              <a:t>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53728" y="2066543"/>
            <a:ext cx="969264" cy="60350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0" y="215798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 i="0">
                <a:solidFill>
                  <a:srgbClr val="FFFFFF"/>
                </a:solidFill>
                <a:latin typeface="Arial"/>
              </a:rPr>
              <a:t>AI Report
Package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59567" y="226771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2B462"/>
                </a:solidFill>
                <a:latin typeface="Arial"/>
              </a:rPr>
              <a:t>▶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625328" y="2066543"/>
            <a:ext cx="969264" cy="6035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698480" y="215798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 i="0">
                <a:solidFill>
                  <a:srgbClr val="FFFFFF"/>
                </a:solidFill>
                <a:latin typeface="Arial"/>
              </a:rPr>
              <a:t>Asset
History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92240" y="3163824"/>
            <a:ext cx="5230368" cy="18288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65392" y="3346704"/>
            <a:ext cx="5010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2E7D32"/>
                </a:solidFill>
                <a:latin typeface="Arial"/>
              </a:rPr>
              <a:t>▸  One-time capture: measurements, findings, and photos stay in one record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65392" y="3621024"/>
            <a:ext cx="5010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2E7D32"/>
                </a:solidFill>
                <a:latin typeface="Arial"/>
              </a:rPr>
              <a:t>▸  Structured evidence: shell, roof, nozzle, and MFL context stay linked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65392" y="3895344"/>
            <a:ext cx="5010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2E7D32"/>
                </a:solidFill>
                <a:latin typeface="Arial"/>
              </a:rPr>
              <a:t>▸  Faster report draft: AI assembles tables and evidence from the same record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65392" y="4169664"/>
            <a:ext cx="5010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2E7D32"/>
                </a:solidFill>
                <a:latin typeface="Arial"/>
              </a:rPr>
              <a:t>▸  Asset history: every finished job becomes reusable inspection memory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11880" y="4553712"/>
            <a:ext cx="5303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85615" y="4608576"/>
            <a:ext cx="4956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7201E"/>
                </a:solidFill>
                <a:latin typeface="Arial"/>
              </a:rPr>
              <a:t>INSPECTION PACKAGE OUTPUT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4944" y="4828032"/>
            <a:ext cx="272491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94944" y="4828032"/>
            <a:ext cx="2724912" cy="182880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6384" y="4873752"/>
            <a:ext cx="2542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Arial"/>
              </a:rPr>
              <a:t>UT Tables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" y="510235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01E"/>
                </a:solidFill>
                <a:latin typeface="Arial"/>
              </a:rPr>
              <a:t>Shell · Roof · Nozzle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42032" y="5065776"/>
            <a:ext cx="676656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542032" y="5170932"/>
            <a:ext cx="676656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711196" y="5065776"/>
            <a:ext cx="9144" cy="42062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542032" y="5276088"/>
            <a:ext cx="676656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880360" y="5065776"/>
            <a:ext cx="9144" cy="42062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542032" y="5381244"/>
            <a:ext cx="676656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049524" y="5065776"/>
            <a:ext cx="9144" cy="42062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566160" y="4828032"/>
            <a:ext cx="272491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566160" y="4828032"/>
            <a:ext cx="2724912" cy="182880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0" y="4873752"/>
            <a:ext cx="2542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Arial"/>
              </a:rPr>
              <a:t>Findings Register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94176" y="510235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01E"/>
                </a:solidFill>
                <a:latin typeface="Arial"/>
              </a:rPr>
              <a:t>Severity · note · measurement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04688" y="5065776"/>
            <a:ext cx="4572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559552" y="5129784"/>
            <a:ext cx="36576" cy="36576"/>
          </a:xfrm>
          <a:prstGeom prst="ellipse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650992" y="5138928"/>
            <a:ext cx="182880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559552" y="5230368"/>
            <a:ext cx="36576" cy="36576"/>
          </a:xfrm>
          <a:prstGeom prst="ellipse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650992" y="5239512"/>
            <a:ext cx="182880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559552" y="5330952"/>
            <a:ext cx="36576" cy="36576"/>
          </a:xfrm>
          <a:prstGeom prst="ellipse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650992" y="5340096"/>
            <a:ext cx="182880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437376" y="4828032"/>
            <a:ext cx="272491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437376" y="4828032"/>
            <a:ext cx="2724912" cy="182880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528816" y="4873752"/>
            <a:ext cx="2542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Arial"/>
              </a:rPr>
              <a:t>Linked Evidence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65392" y="510235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01E"/>
                </a:solidFill>
                <a:latin typeface="Arial"/>
              </a:rPr>
              <a:t>Photo → task → finding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66176" y="5084064"/>
            <a:ext cx="237744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577072" y="5157216"/>
            <a:ext cx="237744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430768" y="5212080"/>
            <a:ext cx="146304" cy="73152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308592" y="4828032"/>
            <a:ext cx="272491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308592" y="4828032"/>
            <a:ext cx="2724912" cy="182880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400032" y="4873752"/>
            <a:ext cx="254203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Arial"/>
              </a:rPr>
              <a:t>Report Package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436608" y="510235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01E"/>
                </a:solidFill>
                <a:latin typeface="Arial"/>
              </a:rPr>
              <a:t>Structured export + draft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173968" y="5047488"/>
            <a:ext cx="347472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1228832" y="5157216"/>
            <a:ext cx="201168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1228832" y="5248656"/>
            <a:ext cx="201168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1228832" y="5340096"/>
            <a:ext cx="201168" cy="914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1393424" y="5047488"/>
            <a:ext cx="128016" cy="128016"/>
          </a:xfrm>
          <a:prstGeom prst="rect">
            <a:avLst/>
          </a:prstGeom>
          <a:solidFill>
            <a:srgbClr val="FFFFFF"/>
          </a:solidFill>
          <a:ln w="10160">
            <a:solidFill>
              <a:srgbClr val="60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02920" y="5998464"/>
            <a:ext cx="11539728" cy="438912"/>
          </a:xfrm>
          <a:prstGeom prst="rect">
            <a:avLst/>
          </a:prstGeom>
          <a:solidFill>
            <a:srgbClr val="DCEFE9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49808" y="6108192"/>
            <a:ext cx="11018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75F5C"/>
                </a:solidFill>
                <a:latin typeface="Arial"/>
              </a:rPr>
              <a:t>The value is not the form. The value is a structured inspection record that becomes a report-ready package.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64592" y="6611112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B4"/>
                </a:solidFill>
                <a:latin typeface="Arial"/>
              </a:rPr>
              <a:t>S2 · Pain vs LAIQ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00800" y="6611112"/>
            <a:ext cx="560527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8B8B4"/>
                </a:solidFill>
                <a:latin typeface="Arial"/>
              </a:rPr>
              <a:t>LAIQ  ·  Confidential</a:t>
            </a:r>
          </a:p>
        </p:txBody>
      </p:sp>
      <p:pic>
        <p:nvPicPr>
          <p:cNvPr id="105" name="Picture 104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1881" y="6565392"/>
            <a:ext cx="514190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6400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75F5C"/>
                </a:solidFill>
                <a:latin typeface="Arial"/>
              </a:rPr>
              <a:t>BEACHHEAD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75F5C"/>
                </a:solidFill>
                <a:latin typeface="Arial"/>
              </a:rPr>
              <a:t>Start with Oil &amp; Gas Tank Inspection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521440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Why this beachhead first: high-frequency inspection workflows, heavy capture burden, and reports that are still largely assembled manually.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3749039" cy="4572000"/>
          </a:xfrm>
          <a:prstGeom prst="rect">
            <a:avLst/>
          </a:prstGeom>
          <a:solidFill>
            <a:srgbClr val="F4F7F6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0078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Arial"/>
              </a:rPr>
              <a:t>Inspection scale and burden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202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A8B8B4"/>
                </a:solidFill>
                <a:latin typeface="Arial"/>
              </a:rPr>
              <a:t>Public tank counts are fragmented. Commercial terminal datasets still show a very large installed base.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322576"/>
            <a:ext cx="1609344" cy="1115568"/>
          </a:xfrm>
          <a:prstGeom prst="rect">
            <a:avLst/>
          </a:prstGeom>
          <a:solidFill>
            <a:srgbClr val="FFFFFF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322576"/>
            <a:ext cx="54864" cy="111556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432304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75F5C"/>
                </a:solidFill>
                <a:latin typeface="Arial"/>
              </a:rPr>
              <a:t>10,100+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779776"/>
            <a:ext cx="1316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70" b="0" i="0">
                <a:solidFill>
                  <a:srgbClr val="17201E"/>
                </a:solidFill>
                <a:latin typeface="Arial"/>
              </a:rPr>
              <a:t>tank terminals worldwide
in TankTerminals demo scope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2322576"/>
            <a:ext cx="1609344" cy="1115568"/>
          </a:xfrm>
          <a:prstGeom prst="rect">
            <a:avLst/>
          </a:prstGeom>
          <a:solidFill>
            <a:srgbClr val="FFFFFF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87168" y="2322576"/>
            <a:ext cx="54864" cy="1115568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2432304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A807C"/>
                </a:solidFill>
                <a:latin typeface="Arial"/>
              </a:rPr>
              <a:t>12,600+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2779776"/>
            <a:ext cx="1316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70" b="0" i="0">
                <a:solidFill>
                  <a:srgbClr val="17201E"/>
                </a:solidFill>
                <a:latin typeface="Arial"/>
              </a:rPr>
              <a:t>tank storage facilities in
broader platform scope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3675887"/>
            <a:ext cx="1609344" cy="1115568"/>
          </a:xfrm>
          <a:prstGeom prst="rect">
            <a:avLst/>
          </a:prstGeom>
          <a:solidFill>
            <a:srgbClr val="FFFFFF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675887"/>
            <a:ext cx="54864" cy="11155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785615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67E22"/>
                </a:solidFill>
                <a:latin typeface="Arial"/>
              </a:rPr>
              <a:t>~1,000–2,000+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133087"/>
            <a:ext cx="1316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70" b="0" i="0">
                <a:solidFill>
                  <a:srgbClr val="17201E"/>
                </a:solidFill>
                <a:latin typeface="Arial"/>
              </a:rPr>
              <a:t>terminal-level external inspection
cycles per year at a 5-year cadence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3675887"/>
            <a:ext cx="1609344" cy="1115568"/>
          </a:xfrm>
          <a:prstGeom prst="rect">
            <a:avLst/>
          </a:prstGeom>
          <a:solidFill>
            <a:srgbClr val="FFFFFF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87168" y="3675887"/>
            <a:ext cx="54864" cy="11155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33472" y="3785615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A1628"/>
                </a:solidFill>
                <a:latin typeface="Arial"/>
              </a:rPr>
              <a:t>580+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33472" y="4133087"/>
            <a:ext cx="1316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70" b="0" i="0">
                <a:solidFill>
                  <a:srgbClr val="17201E"/>
                </a:solidFill>
                <a:latin typeface="Arial"/>
              </a:rPr>
              <a:t>structured capture points in one sample tank report
before photos and MFL maps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138928"/>
            <a:ext cx="332841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5285232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75F5C"/>
                </a:solidFill>
                <a:latin typeface="Arial"/>
              </a:rPr>
              <a:t>Sample report burden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5504688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0" b="0" i="0">
                <a:solidFill>
                  <a:srgbClr val="17201E"/>
                </a:solidFill>
                <a:latin typeface="Arial"/>
              </a:rPr>
              <a:t>36–74 pages
9.5k–12.3k words
195 checklist items
~385 UT readings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62272" y="1536192"/>
            <a:ext cx="3822191" cy="4572000"/>
          </a:xfrm>
          <a:prstGeom prst="rect">
            <a:avLst/>
          </a:prstGeom>
          <a:solidFill>
            <a:srgbClr val="DCEFE9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62272" y="1536192"/>
            <a:ext cx="3822191" cy="493776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1664208"/>
            <a:ext cx="3383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FFFFFF"/>
                </a:solidFill>
                <a:latin typeface="Arial"/>
              </a:rPr>
              <a:t>Solution — structured field capture to AI report package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2194560"/>
            <a:ext cx="34015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0" b="0" i="0">
                <a:solidFill>
                  <a:srgbClr val="52625E"/>
                </a:solidFill>
                <a:latin typeface="Arial"/>
              </a:rPr>
              <a:t>Today: notebook → Excel → photo folder → report assembly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81728" y="2487168"/>
            <a:ext cx="804672" cy="42062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2542032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rial"/>
              </a:rPr>
              <a:t>Field
Capture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22976" y="2496312"/>
            <a:ext cx="2194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2625E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50992" y="2487168"/>
            <a:ext cx="804672" cy="42062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24144" y="2542032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rial"/>
              </a:rPr>
              <a:t>Excel
Re-key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496312"/>
            <a:ext cx="2194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2625E"/>
                </a:solidFill>
                <a:latin typeface="Arial"/>
              </a:rPr>
              <a:t>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20256" y="2487168"/>
            <a:ext cx="804672" cy="42062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93408" y="2542032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rial"/>
              </a:rPr>
              <a:t>Photo
Folder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9712" y="2962656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625E"/>
                </a:solidFill>
                <a:latin typeface="Arial"/>
              </a:rPr>
              <a:t>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0256" y="3182112"/>
            <a:ext cx="804672" cy="420624"/>
          </a:xfrm>
          <a:prstGeom prst="rect">
            <a:avLst/>
          </a:prstGeom>
          <a:solidFill>
            <a:srgbClr val="60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93408" y="3236976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rial"/>
              </a:rPr>
              <a:t>Manual
Report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63440" y="3694176"/>
            <a:ext cx="1993392" cy="1755648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atex_pda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4051467"/>
            <a:ext cx="1847088" cy="104106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882896" y="5486400"/>
            <a:ext cx="15727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8B8B4"/>
                </a:solidFill>
                <a:latin typeface="Arial"/>
              </a:rPr>
              <a:t>LAIQ field workflow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76288" y="4096512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5F5C"/>
                </a:solidFill>
                <a:latin typeface="Arial"/>
              </a:rPr>
              <a:t>AI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38544" y="4443984"/>
            <a:ext cx="2194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5F5C"/>
                </a:solidFill>
                <a:latin typeface="Arial"/>
              </a:rPr>
              <a:t>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8624" y="4443984"/>
            <a:ext cx="2194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5F5C"/>
                </a:solidFill>
                <a:latin typeface="Arial"/>
              </a:rPr>
              <a:t>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06640" y="3675887"/>
            <a:ext cx="658368" cy="1810512"/>
          </a:xfrm>
          <a:prstGeom prst="rect">
            <a:avLst/>
          </a:prstGeom>
          <a:solidFill>
            <a:srgbClr val="FFFFFF"/>
          </a:solidFill>
          <a:ln w="381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report_sample_shell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4219068"/>
            <a:ext cx="512063" cy="724151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7461504" y="3730752"/>
            <a:ext cx="54864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61504" y="5230368"/>
            <a:ext cx="548640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87184" y="5486400"/>
            <a:ext cx="10789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8B8B4"/>
                </a:solidFill>
                <a:latin typeface="Arial"/>
              </a:rPr>
              <a:t>AI report output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81728" y="5669280"/>
            <a:ext cx="3383280" cy="27432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91456" y="5742432"/>
            <a:ext cx="31638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0" b="1" i="0">
                <a:solidFill>
                  <a:srgbClr val="FFFFFF"/>
                </a:solidFill>
                <a:latin typeface="Arial"/>
              </a:rPr>
              <a:t>1 capture path → structured record → report draft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85632" y="1536192"/>
            <a:ext cx="3557016" cy="4572000"/>
          </a:xfrm>
          <a:prstGeom prst="rect">
            <a:avLst/>
          </a:prstGeom>
          <a:solidFill>
            <a:srgbClr val="F4F7F6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05088" y="170078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Arial"/>
              </a:rPr>
              <a:t>What LAIQ changes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05088" y="1993392"/>
            <a:ext cx="3127248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705088" y="1993392"/>
            <a:ext cx="64008" cy="74980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87968" y="208483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1" i="0">
                <a:solidFill>
                  <a:srgbClr val="17201E"/>
                </a:solidFill>
                <a:latin typeface="Arial"/>
              </a:rPr>
              <a:t>One-time capture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87968" y="23042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52625E"/>
                </a:solidFill>
                <a:latin typeface="Arial"/>
              </a:rPr>
              <a:t>No notebook → Excel → report re-key chain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05088" y="2944368"/>
            <a:ext cx="3127248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705088" y="2944368"/>
            <a:ext cx="64008" cy="749808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87968" y="303580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1" i="0">
                <a:solidFill>
                  <a:srgbClr val="17201E"/>
                </a:solidFill>
                <a:latin typeface="Arial"/>
              </a:rPr>
              <a:t>Structured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87968" y="32552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52625E"/>
                </a:solidFill>
                <a:latin typeface="Arial"/>
              </a:rPr>
              <a:t>UT, findings, photos, and MFL stay linked at source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705088" y="3895344"/>
            <a:ext cx="3127248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705088" y="3895344"/>
            <a:ext cx="64008" cy="7498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887968" y="3986783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1" i="0">
                <a:solidFill>
                  <a:srgbClr val="17201E"/>
                </a:solidFill>
                <a:latin typeface="Arial"/>
              </a:rPr>
              <a:t>1-click report draft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87968" y="42062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52625E"/>
                </a:solidFill>
                <a:latin typeface="Arial"/>
              </a:rPr>
              <a:t>Tables, findings register, and evidence pack assemble from the same record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05088" y="4846320"/>
            <a:ext cx="3127248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705088" y="4846320"/>
            <a:ext cx="64008" cy="7498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887968" y="4937760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1" i="0">
                <a:solidFill>
                  <a:srgbClr val="17201E"/>
                </a:solidFill>
                <a:latin typeface="Arial"/>
              </a:rPr>
              <a:t>Asset history starts now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87968" y="51572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52625E"/>
                </a:solidFill>
                <a:latin typeface="Arial"/>
              </a:rPr>
              <a:t>Every finished report becomes reusable inspection memory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" y="6309360"/>
            <a:ext cx="11064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" b="0" i="1">
                <a:solidFill>
                  <a:srgbClr val="A8B8B4"/>
                </a:solidFill>
                <a:latin typeface="Arial"/>
              </a:rPr>
              <a:t>Source note: TankTerminals commercial database pages; 5-year external inspection cadence from API 653 market-practice references; sample-report burden from LAIQ analysis of 3 reports in /data.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4592" y="6611112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B4"/>
                </a:solidFill>
                <a:latin typeface="Arial"/>
              </a:rPr>
              <a:t>S3 · Beachhead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0" y="6611112"/>
            <a:ext cx="560527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8B8B4"/>
                </a:solidFill>
                <a:latin typeface="Arial"/>
              </a:rPr>
              <a:t>LAIQ  ·  Confidential</a:t>
            </a:r>
          </a:p>
        </p:txBody>
      </p:sp>
      <p:pic>
        <p:nvPicPr>
          <p:cNvPr id="80" name="Picture 79" descr="laiq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1881" y="6565392"/>
            <a:ext cx="514190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6400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75F5C"/>
                </a:solidFill>
                <a:latin typeface="Arial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75F5C"/>
                </a:solidFill>
                <a:latin typeface="Arial"/>
              </a:rPr>
              <a:t>Free Capture Creates Paid Report Volume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521440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The model starts with low-friction adoption, then monetises the report package and expands into recurring intelligence products.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Arial"/>
              </a:rPr>
              <a:t>Commercial stack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65376"/>
            <a:ext cx="4892040" cy="749808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65376"/>
            <a:ext cx="82296" cy="74980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956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7201E"/>
                </a:solidFill>
                <a:latin typeface="Arial"/>
              </a:rPr>
              <a:t>1. Device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956816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2625E"/>
                </a:solidFill>
                <a:latin typeface="Arial"/>
              </a:rPr>
              <a:t>ATEX/IECEx field device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311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75F5C"/>
                </a:solidFill>
                <a:latin typeface="Arial"/>
              </a:rPr>
              <a:t>USD 5,000 / device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98064"/>
            <a:ext cx="4892040" cy="749808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798064"/>
            <a:ext cx="82296" cy="749808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88950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7201E"/>
                </a:solidFill>
                <a:latin typeface="Arial"/>
              </a:rPr>
              <a:t>2. Seats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889504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2625E"/>
                </a:solidFill>
                <a:latin typeface="Arial"/>
              </a:rPr>
              <a:t>Inspectors and reviewers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16382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4A807C"/>
                </a:solidFill>
                <a:latin typeface="Arial"/>
              </a:rPr>
              <a:t>USD 50–80 / user / year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30752"/>
            <a:ext cx="4892040" cy="749808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30752"/>
            <a:ext cx="82296" cy="7498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822191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7201E"/>
                </a:solidFill>
                <a:latin typeface="Arial"/>
              </a:rPr>
              <a:t>3. 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822191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2625E"/>
                </a:solidFill>
                <a:latin typeface="Arial"/>
              </a:rPr>
              <a:t>AI-generated inspection package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09651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E67E22"/>
                </a:solidFill>
                <a:latin typeface="Arial"/>
              </a:rPr>
              <a:t>USD 50–300 / report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663440"/>
            <a:ext cx="4892040" cy="749808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663440"/>
            <a:ext cx="82296" cy="7498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4754879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7201E"/>
                </a:solidFill>
                <a:latin typeface="Arial"/>
              </a:rPr>
              <a:t>4. Enterprise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4754879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52625E"/>
                </a:solidFill>
                <a:latin typeface="Arial"/>
              </a:rPr>
              <a:t>Asset memory + reliability modules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0292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A1628"/>
                </a:solidFill>
                <a:latin typeface="Arial"/>
              </a:rPr>
              <a:t>Premium subscription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760720"/>
            <a:ext cx="4892040" cy="438912"/>
          </a:xfrm>
          <a:prstGeom prst="rect">
            <a:avLst/>
          </a:prstGeom>
          <a:solidFill>
            <a:srgbClr val="DCEFE9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870448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1">
                <a:solidFill>
                  <a:srgbClr val="075F5C"/>
                </a:solidFill>
                <a:latin typeface="Arial"/>
              </a:rPr>
              <a:t>Free capture is an acquisition strategy. Paid value starts when LAIQ assembles the report package.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157276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Arial"/>
              </a:rPr>
              <a:t>Data flywheel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743200"/>
            <a:ext cx="1920240" cy="950976"/>
          </a:xfrm>
          <a:prstGeom prst="ellipse">
            <a:avLst/>
          </a:prstGeom>
          <a:solidFill>
            <a:srgbClr val="DCEF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2907792"/>
            <a:ext cx="1554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75F5C"/>
                </a:solidFill>
                <a:latin typeface="Arial"/>
              </a:rPr>
              <a:t>Better
Report Agent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97880" y="1920240"/>
            <a:ext cx="1755648" cy="676656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98464" y="201168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Free Capture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98464" y="2249424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DCEFE9"/>
                </a:solidFill>
                <a:latin typeface="Arial"/>
              </a:rPr>
              <a:t>more inspectors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0" y="1920240"/>
            <a:ext cx="1755648" cy="676656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40" y="2011680"/>
            <a:ext cx="15727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More Records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2249424"/>
            <a:ext cx="15727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DCEFE9"/>
                </a:solidFill>
                <a:latin typeface="Arial"/>
              </a:rPr>
              <a:t>structured history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0" y="3858768"/>
            <a:ext cx="1755648" cy="67665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3950208"/>
            <a:ext cx="15727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Paid Reports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4187952"/>
            <a:ext cx="15727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FDF0E0"/>
                </a:solidFill>
                <a:latin typeface="Arial"/>
              </a:rPr>
              <a:t>faster output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97880" y="3858768"/>
            <a:ext cx="1755648" cy="67665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98464" y="395020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Asset Memory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98464" y="4187952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" b="0" i="0">
                <a:solidFill>
                  <a:srgbClr val="DCEFE9"/>
                </a:solidFill>
                <a:latin typeface="Arial"/>
              </a:rPr>
              <a:t>better recommendations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62672" y="2103120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ABBB6"/>
                </a:solidFill>
                <a:latin typeface="Arial"/>
              </a:rPr>
              <a:t>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53344" y="2633472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ABBB6"/>
                </a:solidFill>
                <a:latin typeface="Arial"/>
              </a:rPr>
              <a:t>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62672" y="4041648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ABBB6"/>
                </a:solidFill>
                <a:latin typeface="Arial"/>
              </a:rPr>
              <a:t>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2633472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ABBB6"/>
                </a:solidFill>
                <a:latin typeface="Arial"/>
              </a:rPr>
              <a:t>▲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06440" y="4937760"/>
            <a:ext cx="6080760" cy="987552"/>
          </a:xfrm>
          <a:prstGeom prst="rect">
            <a:avLst/>
          </a:prstGeom>
          <a:solidFill>
            <a:srgbClr val="F4F7F6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98464" y="510235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75F5C"/>
                </a:solidFill>
                <a:latin typeface="Arial"/>
              </a:rPr>
              <a:t>Why this matters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98464" y="5376672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7201E"/>
                </a:solidFill>
                <a:latin typeface="Arial"/>
              </a:rPr>
              <a:t>Every completed report improves the structured dataset, which improves future report generation and makes higher-value intelligence products more credible.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64592" y="6611112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B4"/>
                </a:solidFill>
                <a:latin typeface="Arial"/>
              </a:rPr>
              <a:t>S4 · Business Model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6611112"/>
            <a:ext cx="560527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8B8B4"/>
                </a:solidFill>
                <a:latin typeface="Arial"/>
              </a:rPr>
              <a:t>LAIQ  ·  Confidential</a:t>
            </a:r>
          </a:p>
        </p:txBody>
      </p:sp>
      <p:pic>
        <p:nvPicPr>
          <p:cNvPr id="56" name="Picture 55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1881" y="6565392"/>
            <a:ext cx="514190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6400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75F5C"/>
                </a:solidFill>
                <a:latin typeface="Arial"/>
              </a:rPr>
              <a:t>MARKET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A1628"/>
                </a:solidFill>
                <a:latin typeface="Arial"/>
              </a:rPr>
              <a:t>Focused Oil &amp; Gas Entry, Larger Industrial Inspection TAM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521440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Use a narrow entry wedge first, then expand the same structured workflow into adjacent asset-heavy inspections.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Arial"/>
              </a:rPr>
              <a:t>Addressable ladder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83664"/>
            <a:ext cx="5852160" cy="84124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99339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975104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USD 1.9B–6.5B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1" y="1993392"/>
            <a:ext cx="2176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DCEFE9"/>
                </a:solidFill>
                <a:latin typeface="Arial"/>
              </a:rPr>
              <a:t>Industrial inspection workflow + report layer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" y="2999232"/>
            <a:ext cx="5193792" cy="841248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0896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SAM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9384" y="3090672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USD 36M–134M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3108960"/>
            <a:ext cx="15179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DCEFE9"/>
                </a:solidFill>
                <a:latin typeface="Arial"/>
              </a:rPr>
              <a:t>Digitally ready oil &amp; gas inspection workflows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61288" y="4114800"/>
            <a:ext cx="4535424" cy="84124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9304" y="422452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8568" y="4206240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USD 0.9M–7.1M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224528"/>
            <a:ext cx="859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DCEFE9"/>
                </a:solidFill>
                <a:latin typeface="Arial"/>
              </a:rPr>
              <a:t>3-year beachhead in oil &amp; gas tank inspection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358384"/>
            <a:ext cx="5669280" cy="493776"/>
          </a:xfrm>
          <a:prstGeom prst="rect">
            <a:avLst/>
          </a:prstGeom>
          <a:solidFill>
            <a:srgbClr val="DCEFE9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50468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1">
                <a:solidFill>
                  <a:srgbClr val="075F5C"/>
                </a:solidFill>
                <a:latin typeface="Arial"/>
              </a:rPr>
              <a:t>Illustrative sizing based on device, seat, and report-generation layers.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57276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Arial"/>
              </a:rPr>
              <a:t>Revenue pools inside the wedge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883664"/>
            <a:ext cx="5074920" cy="786384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38544" y="1975104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1" i="0">
                <a:solidFill>
                  <a:srgbClr val="17201E"/>
                </a:solidFill>
                <a:latin typeface="Arial"/>
              </a:rPr>
              <a:t>Report generation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38544" y="2267712"/>
            <a:ext cx="4254703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2267712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USD 900M–3.6B / yr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2852928"/>
            <a:ext cx="5074920" cy="786384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8544" y="294436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1" i="0">
                <a:solidFill>
                  <a:srgbClr val="17201E"/>
                </a:solidFill>
                <a:latin typeface="Arial"/>
              </a:rPr>
              <a:t>Field devices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38544" y="3236976"/>
            <a:ext cx="3530498" cy="201168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48272" y="3236976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USD 1.0B–3.0B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822191"/>
            <a:ext cx="5074920" cy="786384"/>
          </a:xfrm>
          <a:prstGeom prst="rect">
            <a:avLst/>
          </a:prstGeom>
          <a:solidFill>
            <a:srgbClr val="F4F7F6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38544" y="3913631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1" i="0">
                <a:solidFill>
                  <a:srgbClr val="17201E"/>
                </a:solidFill>
                <a:latin typeface="Arial"/>
              </a:rPr>
              <a:t>Subscriptions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38544" y="4206240"/>
            <a:ext cx="1901037" cy="201168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48272" y="4206240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7201E"/>
                </a:solidFill>
                <a:latin typeface="Arial"/>
              </a:rPr>
              <a:t>USD 30M–144M / yr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4937760"/>
            <a:ext cx="5074920" cy="1005840"/>
          </a:xfrm>
          <a:prstGeom prst="rect">
            <a:avLst/>
          </a:prstGeom>
          <a:solidFill>
            <a:srgbClr val="F4F7F6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2" y="510235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75F5C"/>
                </a:solidFill>
                <a:latin typeface="Arial"/>
              </a:rPr>
              <a:t>Assumptions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6832" y="5376672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7201E"/>
                </a:solidFill>
                <a:latin typeface="Arial"/>
              </a:rPr>
              <a:t>▸  USD 5k certified field device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56832" y="559612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7201E"/>
                </a:solidFill>
                <a:latin typeface="Arial"/>
              </a:rPr>
              <a:t>▸  USD 50–80 user subscription per year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6832" y="5815583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7201E"/>
                </a:solidFill>
                <a:latin typeface="Arial"/>
              </a:rPr>
              <a:t>▸  USD 50–300 per report package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126480"/>
            <a:ext cx="11539728" cy="36576"/>
          </a:xfrm>
          <a:prstGeom prst="rect">
            <a:avLst/>
          </a:prstGeom>
          <a:solidFill>
            <a:srgbClr val="E2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21792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0A1628"/>
                </a:solidFill>
                <a:latin typeface="Arial"/>
              </a:rPr>
              <a:t>Expansion industries: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57400" y="6199632"/>
            <a:ext cx="808329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30552" y="6217920"/>
            <a:ext cx="68031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/>
              </a:rPr>
              <a:t>Oil &amp; Gas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38881" y="6199632"/>
            <a:ext cx="738835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12033" y="6217920"/>
            <a:ext cx="6108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/>
              </a:rPr>
              <a:t>Chemical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50868" y="6199632"/>
            <a:ext cx="1086307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24020" y="6217920"/>
            <a:ext cx="9582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/>
              </a:rPr>
              <a:t>Petrochemical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10328" y="6199632"/>
            <a:ext cx="530352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83480" y="6217920"/>
            <a:ext cx="4023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/>
              </a:rPr>
              <a:t>Power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13832" y="6199632"/>
            <a:ext cx="599846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86984" y="6217920"/>
            <a:ext cx="4718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/>
              </a:rPr>
              <a:t>Mining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86830" y="6199632"/>
            <a:ext cx="599846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59982" y="6217920"/>
            <a:ext cx="4718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/>
              </a:rPr>
              <a:t>Marine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9828" y="6199632"/>
            <a:ext cx="808329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32980" y="6217920"/>
            <a:ext cx="68031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/>
              </a:rPr>
              <a:t>Utilities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41310" y="6199632"/>
            <a:ext cx="1225295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14462" y="6217920"/>
            <a:ext cx="10972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/>
              </a:rPr>
              <a:t>Heavy Machinery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4592" y="6611112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B4"/>
                </a:solidFill>
                <a:latin typeface="Arial"/>
              </a:rPr>
              <a:t>S5 · Market Size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6611112"/>
            <a:ext cx="560527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8B8B4"/>
                </a:solidFill>
                <a:latin typeface="Arial"/>
              </a:rPr>
              <a:t>LAIQ  ·  Confidential</a:t>
            </a:r>
          </a:p>
        </p:txBody>
      </p:sp>
      <p:pic>
        <p:nvPicPr>
          <p:cNvPr id="62" name="Picture 61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1881" y="6565392"/>
            <a:ext cx="514190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6400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75F5C"/>
                </a:solidFill>
                <a:latin typeface="Arial"/>
              </a:rPr>
              <a:t>EXPANSION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75F5C"/>
                </a:solidFill>
                <a:latin typeface="Arial"/>
              </a:rPr>
              <a:t>From Report Generation to Asset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521440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52144"/>
            <a:ext cx="115397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075F5C"/>
                </a:solidFill>
                <a:latin typeface="Arial"/>
              </a:rPr>
              <a:t>The report is the entry point.   The asset knowledge base is the platform.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44752"/>
            <a:ext cx="11539728" cy="36576"/>
          </a:xfrm>
          <a:prstGeom prst="rect">
            <a:avLst/>
          </a:prstGeom>
          <a:solidFill>
            <a:srgbClr val="E2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Arial"/>
              </a:rPr>
              <a:t>Three horizons, one data spine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38528"/>
            <a:ext cx="3493008" cy="2834640"/>
          </a:xfrm>
          <a:prstGeom prst="rect">
            <a:avLst/>
          </a:prstGeom>
          <a:solidFill>
            <a:srgbClr val="F4F7F6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38528"/>
            <a:ext cx="3493008" cy="5486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" y="2084831"/>
            <a:ext cx="384048" cy="384048"/>
          </a:xfrm>
          <a:prstGeom prst="ellipse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084831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204825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7201E"/>
                </a:solidFill>
                <a:latin typeface="Arial"/>
              </a:rPr>
              <a:t>Report-ready workflow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2487168"/>
            <a:ext cx="3127248" cy="27432"/>
          </a:xfrm>
          <a:prstGeom prst="rect">
            <a:avLst/>
          </a:prstGeom>
          <a:solidFill>
            <a:srgbClr val="E2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651760"/>
            <a:ext cx="31272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52625E"/>
                </a:solidFill>
                <a:latin typeface="Arial"/>
              </a:rPr>
              <a:t>Win the inspection workflow and the report package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" y="3986784"/>
            <a:ext cx="2103120" cy="23774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4032504"/>
            <a:ext cx="19568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 i="0">
                <a:solidFill>
                  <a:srgbClr val="FFFFFF"/>
                </a:solidFill>
                <a:latin typeface="Arial"/>
              </a:rPr>
              <a:t>Per-device + per-report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7368" y="3255264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ABBB6"/>
                </a:solidFill>
                <a:latin typeface="Arial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61688" y="1938528"/>
            <a:ext cx="3493008" cy="2834640"/>
          </a:xfrm>
          <a:prstGeom prst="rect">
            <a:avLst/>
          </a:prstGeom>
          <a:solidFill>
            <a:srgbClr val="F4F7F6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61688" y="1938528"/>
            <a:ext cx="3493008" cy="54864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26279" y="2084831"/>
            <a:ext cx="384048" cy="384048"/>
          </a:xfrm>
          <a:prstGeom prst="ellipse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79" y="2084831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0055" y="204825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7201E"/>
                </a:solidFill>
                <a:latin typeface="Arial"/>
              </a:rPr>
              <a:t>Structured asset memory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79" y="2487168"/>
            <a:ext cx="3127248" cy="27432"/>
          </a:xfrm>
          <a:prstGeom prst="rect">
            <a:avLst/>
          </a:prstGeom>
          <a:solidFill>
            <a:srgbClr val="E2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79" y="2651760"/>
            <a:ext cx="31272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52625E"/>
                </a:solidFill>
                <a:latin typeface="Arial"/>
              </a:rPr>
              <a:t>Accumulate inspection history across tanks, contractors, and cycles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79" y="3986784"/>
            <a:ext cx="2103120" cy="237744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1" y="4032504"/>
            <a:ext cx="19568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 i="0">
                <a:solidFill>
                  <a:srgbClr val="FFFFFF"/>
                </a:solidFill>
                <a:latin typeface="Arial"/>
              </a:rPr>
              <a:t>Subscription /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255264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ABBB6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0456" y="1938528"/>
            <a:ext cx="3493008" cy="2834640"/>
          </a:xfrm>
          <a:prstGeom prst="rect">
            <a:avLst/>
          </a:prstGeom>
          <a:solidFill>
            <a:srgbClr val="F4F7F6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0456" y="1938528"/>
            <a:ext cx="3493008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85048" y="2084831"/>
            <a:ext cx="384048" cy="38404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2084831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78824" y="204825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7201E"/>
                </a:solidFill>
                <a:latin typeface="Arial"/>
              </a:rPr>
              <a:t>Reliability intelligence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5048" y="2487168"/>
            <a:ext cx="3127248" cy="27432"/>
          </a:xfrm>
          <a:prstGeom prst="rect">
            <a:avLst/>
          </a:prstGeom>
          <a:solidFill>
            <a:srgbClr val="E2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5048" y="2651760"/>
            <a:ext cx="31272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52625E"/>
                </a:solidFill>
                <a:latin typeface="Arial"/>
              </a:rPr>
              <a:t>Turn structured history into weak-point, life, and maintenance signals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85048" y="3986784"/>
            <a:ext cx="210312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8200" y="4032504"/>
            <a:ext cx="19568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 i="0">
                <a:solidFill>
                  <a:srgbClr val="FFFFFF"/>
                </a:solidFill>
                <a:latin typeface="Arial"/>
              </a:rPr>
              <a:t>Premium enterprise module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102352"/>
            <a:ext cx="11539728" cy="36576"/>
          </a:xfrm>
          <a:prstGeom prst="rect">
            <a:avLst/>
          </a:prstGeom>
          <a:solidFill>
            <a:srgbClr val="E2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23036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0A1628"/>
                </a:solidFill>
                <a:latin typeface="Arial"/>
              </a:rPr>
              <a:t>Expansion industries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93392" y="5212080"/>
            <a:ext cx="806500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66544" y="5230368"/>
            <a:ext cx="6784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/>
              </a:rPr>
              <a:t>Oil &amp; Gas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73044" y="5212080"/>
            <a:ext cx="735177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46196" y="5230368"/>
            <a:ext cx="60716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/>
              </a:rPr>
              <a:t>Chemical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81374" y="5212080"/>
            <a:ext cx="1091793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54526" y="5230368"/>
            <a:ext cx="9637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/>
              </a:rPr>
              <a:t>Petrochemical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46320" y="5212080"/>
            <a:ext cx="521208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9472" y="5230368"/>
            <a:ext cx="393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/>
              </a:rPr>
              <a:t>Power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40680" y="5212080"/>
            <a:ext cx="592531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13832" y="5230368"/>
            <a:ext cx="46451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/>
              </a:rPr>
              <a:t>Mining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06363" y="5212080"/>
            <a:ext cx="592531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79515" y="5230368"/>
            <a:ext cx="46451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/>
              </a:rPr>
              <a:t>Marine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72046" y="5212080"/>
            <a:ext cx="806500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5198" y="5230368"/>
            <a:ext cx="6784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/>
              </a:rPr>
              <a:t>Utilities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51699" y="5212080"/>
            <a:ext cx="1234439" cy="237744"/>
          </a:xfrm>
          <a:prstGeom prst="rect">
            <a:avLst/>
          </a:prstGeom>
          <a:solidFill>
            <a:srgbClr val="DCEFE9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24851" y="5230368"/>
            <a:ext cx="11064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i="0">
                <a:solidFill>
                  <a:srgbClr val="075F5C"/>
                </a:solidFill>
                <a:latin typeface="Arial"/>
              </a:rPr>
              <a:t>Heavy Machinery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5614416"/>
            <a:ext cx="11539728" cy="566928"/>
          </a:xfrm>
          <a:prstGeom prst="rect">
            <a:avLst/>
          </a:prstGeom>
          <a:solidFill>
            <a:srgbClr val="0A1628"/>
          </a:solidFill>
          <a:ln w="5080">
            <a:solidFill>
              <a:srgbClr val="4A8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8" y="577900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DCEFE9"/>
                </a:solidFill>
                <a:latin typeface="Arial"/>
              </a:rPr>
              <a:t>Expansion principle: keep the same structured capture and report spine, then add higher-value memory and intelligence layers on top.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4592" y="6611112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B4"/>
                </a:solidFill>
                <a:latin typeface="Arial"/>
              </a:rPr>
              <a:t>S6 · Expansion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6611112"/>
            <a:ext cx="560527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8B8B4"/>
                </a:solidFill>
                <a:latin typeface="Arial"/>
              </a:rPr>
              <a:t>LAIQ  ·  Confidential</a:t>
            </a:r>
          </a:p>
        </p:txBody>
      </p:sp>
      <p:pic>
        <p:nvPicPr>
          <p:cNvPr id="62" name="Picture 61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1881" y="6565392"/>
            <a:ext cx="514190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514190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75F5C"/>
                </a:solidFill>
                <a:latin typeface="Arial"/>
              </a:rPr>
              <a:t>COMPETITIVE MOAT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Every Report Builds the Customer's Asset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060704"/>
            <a:ext cx="11475720" cy="36576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CEFE9"/>
                </a:solidFill>
                <a:latin typeface="Arial"/>
              </a:rPr>
              <a:t>Compounding moat loop</a:t>
            </a:r>
          </a:p>
        </p:txBody>
      </p:sp>
      <p:sp>
        <p:nvSpPr>
          <p:cNvPr id="9" name="Oval 8"/>
          <p:cNvSpPr/>
          <p:nvPr/>
        </p:nvSpPr>
        <p:spPr>
          <a:xfrm>
            <a:off x="2944368" y="2432304"/>
            <a:ext cx="2468880" cy="1115568"/>
          </a:xfrm>
          <a:prstGeom prst="ellipse">
            <a:avLst/>
          </a:prstGeom>
          <a:solidFill>
            <a:srgbClr val="DCEF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36976" y="2706624"/>
            <a:ext cx="18836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75F5C"/>
                </a:solidFill>
                <a:latin typeface="Arial"/>
              </a:rPr>
              <a:t>Structured
Asset Memory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1883664"/>
            <a:ext cx="1737360" cy="694944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8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Captured
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15179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" b="0" i="0">
                <a:solidFill>
                  <a:srgbClr val="DCEFE9"/>
                </a:solidFill>
                <a:latin typeface="Arial"/>
              </a:rPr>
              <a:t>UT · findings · photos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97296" y="1883664"/>
            <a:ext cx="1737360" cy="6949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07024" y="2029968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Better
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7024" y="2286000"/>
            <a:ext cx="15179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" b="0" i="0">
                <a:solidFill>
                  <a:srgbClr val="FDF0E0"/>
                </a:solidFill>
                <a:latin typeface="Arial"/>
              </a:rPr>
              <a:t>faster, more consistent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3712463"/>
            <a:ext cx="1737360" cy="694944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58768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Higher
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15179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" b="0" i="0">
                <a:solidFill>
                  <a:srgbClr val="DCEFE9"/>
                </a:solidFill>
                <a:latin typeface="Arial"/>
              </a:rPr>
              <a:t>workflow becomes sticky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97296" y="3712463"/>
            <a:ext cx="1737360" cy="694944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024" y="3858768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Intelligence
Modules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7024" y="4114800"/>
            <a:ext cx="15179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 i="0">
                <a:solidFill>
                  <a:srgbClr val="DCEFE9"/>
                </a:solidFill>
                <a:latin typeface="Arial"/>
              </a:rPr>
              <a:t>life · weak points · FMEA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15184" y="2103120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ABBB6"/>
                </a:solidFill>
                <a:latin typeface="Arial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816352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ABBB6"/>
                </a:solidFill>
                <a:latin typeface="Arial"/>
              </a:rPr>
              <a:t>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15184" y="3931920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ABBB6"/>
                </a:solidFill>
                <a:latin typeface="Arial"/>
              </a:rPr>
              <a:t>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6464" y="2779776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ABBB6"/>
                </a:solidFill>
                <a:latin typeface="Arial"/>
              </a:rPr>
              <a:t>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12252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CEFE9"/>
                </a:solidFill>
                <a:latin typeface="Arial"/>
              </a:rPr>
              <a:t>Why this is hard to copy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74736" y="1481328"/>
            <a:ext cx="3639312" cy="749808"/>
          </a:xfrm>
          <a:prstGeom prst="rect">
            <a:avLst/>
          </a:prstGeom>
          <a:solidFill>
            <a:srgbClr val="122440"/>
          </a:solidFill>
          <a:ln w="6350">
            <a:solidFill>
              <a:srgbClr val="4A8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74736" y="1481328"/>
            <a:ext cx="3639312" cy="4572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572768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 i="0">
                <a:solidFill>
                  <a:srgbClr val="FFFFFF"/>
                </a:solidFill>
                <a:latin typeface="Arial"/>
              </a:rPr>
              <a:t>Customer-specific report logic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1828800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A8B8B4"/>
                </a:solidFill>
                <a:latin typeface="Arial"/>
              </a:rPr>
              <a:t>Templates and evidence logic embed inside the workflow.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74736" y="2395728"/>
            <a:ext cx="3639312" cy="749808"/>
          </a:xfrm>
          <a:prstGeom prst="rect">
            <a:avLst/>
          </a:prstGeom>
          <a:solidFill>
            <a:srgbClr val="122440"/>
          </a:solidFill>
          <a:ln w="6350">
            <a:solidFill>
              <a:srgbClr val="4A8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74736" y="2395728"/>
            <a:ext cx="3639312" cy="4572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2487168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 i="0">
                <a:solidFill>
                  <a:srgbClr val="FFFFFF"/>
                </a:solidFill>
                <a:latin typeface="Arial"/>
              </a:rPr>
              <a:t>Inspection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743200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A8B8B4"/>
                </a:solidFill>
                <a:latin typeface="Arial"/>
              </a:rPr>
              <a:t>Every cycle adds more context than a static report archive.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74736" y="3310128"/>
            <a:ext cx="3639312" cy="749808"/>
          </a:xfrm>
          <a:prstGeom prst="rect">
            <a:avLst/>
          </a:prstGeom>
          <a:solidFill>
            <a:srgbClr val="122440"/>
          </a:solidFill>
          <a:ln w="6350">
            <a:solidFill>
              <a:srgbClr val="4A8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74736" y="3310128"/>
            <a:ext cx="3639312" cy="4572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3401568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 i="0">
                <a:solidFill>
                  <a:srgbClr val="FFFFFF"/>
                </a:solidFill>
                <a:latin typeface="Arial"/>
              </a:rPr>
              <a:t>Model tuning from real field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657600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A8B8B4"/>
                </a:solidFill>
                <a:latin typeface="Arial"/>
              </a:rPr>
              <a:t>Better structured data improves future AI output quality.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74736" y="4224528"/>
            <a:ext cx="3639312" cy="749808"/>
          </a:xfrm>
          <a:prstGeom prst="rect">
            <a:avLst/>
          </a:prstGeom>
          <a:solidFill>
            <a:srgbClr val="122440"/>
          </a:solidFill>
          <a:ln w="6350">
            <a:solidFill>
              <a:srgbClr val="4A8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74736" y="4224528"/>
            <a:ext cx="3639312" cy="4572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4315968"/>
            <a:ext cx="3346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 i="0">
                <a:solidFill>
                  <a:srgbClr val="FFFFFF"/>
                </a:solidFill>
                <a:latin typeface="Arial"/>
              </a:rPr>
              <a:t>Workflow lock-in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572000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A8B8B4"/>
                </a:solidFill>
                <a:latin typeface="Arial"/>
              </a:rPr>
              <a:t>Once the report package is trusted, replacement becomes harder.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4992624"/>
            <a:ext cx="11247120" cy="676656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" y="5212080"/>
            <a:ext cx="10698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0" b="1" i="0">
                <a:solidFill>
                  <a:srgbClr val="FFFFFF"/>
                </a:solidFill>
                <a:latin typeface="Arial"/>
              </a:rPr>
              <a:t>Generic AI can generate text. LAIQ's moat comes from owning the structured inspection memory behind every report.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4592" y="6611112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B4"/>
                </a:solidFill>
                <a:latin typeface="Arial"/>
              </a:rPr>
              <a:t>S7 · Moat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6611112"/>
            <a:ext cx="560527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8B8B4"/>
                </a:solidFill>
                <a:latin typeface="Arial"/>
              </a:rPr>
              <a:t>LAIQ  ·  Confidential</a:t>
            </a:r>
          </a:p>
        </p:txBody>
      </p:sp>
      <p:pic>
        <p:nvPicPr>
          <p:cNvPr id="49" name="Picture 48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1881" y="6565392"/>
            <a:ext cx="514190" cy="2377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