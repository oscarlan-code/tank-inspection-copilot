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2608" y="0"/>
            <a:ext cx="64008" cy="6858000"/>
          </a:xfrm>
          <a:prstGeom prst="rect">
            <a:avLst/>
          </a:prstGeom>
          <a:solidFill>
            <a:srgbClr val="DC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1521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75F5C"/>
                </a:solidFill>
                <a:latin typeface="Arial"/>
              </a:rPr>
              <a:t>LAIQ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5214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75F5C"/>
                </a:solidFill>
                <a:latin typeface="Arial"/>
              </a:rPr>
              <a:t>One Structured Field Workflow Drives the Final Report Package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97280"/>
            <a:ext cx="11521440" cy="36576"/>
          </a:xfrm>
          <a:prstGeom prst="rect">
            <a:avLst/>
          </a:prstGeom>
          <a:solidFill>
            <a:srgbClr val="8ABB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07008"/>
            <a:ext cx="11155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2625E"/>
                </a:solidFill>
                <a:latin typeface="Arial"/>
              </a:rPr>
              <a:t>One guided field workflow captures every surface. A canonical inspection record then drives report assembly, evidence linking, and structured output.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591056"/>
            <a:ext cx="4297680" cy="4553712"/>
          </a:xfrm>
          <a:prstGeom prst="rect">
            <a:avLst/>
          </a:prstGeom>
          <a:solidFill>
            <a:srgbClr val="F4F7F6"/>
          </a:solidFill>
          <a:ln w="6350">
            <a:solidFill>
              <a:srgbClr val="8AB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755648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A1628"/>
                </a:solidFill>
                <a:latin typeface="Arial"/>
              </a:rPr>
              <a:t>Inspection surfaces captured in one model</a:t>
            </a:r>
          </a:p>
        </p:txBody>
      </p:sp>
      <p:sp>
        <p:nvSpPr>
          <p:cNvPr id="10" name="Oval 9"/>
          <p:cNvSpPr/>
          <p:nvPr/>
        </p:nvSpPr>
        <p:spPr>
          <a:xfrm>
            <a:off x="1115568" y="2011680"/>
            <a:ext cx="1938528" cy="402336"/>
          </a:xfrm>
          <a:prstGeom prst="ellipse">
            <a:avLst/>
          </a:prstGeom>
          <a:solidFill>
            <a:srgbClr val="DCEFE9"/>
          </a:solidFill>
          <a:ln w="10160">
            <a:solidFill>
              <a:srgbClr val="8AB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15568" y="2212848"/>
            <a:ext cx="1938528" cy="2816352"/>
          </a:xfrm>
          <a:prstGeom prst="rect">
            <a:avLst/>
          </a:prstGeom>
          <a:solidFill>
            <a:srgbClr val="4A807C"/>
          </a:solidFill>
          <a:ln w="10160">
            <a:solidFill>
              <a:srgbClr val="8AB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15568" y="4828032"/>
            <a:ext cx="1938528" cy="402336"/>
          </a:xfrm>
          <a:prstGeom prst="ellipse">
            <a:avLst/>
          </a:prstGeom>
          <a:solidFill>
            <a:srgbClr val="DCEFE9"/>
          </a:solidFill>
          <a:ln w="10160">
            <a:solidFill>
              <a:srgbClr val="8AB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15568" y="2615184"/>
            <a:ext cx="1938528" cy="13716"/>
          </a:xfrm>
          <a:prstGeom prst="rect">
            <a:avLst/>
          </a:prstGeom>
          <a:solidFill>
            <a:srgbClr val="DC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15568" y="3017520"/>
            <a:ext cx="1938528" cy="13716"/>
          </a:xfrm>
          <a:prstGeom prst="rect">
            <a:avLst/>
          </a:prstGeom>
          <a:solidFill>
            <a:srgbClr val="DC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15568" y="3419856"/>
            <a:ext cx="1938528" cy="13716"/>
          </a:xfrm>
          <a:prstGeom prst="rect">
            <a:avLst/>
          </a:prstGeom>
          <a:solidFill>
            <a:srgbClr val="DC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15568" y="3822192"/>
            <a:ext cx="1938528" cy="13716"/>
          </a:xfrm>
          <a:prstGeom prst="rect">
            <a:avLst/>
          </a:prstGeom>
          <a:solidFill>
            <a:srgbClr val="DC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15568" y="4224528"/>
            <a:ext cx="1938528" cy="13716"/>
          </a:xfrm>
          <a:prstGeom prst="rect">
            <a:avLst/>
          </a:prstGeom>
          <a:solidFill>
            <a:srgbClr val="DC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2139696"/>
            <a:ext cx="36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17201E"/>
                </a:solidFill>
                <a:latin typeface="Arial"/>
              </a:rPr>
              <a:t>Roof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798064"/>
            <a:ext cx="38404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17201E"/>
                </a:solidFill>
                <a:latin typeface="Arial"/>
              </a:rPr>
              <a:t>Shell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" y="3730752"/>
            <a:ext cx="49377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17201E"/>
                </a:solidFill>
                <a:latin typeface="Arial"/>
              </a:rPr>
              <a:t>Nozzles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4626864"/>
            <a:ext cx="548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17201E"/>
                </a:solidFill>
                <a:latin typeface="Arial"/>
              </a:rPr>
              <a:t>Bottom /
MFL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10128" y="1993392"/>
            <a:ext cx="1225296" cy="585216"/>
          </a:xfrm>
          <a:prstGeom prst="rect">
            <a:avLst/>
          </a:prstGeom>
          <a:solidFill>
            <a:srgbClr val="FFFFFF"/>
          </a:solidFill>
          <a:ln w="5080">
            <a:solidFill>
              <a:srgbClr val="8AB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01568" y="2084832"/>
            <a:ext cx="1042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17201E"/>
                </a:solidFill>
                <a:latin typeface="Arial"/>
              </a:rPr>
              <a:t>UT plates from roof surfaces
with ring / section or plate logic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63824" y="2157984"/>
            <a:ext cx="109728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75F5C"/>
                </a:solidFill>
                <a:latin typeface="Arial"/>
              </a:rPr>
              <a:t>•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10128" y="2761488"/>
            <a:ext cx="1225296" cy="585216"/>
          </a:xfrm>
          <a:prstGeom prst="rect">
            <a:avLst/>
          </a:prstGeom>
          <a:solidFill>
            <a:srgbClr val="FFFFFF"/>
          </a:solidFill>
          <a:ln w="5080">
            <a:solidFill>
              <a:srgbClr val="8AB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01568" y="2852928"/>
            <a:ext cx="1042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17201E"/>
                </a:solidFill>
                <a:latin typeface="Arial"/>
              </a:rPr>
              <a:t>UT by strake + N/E/S/W
with optional precise mapping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63824" y="2926080"/>
            <a:ext cx="109728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75F5C"/>
                </a:solidFill>
                <a:latin typeface="Arial"/>
              </a:rPr>
              <a:t>•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10128" y="3694176"/>
            <a:ext cx="1225296" cy="585216"/>
          </a:xfrm>
          <a:prstGeom prst="rect">
            <a:avLst/>
          </a:prstGeom>
          <a:solidFill>
            <a:srgbClr val="FFFFFF"/>
          </a:solidFill>
          <a:ln w="5080">
            <a:solidFill>
              <a:srgbClr val="8AB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01568" y="3785615"/>
            <a:ext cx="1042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17201E"/>
                </a:solidFill>
                <a:latin typeface="Arial"/>
              </a:rPr>
              <a:t>Shell and roof nozzle UT
captured in structured tables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63824" y="3858768"/>
            <a:ext cx="109728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75F5C"/>
                </a:solidFill>
                <a:latin typeface="Arial"/>
              </a:rPr>
              <a:t>•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10128" y="4663440"/>
            <a:ext cx="1225296" cy="585216"/>
          </a:xfrm>
          <a:prstGeom prst="rect">
            <a:avLst/>
          </a:prstGeom>
          <a:solidFill>
            <a:srgbClr val="FFFFFF"/>
          </a:solidFill>
          <a:ln w="5080">
            <a:solidFill>
              <a:srgbClr val="8AB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01568" y="4754879"/>
            <a:ext cx="1042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17201E"/>
                </a:solidFill>
                <a:latin typeface="Arial"/>
              </a:rPr>
              <a:t>Import MFL metadata and
reference into the same job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63824" y="4828031"/>
            <a:ext cx="109728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75F5C"/>
                </a:solidFill>
                <a:latin typeface="Arial"/>
              </a:rP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19472" y="2596896"/>
            <a:ext cx="3108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8ABBB6"/>
                </a:solidFill>
                <a:latin typeface="Arial"/>
              </a:rPr>
              <a:t>▶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19472" y="3840480"/>
            <a:ext cx="3108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8ABBB6"/>
                </a:solidFill>
                <a:latin typeface="Arial"/>
              </a:rPr>
              <a:t>▶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358384" y="1700784"/>
            <a:ext cx="2103120" cy="493776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68112" y="1792224"/>
            <a:ext cx="1883663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80" b="1" i="0">
                <a:solidFill>
                  <a:srgbClr val="FFFFFF"/>
                </a:solidFill>
                <a:latin typeface="Arial"/>
              </a:rPr>
              <a:t>1  Field Capture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68112" y="1975104"/>
            <a:ext cx="1883663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0" i="1">
                <a:solidFill>
                  <a:srgbClr val="DCEFE9"/>
                </a:solidFill>
                <a:latin typeface="Arial"/>
              </a:rPr>
              <a:t>Guided on-site workflow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358384" y="2249424"/>
            <a:ext cx="2103120" cy="2157984"/>
          </a:xfrm>
          <a:prstGeom prst="rect">
            <a:avLst/>
          </a:prstGeom>
          <a:solidFill>
            <a:srgbClr val="FFFFFF"/>
          </a:solidFill>
          <a:ln w="5080">
            <a:solidFill>
              <a:srgbClr val="8AB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68112" y="2414016"/>
            <a:ext cx="188366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7201E"/>
                </a:solidFill>
                <a:latin typeface="Arial"/>
              </a:rPr>
              <a:t>•  Tank &amp; surface configuration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68112" y="2706624"/>
            <a:ext cx="188366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7201E"/>
                </a:solidFill>
                <a:latin typeface="Arial"/>
              </a:rPr>
              <a:t>•  UT rows: shell, roof, nozzle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68112" y="2999232"/>
            <a:ext cx="188366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7201E"/>
                </a:solidFill>
                <a:latin typeface="Arial"/>
              </a:rPr>
              <a:t>•  In-context finding capture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68112" y="3291840"/>
            <a:ext cx="188366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7201E"/>
                </a:solidFill>
                <a:latin typeface="Arial"/>
              </a:rPr>
              <a:t>•  Photo evidence linked at source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68112" y="3584448"/>
            <a:ext cx="188366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7201E"/>
                </a:solidFill>
                <a:latin typeface="Arial"/>
              </a:rPr>
              <a:t>•  Coarse or precise location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680960" y="1700784"/>
            <a:ext cx="2103120" cy="493776"/>
          </a:xfrm>
          <a:prstGeom prst="rect">
            <a:avLst/>
          </a:prstGeom>
          <a:solidFill>
            <a:srgbClr val="4A8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90688" y="1792224"/>
            <a:ext cx="1883663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80" b="1" i="0">
                <a:solidFill>
                  <a:srgbClr val="FFFFFF"/>
                </a:solidFill>
                <a:latin typeface="Arial"/>
              </a:rPr>
              <a:t>2  Inspection Record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90688" y="1975104"/>
            <a:ext cx="1883663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0" i="1">
                <a:solidFill>
                  <a:srgbClr val="DCEFE9"/>
                </a:solidFill>
                <a:latin typeface="Arial"/>
              </a:rPr>
              <a:t>Canonical structured data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680960" y="2249424"/>
            <a:ext cx="2103120" cy="2157984"/>
          </a:xfrm>
          <a:prstGeom prst="rect">
            <a:avLst/>
          </a:prstGeom>
          <a:solidFill>
            <a:srgbClr val="FFFFFF"/>
          </a:solidFill>
          <a:ln w="5080">
            <a:solidFill>
              <a:srgbClr val="8AB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790688" y="2414016"/>
            <a:ext cx="188366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7201E"/>
                </a:solidFill>
                <a:latin typeface="Arial"/>
              </a:rPr>
              <a:t>•  Asset hierarchy: tank, surface, plate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790688" y="2706624"/>
            <a:ext cx="188366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7201E"/>
                </a:solidFill>
                <a:latin typeface="Arial"/>
              </a:rPr>
              <a:t>•  Location: strake, bearing, X/Y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90688" y="2999232"/>
            <a:ext cx="188366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7201E"/>
                </a:solidFill>
                <a:latin typeface="Arial"/>
              </a:rPr>
              <a:t>•  Findings: type, severity, evidence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790688" y="3291840"/>
            <a:ext cx="188366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7201E"/>
                </a:solidFill>
                <a:latin typeface="Arial"/>
              </a:rPr>
              <a:t>•  MFL metadata and attachment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790688" y="3584448"/>
            <a:ext cx="188366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7201E"/>
                </a:solidFill>
                <a:latin typeface="Arial"/>
              </a:rPr>
              <a:t>•  Completeness and API checks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003536" y="1700784"/>
            <a:ext cx="2103120" cy="49377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113264" y="1792224"/>
            <a:ext cx="1883663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80" b="1" i="0">
                <a:solidFill>
                  <a:srgbClr val="FFFFFF"/>
                </a:solidFill>
                <a:latin typeface="Arial"/>
              </a:rPr>
              <a:t>3  Report Package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113264" y="1975104"/>
            <a:ext cx="1883663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0" i="1">
                <a:solidFill>
                  <a:srgbClr val="FFFFFF"/>
                </a:solidFill>
                <a:latin typeface="Arial"/>
              </a:rPr>
              <a:t>Automated output assembly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003536" y="2249424"/>
            <a:ext cx="2103120" cy="2157984"/>
          </a:xfrm>
          <a:prstGeom prst="rect">
            <a:avLst/>
          </a:prstGeom>
          <a:solidFill>
            <a:srgbClr val="FFFFFF"/>
          </a:solidFill>
          <a:ln w="5080">
            <a:solidFill>
              <a:srgbClr val="8AB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113264" y="2414016"/>
            <a:ext cx="188366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7201E"/>
                </a:solidFill>
                <a:latin typeface="Arial"/>
              </a:rPr>
              <a:t>•  Shell / roof UT tables (auto-filled)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113264" y="2706624"/>
            <a:ext cx="188366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7201E"/>
                </a:solidFill>
                <a:latin typeface="Arial"/>
              </a:rPr>
              <a:t>•  Findings register + linked photos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113264" y="2999232"/>
            <a:ext cx="188366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7201E"/>
                </a:solidFill>
                <a:latin typeface="Arial"/>
              </a:rPr>
              <a:t>•  Shell plate layout map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113264" y="3291840"/>
            <a:ext cx="188366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7201E"/>
                </a:solidFill>
                <a:latin typeface="Arial"/>
              </a:rPr>
              <a:t>•  MFL section with reference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113264" y="3584448"/>
            <a:ext cx="188366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7201E"/>
                </a:solidFill>
                <a:latin typeface="Arial"/>
              </a:rPr>
              <a:t>•  JSON + CSV export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534656" y="2706624"/>
            <a:ext cx="2011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8ABBB6"/>
                </a:solidFill>
                <a:latin typeface="Arial"/>
              </a:rPr>
              <a:t>▶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857232" y="2706624"/>
            <a:ext cx="2011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8ABBB6"/>
                </a:solidFill>
                <a:latin typeface="Arial"/>
              </a:rPr>
              <a:t>▶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358384" y="4736592"/>
            <a:ext cx="6473952" cy="932688"/>
          </a:xfrm>
          <a:prstGeom prst="rect">
            <a:avLst/>
          </a:prstGeom>
          <a:solidFill>
            <a:srgbClr val="DCEFE9"/>
          </a:solidFill>
          <a:ln w="6350">
            <a:solidFill>
              <a:srgbClr val="8AB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559552" y="4882896"/>
            <a:ext cx="1645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75F5C"/>
                </a:solidFill>
                <a:latin typeface="Arial"/>
              </a:rPr>
              <a:t>What LAIQ changes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559552" y="5120640"/>
            <a:ext cx="6035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17201E"/>
                </a:solidFill>
                <a:latin typeface="Arial"/>
              </a:rPr>
              <a:t>Instead of rebuilding the report after the field visit, LAIQ captures structured inspection data once, keeps evidence linked at source, and turns the same record into a report-ready package.</a:t>
            </a:r>
          </a:p>
        </p:txBody>
      </p:sp>
      <p:sp>
        <p:nvSpPr>
          <p:cNvPr id="68" name="Rectangle 67"/>
          <p:cNvSpPr/>
          <p:nvPr/>
        </p:nvSpPr>
        <p:spPr>
          <a:xfrm>
            <a:off x="0" y="6565392"/>
            <a:ext cx="12188952" cy="36576"/>
          </a:xfrm>
          <a:prstGeom prst="rect">
            <a:avLst/>
          </a:prstGeom>
          <a:solidFill>
            <a:srgbClr val="8ABB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4592" y="6611112"/>
            <a:ext cx="548640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A8B8B4"/>
                </a:solidFill>
                <a:latin typeface="Arial"/>
              </a:rPr>
              <a:t>Tank Inspection · One-page solution summary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400800" y="6611112"/>
            <a:ext cx="5605272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A8B8B4"/>
                </a:solidFill>
                <a:latin typeface="Arial"/>
              </a:rPr>
              <a:t>LAIQ  ·  Confidential</a:t>
            </a:r>
          </a:p>
        </p:txBody>
      </p:sp>
      <p:pic>
        <p:nvPicPr>
          <p:cNvPr id="71" name="Picture 70" descr="laiq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1881" y="6565392"/>
            <a:ext cx="514190" cy="23774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