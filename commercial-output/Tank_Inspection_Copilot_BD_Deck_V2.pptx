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7201E"/>
                </a:solidFill>
                <a:latin typeface="Arial" panose="020B0604020202090204"/>
              </a:rPr>
              <a:t>TANK INSPECTION</a:t>
            </a:r>
            <a:endParaRPr sz="38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75F5C"/>
                </a:solidFill>
                <a:latin typeface="Arial" panose="020B0604020202090204"/>
              </a:rPr>
              <a:t>COPILOT</a:t>
            </a:r>
            <a:endParaRPr sz="52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3090672"/>
            <a:ext cx="8412480" cy="2743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2625E"/>
                </a:solidFill>
                <a:latin typeface="Arial" panose="020B0604020202090204"/>
              </a:rPr>
              <a:t>From field inspection workflow to structured inspection package</a:t>
            </a:r>
            <a:endParaRPr sz="1500" b="0" i="1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3822191"/>
            <a:ext cx="7818120" cy="786384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04164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Capture readings, findings, photos, location, and MFL context in one guided flow — then leave site with a report-ready output package.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625E"/>
                </a:solidFill>
                <a:latin typeface="Arial" panose="020B0604020202090204"/>
              </a:rPr>
              <a:t>Commercial deck V2  ·  April 2026</a:t>
            </a:r>
            <a:endParaRPr sz="900" b="0" i="0">
              <a:solidFill>
                <a:srgbClr val="52625E"/>
              </a:solidFill>
              <a:latin typeface="Arial" panose="020B0604020202090204"/>
            </a:endParaRPr>
          </a:p>
        </p:txBody>
      </p:sp>
      <p:pic>
        <p:nvPicPr>
          <p:cNvPr id="11" name="Picture 10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997696" y="640080"/>
            <a:ext cx="2561371" cy="55321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42832" y="566928"/>
            <a:ext cx="2561371" cy="5532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5_task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07" y="649224"/>
            <a:ext cx="2488219" cy="53675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 panose="020B0604020202090204"/>
              </a:rPr>
              <a:t>CURRENT STATE</a:t>
            </a:r>
            <a:endParaRPr sz="9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Current inspection workflow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The problem is not inspection effort alone. It is the broken handoff between field capture and final reporting.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1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Field inspection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UT readings, notes, photos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8840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BD8D4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CBD8D4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59152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2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0632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Separate records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8880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Notebook, phone photos, Excel sheets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5072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BD8D4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CBD8D4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15383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3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3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26864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Back-office re-keying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5112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Transfer readings into report tables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61303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BD8D4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CBD8D4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71616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1616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4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3096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Rebuild context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1344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Match photos, findings, and locations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17536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BD8D4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CBD8D4"/>
              </a:solidFill>
              <a:latin typeface="Arial" panose="020B060402020209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27848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27848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5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5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39327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Merge MFL separately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37575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Contractor PDF handled outside workflow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7376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BD8D4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CBD8D4"/>
              </a:solidFill>
              <a:latin typeface="Arial" panose="020B060402020209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784080" y="1828800"/>
            <a:ext cx="1627632" cy="14173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4080" y="1828800"/>
            <a:ext cx="162763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93807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Arial" panose="020B0604020202090204"/>
              </a:rPr>
              <a:t>6</a:t>
            </a:r>
            <a:endParaRPr sz="13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95559" y="19385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Final QA and report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93807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Gaps discovered after leaving site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3730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Arial" panose="020B0604020202090204"/>
              </a:rPr>
              <a:t>Where the workflow breaks</a:t>
            </a:r>
            <a:endParaRPr sz="12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02920" y="4050791"/>
            <a:ext cx="112014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251960"/>
            <a:ext cx="5440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" y="43434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Duplicate entry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15768" y="4343400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The same reading is captured in the field, then typed again in the report.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72200" y="4251960"/>
            <a:ext cx="5440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18504" y="43434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Broken links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85048" y="4343400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Findings, photos, and UT rows are not connected at the moment they are observed.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02920" y="5056632"/>
            <a:ext cx="5440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" y="514807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Weak location traceability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15768" y="5148072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Prose descriptions are hard to trend across inspection cycles.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72200" y="5056632"/>
            <a:ext cx="544068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18504" y="5148072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Fragmented outputs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85048" y="5148072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Shell, nozzles, and MFL often end up as separate deliverables.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02920" y="6016752"/>
            <a:ext cx="11201400" cy="457200"/>
          </a:xfrm>
          <a:prstGeom prst="rect">
            <a:avLst/>
          </a:prstGeom>
          <a:solidFill>
            <a:srgbClr val="DCEFE9"/>
          </a:solidFill>
          <a:ln w="8890"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610819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F5C"/>
                </a:solidFill>
                <a:latin typeface="Arial" panose="020B0604020202090204"/>
              </a:rPr>
              <a:t>Today, the inspection and the report are still two different workflows.</a:t>
            </a:r>
            <a:endParaRPr sz="1100" b="1" i="0">
              <a:solidFill>
                <a:srgbClr val="075F5C"/>
              </a:solidFill>
              <a:latin typeface="Arial" panose="020B0604020202090204"/>
            </a:endParaRPr>
          </a:p>
        </p:txBody>
      </p:sp>
      <p:pic>
        <p:nvPicPr>
          <p:cNvPr id="58" name="Picture 57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PROPOSED WORKFLOW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One guided flow from inspection to output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Tank Inspection Copilot turns field capture, findings, MFL reference, review, and export into one connected process.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1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042795"/>
            <a:ext cx="1078992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Configure tank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Asset, geometry, roof type, reference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48840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59152" y="1828800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2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0632" y="2042795"/>
            <a:ext cx="1078992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Run tasks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8880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Shell UT, roof UT, nozzles, MFL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5072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15383" y="1828800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3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3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26610" y="1973580"/>
            <a:ext cx="12458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Capture findings in context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25112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Photo, note, severity, location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61303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71616" y="1828800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71616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4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3096" y="1973580"/>
            <a:ext cx="107899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Link location and evidence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1344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Coarse by default, precise when needed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17536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27848" y="1828800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27848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5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5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39327" y="2042795"/>
            <a:ext cx="1078992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Review on site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37575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Warnings surfaced before leaving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73768" y="23317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5F5C"/>
                </a:solidFill>
                <a:latin typeface="Arial" panose="020B0604020202090204"/>
              </a:rPr>
              <a:t>→</a:t>
            </a:r>
            <a:endParaRPr sz="1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784080" y="1820545"/>
            <a:ext cx="16276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8" name="Rectangle 37"/>
          <p:cNvSpPr/>
          <p:nvPr/>
        </p:nvSpPr>
        <p:spPr>
          <a:xfrm>
            <a:off x="9784080" y="1828800"/>
            <a:ext cx="1627632" cy="731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93807" y="202971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75F5C"/>
                </a:solidFill>
                <a:latin typeface="Arial" panose="020B0604020202090204"/>
              </a:rPr>
              <a:t>6</a:t>
            </a:r>
            <a:endParaRPr sz="13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95559" y="1904365"/>
            <a:ext cx="1078992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201E"/>
                </a:solidFill>
                <a:latin typeface="Arial" panose="020B0604020202090204"/>
              </a:rPr>
              <a:t>Export structured package</a:t>
            </a:r>
            <a:endParaRPr sz="9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93807" y="2359152"/>
            <a:ext cx="1371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625E"/>
                </a:solidFill>
                <a:latin typeface="Arial" panose="020B0604020202090204"/>
              </a:rPr>
              <a:t>Tables, findings, map, JSON, CSV</a:t>
            </a:r>
            <a:endParaRPr sz="9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520" y="4187952"/>
            <a:ext cx="3200400" cy="10515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343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Single capture path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6112" y="4681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 panose="020B0604020202090204"/>
              </a:rPr>
              <a:t>No separate note-to-report reconstruction</a:t>
            </a:r>
            <a:endParaRPr sz="9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480559" y="4187952"/>
            <a:ext cx="3200400" cy="10515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1" y="4343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Evidence linked at source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45151" y="4681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 panose="020B0604020202090204"/>
              </a:rPr>
              <a:t>Finding and photo stay tied to the active task</a:t>
            </a:r>
            <a:endParaRPr sz="9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229600" y="4187952"/>
            <a:ext cx="3200400" cy="10515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43434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Standard output structure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94192" y="4681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17201E"/>
                </a:solidFill>
                <a:latin typeface="Arial" panose="020B0604020202090204"/>
              </a:rPr>
              <a:t>Same delivery package across inspection jobs</a:t>
            </a:r>
            <a:endParaRPr sz="98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2920" y="5596128"/>
            <a:ext cx="11201400" cy="621792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5742432"/>
            <a:ext cx="10698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Commercial message: the customer is not buying another inspection form. They are buying a cleaner workflow and a better inspection package at the end.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pic>
        <p:nvPicPr>
          <p:cNvPr id="53" name="Picture 52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FIELD CAPTURE  ·  STEP 1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Guided task-driven workflow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355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The inspector configures the tank once, selects the inspection scope, and then works from a live task board.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 panose="020B0604020202090204"/>
              </a:rPr>
              <a:t>Configure once  </a:t>
            </a:r>
            <a:r>
              <a:rPr sz="1200">
                <a:solidFill>
                  <a:srgbClr val="17201E"/>
                </a:solidFill>
                <a:latin typeface="Arial" panose="020B0604020202090204"/>
              </a:rPr>
              <a:t>tank geometry and reference drive later tasks</a:t>
            </a:r>
            <a:endParaRPr sz="120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 panose="020B0604020202090204"/>
              </a:rPr>
              <a:t>Scope selection  </a:t>
            </a:r>
            <a:r>
              <a:rPr sz="1200">
                <a:solidFill>
                  <a:srgbClr val="17201E"/>
                </a:solidFill>
                <a:latin typeface="Arial" panose="020B0604020202090204"/>
              </a:rPr>
              <a:t>only in-scope tasks appear in the workflow</a:t>
            </a:r>
            <a:endParaRPr sz="120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752344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 panose="020B0604020202090204"/>
              </a:rPr>
              <a:t>Task board  </a:t>
            </a:r>
            <a:r>
              <a:rPr sz="1200">
                <a:solidFill>
                  <a:srgbClr val="17201E"/>
                </a:solidFill>
                <a:latin typeface="Arial" panose="020B0604020202090204"/>
              </a:rPr>
              <a:t>progress, warnings, and counts stay visible</a:t>
            </a:r>
            <a:endParaRPr sz="120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3191256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75F5C"/>
                </a:solidFill>
                <a:latin typeface="Arial" panose="020B0604020202090204"/>
              </a:rPr>
              <a:t>Draft save / resume  </a:t>
            </a:r>
            <a:r>
              <a:rPr sz="1200">
                <a:solidFill>
                  <a:srgbClr val="17201E"/>
                </a:solidFill>
                <a:latin typeface="Arial" panose="020B0604020202090204"/>
              </a:rPr>
              <a:t>supports real field interruptions</a:t>
            </a:r>
            <a:endParaRPr sz="120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setup_fill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task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17" name="Picture 16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FIELD CAPTURE  ·  STEP 2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Structured UT data capture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Each task captures readings in the same structure the report needs later.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5715000" cy="43891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Surface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4831" y="196596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Entry method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2272" y="196596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Output section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340864"/>
            <a:ext cx="5715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Shell UT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4831" y="2404872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Strake × N/E/S/W × 5 readings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2272" y="240487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Shell thickness table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779776"/>
            <a:ext cx="5715000" cy="438912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437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Roof UT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4831" y="2843784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Plate × A–E readings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62272" y="284378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Roof thickness table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218688"/>
            <a:ext cx="5715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826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Shell Nozzles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3282696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12 / 3 / 6 / 9 + pad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62272" y="32826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Shell nozzle table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3657600"/>
            <a:ext cx="5715000" cy="438912"/>
          </a:xfrm>
          <a:prstGeom prst="rect">
            <a:avLst/>
          </a:prstGeom>
          <a:solidFill>
            <a:srgbClr val="F4F7F6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21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Roof Nozzles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84831" y="372160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N / E / S / W + pad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62272" y="372160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7201E"/>
                </a:solidFill>
                <a:latin typeface="Arial" panose="020B0604020202090204"/>
              </a:rPr>
              <a:t>Roof nozzle table</a:t>
            </a:r>
            <a:endParaRPr sz="1000" b="0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096512"/>
            <a:ext cx="57150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605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Bottom MFL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84831" y="416052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Import report metadata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62272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MFL section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7_shellut_read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11_roof_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37" name="Picture 36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 panose="020B0604020202090204"/>
              </a:rPr>
              <a:t>FIELD CAPTURE  ·  STEP 3</a:t>
            </a:r>
            <a:endParaRPr sz="9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In-context finding capture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When something is found during a task, the inspector documents it there and then — not later from memory.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74520"/>
            <a:ext cx="1554480" cy="384175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9293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1 Photo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57400" y="192938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Take photo while still on the active task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2313305"/>
            <a:ext cx="1557655" cy="384175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682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2 Annotate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57400" y="236829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Circle, arrow, or label the visible issue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752090"/>
            <a:ext cx="1554480" cy="384175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8072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3 Type + severity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7400" y="280720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Crack, corrosion, deformation, weld concern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191510"/>
            <a:ext cx="1554480" cy="384175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4 Location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324612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Task context already pre-filled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630295"/>
            <a:ext cx="1554480" cy="384175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6850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5 Measurements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57400" y="3685031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Add pit depth, crack length, or notes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1557655" cy="3841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123943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 panose="020B0604020202090204"/>
              </a:rPr>
              <a:t>6 Save</a:t>
            </a:r>
            <a:endParaRPr sz="10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7400" y="4123943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Return to UT task with no duplicate entry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2454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8_shell_fi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5" y="768096"/>
            <a:ext cx="2382377" cy="5138928"/>
          </a:xfrm>
          <a:prstGeom prst="rect">
            <a:avLst/>
          </a:prstGeom>
        </p:spPr>
      </p:pic>
      <p:pic>
        <p:nvPicPr>
          <p:cNvPr id="28" name="Picture 27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FIELD CAPTURE  ·  STEP 4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Location intelligence by surface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The app does not force one location method for every surface. It uses the right level of mapping for the job.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9893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4008" cy="64008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Shell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Coarse UT by strake + direction. Precise shell mapping available when needed.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660903"/>
            <a:ext cx="59893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60903"/>
            <a:ext cx="64008" cy="64008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523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Roof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4519" y="27523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Coarse roof layout by ring and section. Plate-based entry for routine UT.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3447287"/>
            <a:ext cx="59893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47287"/>
            <a:ext cx="64008" cy="64008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38727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Shell nozzles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74519" y="3538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Course + degree on an unwrapped shell surface before readings.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4233672"/>
            <a:ext cx="59893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64008" cy="64008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2511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201E"/>
                </a:solidFill>
                <a:latin typeface="Arial" panose="020B0604020202090204"/>
              </a:rPr>
              <a:t>Roof nozzles</a:t>
            </a:r>
            <a:endParaRPr sz="11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74519" y="43251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625E"/>
                </a:solidFill>
                <a:latin typeface="Arial" panose="020B0604020202090204"/>
              </a:rPr>
              <a:t>Roof map registration before N/E/S/W or pad measurements.</a:t>
            </a:r>
            <a:endParaRPr sz="10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29983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9_shell_layout_set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768096"/>
            <a:ext cx="2382377" cy="513892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9290304" y="758952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685800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0b_shell_map_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5" y="768096"/>
            <a:ext cx="2382377" cy="5138928"/>
          </a:xfrm>
          <a:prstGeom prst="rect">
            <a:avLst/>
          </a:prstGeom>
        </p:spPr>
      </p:pic>
      <p:pic>
        <p:nvPicPr>
          <p:cNvPr id="29" name="Picture 28" descr="laiq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OUTPUT VALUE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What the customer gets at the end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2625E"/>
                </a:solidFill>
                <a:latin typeface="Arial" panose="020B0604020202090204"/>
              </a:rPr>
              <a:t>The value is not just the capture flow. The value is the inspection package that is ready for review, handover, and downstream use.</a:t>
            </a:r>
            <a:endParaRPr sz="110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788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38528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17201E"/>
                </a:solidFill>
                <a:latin typeface="Arial" panose="020B0604020202090204"/>
              </a:rPr>
              <a:t>UT tables</a:t>
            </a:r>
            <a:endParaRPr sz="108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" y="217627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 panose="020B0604020202090204"/>
              </a:rPr>
              <a:t>Shell, roof, and nozzle readings already structured for reporting</a:t>
            </a:r>
            <a:endParaRPr sz="94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788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938528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17201E"/>
                </a:solidFill>
                <a:latin typeface="Arial" panose="020B0604020202090204"/>
              </a:rPr>
              <a:t>Findings register</a:t>
            </a:r>
            <a:endParaRPr sz="108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4176" y="2176272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 panose="020B0604020202090204"/>
              </a:rPr>
              <a:t>Finding type, severity, measurement, and linked photo</a:t>
            </a:r>
            <a:endParaRPr sz="94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2788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898648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17201E"/>
                </a:solidFill>
                <a:latin typeface="Arial" panose="020B0604020202090204"/>
              </a:rPr>
              <a:t>Location record</a:t>
            </a:r>
            <a:endParaRPr sz="108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" y="3136391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 panose="020B0604020202090204"/>
              </a:rPr>
              <a:t>Coarse or precise shell location saved with the finding</a:t>
            </a:r>
            <a:endParaRPr sz="94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66160" y="2788920"/>
            <a:ext cx="2788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898648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17201E"/>
                </a:solidFill>
                <a:latin typeface="Arial" panose="020B0604020202090204"/>
              </a:rPr>
              <a:t>MFL section</a:t>
            </a:r>
            <a:endParaRPr sz="108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4176" y="3136391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 panose="020B0604020202090204"/>
              </a:rPr>
              <a:t>Contractor reference and attachment context included</a:t>
            </a:r>
            <a:endParaRPr sz="94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2788920" cy="804672"/>
          </a:xfrm>
          <a:prstGeom prst="rect">
            <a:avLst/>
          </a:prstGeom>
          <a:solidFill>
            <a:srgbClr val="DCEFE9"/>
          </a:solidFill>
          <a:ln w="508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858768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075F5C"/>
                </a:solidFill>
                <a:latin typeface="Arial" panose="020B0604020202090204"/>
              </a:rPr>
              <a:t>Structured export</a:t>
            </a:r>
            <a:endParaRPr sz="108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" y="4096511"/>
            <a:ext cx="25237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52625E"/>
                </a:solidFill>
                <a:latin typeface="Arial" panose="020B0604020202090204"/>
              </a:rPr>
              <a:t>JSON + CSV for analytics, CMMS, or digital twin ingestion</a:t>
            </a:r>
            <a:endParaRPr sz="94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07424" y="786384"/>
            <a:ext cx="2455529" cy="5303520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713232"/>
            <a:ext cx="245552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3_ex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795528"/>
            <a:ext cx="2382377" cy="51389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02920" y="5440680"/>
            <a:ext cx="7818120" cy="749808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623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Commercial message: the output package is already organised for handover. The inspector leaves site with structured inspection data, not disconnected notes and photos.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pic>
        <p:nvPicPr>
          <p:cNvPr id="27" name="Picture 26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7E22"/>
                </a:solidFill>
                <a:latin typeface="Arial" panose="020B0604020202090204"/>
              </a:rPr>
              <a:t>BUYER VALUE</a:t>
            </a:r>
            <a:endParaRPr sz="900" b="1" i="0">
              <a:solidFill>
                <a:srgbClr val="E67E22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Why it matters commercially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40680" cy="11887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465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 panose="020B0604020202090204"/>
              </a:rPr>
              <a:t>Less admin load</a:t>
            </a:r>
            <a:endParaRPr sz="13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21031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Reduce re-keying and post-site report reconstruction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5440680" cy="11887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7465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 panose="020B0604020202090204"/>
              </a:rPr>
              <a:t>Better traceability</a:t>
            </a:r>
            <a:endParaRPr sz="13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Tie findings, photos, and location to the original task record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440680" cy="11887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255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 panose="020B0604020202090204"/>
              </a:rPr>
              <a:t>Cleaner contractor handover</a:t>
            </a:r>
            <a:endParaRPr sz="13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088" y="36118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Standard structure instead of multiple templates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72200" y="3108960"/>
            <a:ext cx="5440680" cy="11887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108960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255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201E"/>
                </a:solidFill>
                <a:latin typeface="Arial" panose="020B0604020202090204"/>
              </a:rPr>
              <a:t>Better readiness for analytics</a:t>
            </a:r>
            <a:endParaRPr sz="13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73368" y="36118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Structured data suitable for trend analysis and asset systems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919472"/>
            <a:ext cx="11201400" cy="105156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Positioning statement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41324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7201E"/>
                </a:solidFill>
                <a:latin typeface="Arial" panose="020B0604020202090204"/>
              </a:rPr>
              <a:t>Tank Inspection Copilot is not just a mobile form. It is a structured inspection workflow that improves how inspection data is captured, checked, handed over, and reused.</a:t>
            </a:r>
            <a:endParaRPr sz="1100" b="0" i="0">
              <a:solidFill>
                <a:srgbClr val="17201E"/>
              </a:solidFill>
              <a:latin typeface="Arial" panose="020B0604020202090204"/>
            </a:endParaRPr>
          </a:p>
        </p:txBody>
      </p:sp>
      <p:pic>
        <p:nvPicPr>
          <p:cNvPr id="25" name="Picture 24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MARKET CONTEXT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Why now — and who buys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669280" cy="144475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 panose="020B0604020202090204"/>
              </a:rPr>
              <a:t>API 653 and audit pressure</a:t>
            </a:r>
            <a:endParaRPr sz="12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More demand for clearer finding evidence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Better traceability across inspection cycles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669280" cy="144475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00200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 panose="020B0604020202090204"/>
              </a:rPr>
              <a:t>Inspection workforce change</a:t>
            </a:r>
            <a:endParaRPr sz="12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103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Good practice needs to be encoded in tools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9400" y="245059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Less dependence on inspector memory and personal templates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5669280" cy="144475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55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 panose="020B0604020202090204"/>
              </a:rPr>
              <a:t>Digital asset initiatives</a:t>
            </a:r>
            <a:endParaRPr sz="12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Operators want structured inspection data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09651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PDF-only workflows slow analysis and reuse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5669280" cy="1444752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64008" cy="1444752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7201E"/>
                </a:solidFill>
                <a:latin typeface="Arial" panose="020B0604020202090204"/>
              </a:rPr>
              <a:t>Mobile field readiness</a:t>
            </a:r>
            <a:endParaRPr sz="12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374903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Rugged tablets and phones are already standard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29400" y="409651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▸  The missing layer is the workflow itself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138928"/>
            <a:ext cx="11201400" cy="1325880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52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75F5C"/>
                </a:solidFill>
                <a:latin typeface="Arial" panose="020B0604020202090204"/>
              </a:rPr>
              <a:t>Primary buyers</a:t>
            </a:r>
            <a:endParaRPr sz="115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55595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▸  Inspection companies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88920" y="5559552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 i="0">
                <a:solidFill>
                  <a:srgbClr val="52625E"/>
                </a:solidFill>
                <a:latin typeface="Arial" panose="020B0604020202090204"/>
              </a:rPr>
              <a:t>Faster delivery and stronger data quality positioning</a:t>
            </a:r>
            <a:endParaRPr sz="10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" y="581558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▸  Asset owners / operators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88920" y="5815584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 i="0">
                <a:solidFill>
                  <a:srgbClr val="52625E"/>
                </a:solidFill>
                <a:latin typeface="Arial" panose="020B0604020202090204"/>
              </a:rPr>
              <a:t>Standard output across tanks and contractors</a:t>
            </a:r>
            <a:endParaRPr sz="102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3232" y="607161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7201E"/>
                </a:solidFill>
                <a:latin typeface="Arial" panose="020B0604020202090204"/>
              </a:rPr>
              <a:t>▸  Inspection consultancies</a:t>
            </a:r>
            <a:endParaRPr sz="105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88920" y="6071616"/>
            <a:ext cx="8046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 i="0">
                <a:solidFill>
                  <a:srgbClr val="52625E"/>
                </a:solidFill>
                <a:latin typeface="Arial" panose="020B0604020202090204"/>
              </a:rPr>
              <a:t>Move away from bespoke Excel reporting packs</a:t>
            </a:r>
            <a:endParaRPr sz="1020" b="0" i="0">
              <a:solidFill>
                <a:srgbClr val="52625E"/>
              </a:solidFill>
              <a:latin typeface="Arial" panose="020B0604020202090204"/>
            </a:endParaRPr>
          </a:p>
        </p:txBody>
      </p:sp>
      <p:pic>
        <p:nvPicPr>
          <p:cNvPr id="34" name="Picture 33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37160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75F5C"/>
                </a:solidFill>
                <a:latin typeface="Arial" panose="020B0604020202090204"/>
              </a:rPr>
              <a:t>NEXT STEP</a:t>
            </a:r>
            <a:endParaRPr sz="9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5F5C"/>
                </a:solidFill>
                <a:latin typeface="Arial" panose="020B0604020202090204"/>
              </a:rPr>
              <a:t>Recommended pilot</a:t>
            </a:r>
            <a:endParaRPr sz="2800" b="1" i="0">
              <a:solidFill>
                <a:srgbClr val="075F5C"/>
              </a:solidFill>
              <a:latin typeface="Arial" panose="020B060402020209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430000" cy="27432"/>
          </a:xfrm>
          <a:prstGeom prst="rect">
            <a:avLst/>
          </a:prstGeom>
          <a:solidFill>
            <a:srgbClr val="CB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440680" cy="9601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9601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282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 panose="020B0604020202090204"/>
              </a:rPr>
              <a:t>Pilot scope</a:t>
            </a:r>
            <a:endParaRPr sz="12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600" y="172821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1 tank type or 1 contractor workflow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5440680" cy="9601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73152" cy="9601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282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 panose="020B0604020202090204"/>
              </a:rPr>
              <a:t>Users</a:t>
            </a:r>
            <a:endParaRPr sz="12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79" y="172821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2–4 inspectors plus 1 report reviewer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5440680" cy="9601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73152" cy="96012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 panose="020B0604020202090204"/>
              </a:rPr>
              <a:t>Pilot goal</a:t>
            </a:r>
            <a:endParaRPr sz="12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14600" y="296265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Verify capture flow, output usability, and data completeness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2834640"/>
            <a:ext cx="5440680" cy="960120"/>
          </a:xfrm>
          <a:prstGeom prst="rect">
            <a:avLst/>
          </a:prstGeom>
          <a:solidFill>
            <a:srgbClr val="F4F7F6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3464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62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201E"/>
                </a:solidFill>
                <a:latin typeface="Arial" panose="020B0604020202090204"/>
              </a:rPr>
              <a:t>Success criteria</a:t>
            </a:r>
            <a:endParaRPr sz="1200" b="1" i="0">
              <a:solidFill>
                <a:srgbClr val="17201E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3879" y="2962656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 panose="020B0604020202090204"/>
              </a:rPr>
              <a:t>Less manual rework, clearer linked evidence, usable structured export</a:t>
            </a:r>
            <a:endParaRPr sz="1050" b="0" i="0">
              <a:solidFill>
                <a:srgbClr val="52625E"/>
              </a:solidFill>
              <a:latin typeface="Arial" panose="020B060402020209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4370832"/>
            <a:ext cx="11201400" cy="1005840"/>
          </a:xfrm>
          <a:prstGeom prst="rect">
            <a:avLst/>
          </a:prstGeom>
          <a:solidFill>
            <a:srgbClr val="075F5C"/>
          </a:solidFill>
          <a:ln>
            <a:solidFill>
              <a:srgbClr val="07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 panose="020B0604020202090204"/>
              </a:rPr>
              <a:t>Suggested close</a:t>
            </a:r>
            <a:endParaRPr sz="12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4828032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 panose="020B0604020202090204"/>
              </a:rPr>
              <a:t>Run a controlled pilot on one inspection workflow, prove the output package is useful, then expand surface coverage and reporting depth from there.</a:t>
            </a:r>
            <a:endParaRPr sz="1100" b="0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650992"/>
            <a:ext cx="11201400" cy="749808"/>
          </a:xfrm>
          <a:prstGeom prst="rect">
            <a:avLst/>
          </a:prstGeom>
          <a:solidFill>
            <a:srgbClr val="DCEFE9"/>
          </a:solidFill>
          <a:ln w="6350">
            <a:solidFill>
              <a:srgbClr val="CB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879592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F5C"/>
                </a:solidFill>
                <a:latin typeface="Arial" panose="020B0604020202090204"/>
              </a:rPr>
              <a:t>Tank Inspection Copilot turns inspection work into structured inspection data that is easier to check, easier to hand over, and easier to reuse.</a:t>
            </a:r>
            <a:endParaRPr sz="1100" b="1" i="0">
              <a:solidFill>
                <a:srgbClr val="075F5C"/>
              </a:solidFill>
              <a:latin typeface="Arial" panose="020B0604020202090204"/>
            </a:endParaRPr>
          </a:p>
        </p:txBody>
      </p:sp>
      <p:pic>
        <p:nvPicPr>
          <p:cNvPr id="28" name="Picture 27" descr="laiq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350" y="6336792"/>
            <a:ext cx="632849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6295</Words>
  <Application>WPS Sheets</Application>
  <PresentationFormat>On-screen Show (4:3)</PresentationFormat>
  <Paragraphs>376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oscar</cp:lastModifiedBy>
  <cp:revision>2</cp:revision>
  <dcterms:created xsi:type="dcterms:W3CDTF">2026-04-27T11:55:35Z</dcterms:created>
  <dcterms:modified xsi:type="dcterms:W3CDTF">2026-04-27T11:55:35Z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427CA9B438D3917EB74EEF6922F04D9D_42</vt:lpwstr>
  </property>
  <property fmtid="{D5CDD505-2E9C-101B-9397-08002B2CF9AE}" pid="3" name="KSOProductBuildVer">
    <vt:lpwstr>1033-12.1.23155.23155</vt:lpwstr>
  </property>
</Properties>
</file>