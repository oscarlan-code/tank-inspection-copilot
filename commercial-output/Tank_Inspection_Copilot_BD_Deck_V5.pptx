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3752" y="0"/>
            <a:ext cx="91440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4320"/>
            <a:ext cx="593296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002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CEFE9"/>
                </a:solidFill>
                <a:latin typeface="Arial"/>
              </a:rPr>
              <a:t>TANK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04288"/>
            <a:ext cx="4114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64992"/>
            <a:ext cx="3474720" cy="4572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930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CEFE9"/>
                </a:solidFill>
                <a:latin typeface="Arial"/>
              </a:rPr>
              <a:t>Field inspection → Structured data → Report package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41648"/>
            <a:ext cx="4114800" cy="868680"/>
          </a:xfrm>
          <a:prstGeom prst="rect">
            <a:avLst/>
          </a:prstGeom>
          <a:noFill/>
          <a:ln w="12700">
            <a:solidFill>
              <a:srgbClr val="DC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13308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EFE9"/>
                </a:solidFill>
                <a:latin typeface="Arial"/>
              </a:rPr>
              <a:t>LAIQ 3U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074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Upskill People  ·  Uplift the Standard  ·  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EFE9"/>
                </a:solidFill>
                <a:latin typeface="Arial"/>
              </a:rPr>
              <a:t>Commercial Deck V3  · 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4" y="521207"/>
            <a:ext cx="2760354" cy="596188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21808" y="438912"/>
            <a:ext cx="2760354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9914" y="475488"/>
            <a:ext cx="1104141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tas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548640"/>
            <a:ext cx="2668914" cy="57607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759952" y="1024128"/>
            <a:ext cx="3127248" cy="1508760"/>
          </a:xfrm>
          <a:prstGeom prst="rect">
            <a:avLst/>
          </a:prstGeom>
          <a:solidFill>
            <a:srgbClr val="F4F7F6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143000"/>
            <a:ext cx="28163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Capture readings, findings,
photos, and location in one
guided field flow.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9952" y="2633472"/>
            <a:ext cx="3127248" cy="713232"/>
          </a:xfrm>
          <a:prstGeom prst="rect">
            <a:avLst/>
          </a:prstGeom>
          <a:solidFill>
            <a:srgbClr val="DCEFE9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7249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Leave site with a
report-ready output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Today's inspection workflow has a broken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Field data and the report are generated in two separate, disconnected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Field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UT readings, notes, photos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7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8608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Separate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Notebook + phone photos +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4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62272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Back-office re-keying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Transfer into report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4224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64224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82512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Rebuild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Match photos, findings, locations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0184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66176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66176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84464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4464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Merge MFL separately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Contractor PDF handled outside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22311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Arial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32136" y="1847088"/>
            <a:ext cx="1737360" cy="135331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68128" y="1783080"/>
            <a:ext cx="1737360" cy="135331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68128" y="1783080"/>
            <a:ext cx="173736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86416" y="1956815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86416" y="1980956"/>
            <a:ext cx="402336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43616" y="1956816"/>
            <a:ext cx="11338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201E"/>
                </a:solidFill>
                <a:latin typeface="Arial"/>
              </a:rPr>
              <a:t>Final report &amp; QA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7856" y="2514600"/>
            <a:ext cx="1517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Gaps found after leaving site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364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Where the workflow breaks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368503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2376" y="3858768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3794760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" y="3794760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" y="388620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Duplicate entry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3886200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Same reading captured in the field, then typed again in the report.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9944" y="3858768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45936" y="3794760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45936" y="3794760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47103" y="388620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Broken evidence links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327" y="3886200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Findings, photos, and UT rows are not connected when observed.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2376" y="4663440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8368" y="4599432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8368" y="4599432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" y="469087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Weak location traceability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4690872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Prose descriptions cannot be trended or returned to next cycle.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9944" y="4663440"/>
            <a:ext cx="5440680" cy="65836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45936" y="4599432"/>
            <a:ext cx="5440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45936" y="4599432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47103" y="469087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Fragmented deliverables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9327" y="4690872"/>
            <a:ext cx="3273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Shell, nozzles, and MFL often end up as separate, unlinked outputs.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5559552"/>
            <a:ext cx="11137392" cy="475488"/>
          </a:xfrm>
          <a:prstGeom prst="rect">
            <a:avLst/>
          </a:prstGeom>
          <a:solidFill>
            <a:srgbClr val="DCEFE9"/>
          </a:solidFill>
          <a:ln w="1016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2" y="5669280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75F5C"/>
                </a:solidFill>
                <a:latin typeface="Arial"/>
              </a:rPr>
              <a:t>Field capture and report generation are still two separate workflows — that gap is the commercial opportunity.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Current State  ·  S2</a:t>
            </a:r>
          </a:p>
        </p:txBody>
      </p:sp>
      <p:pic>
        <p:nvPicPr>
          <p:cNvPr id="81" name="Picture 80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Data-first reporting: from tank surfaces to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One guided field workflow captures every surface. A canonical inspection record drives automated report assembly.</a:t>
            </a:r>
          </a:p>
        </p:txBody>
      </p:sp>
      <p:sp>
        <p:nvSpPr>
          <p:cNvPr id="8" name="Oval 7"/>
          <p:cNvSpPr/>
          <p:nvPr/>
        </p:nvSpPr>
        <p:spPr>
          <a:xfrm>
            <a:off x="740664" y="5212079"/>
            <a:ext cx="2331720" cy="438912"/>
          </a:xfrm>
          <a:prstGeom prst="ellipse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2084831"/>
            <a:ext cx="2331720" cy="312724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29967"/>
            <a:ext cx="2331720" cy="3127248"/>
          </a:xfrm>
          <a:prstGeom prst="rect">
            <a:avLst/>
          </a:prstGeom>
          <a:solidFill>
            <a:srgbClr val="DCEFE9"/>
          </a:solidFill>
          <a:ln w="190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5157216"/>
            <a:ext cx="2331720" cy="438912"/>
          </a:xfrm>
          <a:prstGeom prst="ellipse">
            <a:avLst/>
          </a:prstGeom>
          <a:solidFill>
            <a:srgbClr val="DCEFE9"/>
          </a:solidFill>
          <a:ln w="190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810512"/>
            <a:ext cx="2331720" cy="438912"/>
          </a:xfrm>
          <a:prstGeom prst="ellipse">
            <a:avLst/>
          </a:prstGeom>
          <a:solidFill>
            <a:srgbClr val="075F5C"/>
          </a:solidFill>
          <a:ln w="190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11779"/>
            <a:ext cx="2331720" cy="2286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93591"/>
            <a:ext cx="2331720" cy="2286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75404"/>
            <a:ext cx="2331720" cy="2286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" y="2738627"/>
            <a:ext cx="347472" cy="164592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" y="2738627"/>
            <a:ext cx="347472" cy="164592"/>
          </a:xfrm>
          <a:prstGeom prst="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" y="3833164"/>
            <a:ext cx="347472" cy="164592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" y="3833164"/>
            <a:ext cx="347472" cy="164592"/>
          </a:xfrm>
          <a:prstGeom prst="rect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8507" y="1554480"/>
            <a:ext cx="164592" cy="274320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5420563"/>
            <a:ext cx="2478024" cy="219456"/>
          </a:xfrm>
          <a:prstGeom prst="ellipse">
            <a:avLst/>
          </a:prstGeom>
          <a:solidFill>
            <a:srgbClr val="B2CCC7"/>
          </a:solidFill>
          <a:ln w="9525">
            <a:solidFill>
              <a:srgbClr val="8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19568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2194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Roof UT plates
(A–E readings)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238694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262469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Strake × N/E/S/W
× 5 UT readings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6378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Nozzles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8755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12/3/6/9 clock
+ pad readings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52212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Annular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54589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Base ring zone
MFL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155448" y="31062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Shell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155448" y="33439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Nozzle positions
N/E/S/W clock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5138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Bottom / MFL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7241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Import MFL metadata
and attachment ref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6976" y="3145536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2CCC7"/>
                </a:solidFill>
                <a:latin typeface="Arial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8" y="1847088"/>
            <a:ext cx="2606040" cy="448056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880" y="1783080"/>
            <a:ext cx="260604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1783080"/>
            <a:ext cx="2606040" cy="56692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76472" y="1856231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1  Field Capture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21488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EFE9"/>
                </a:solidFill>
                <a:latin typeface="Arial"/>
              </a:rPr>
              <a:t>Guided on-site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6472" y="2496312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Tank &amp; surface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2916936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UT rows: shell, roof, nozzle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337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In-context finding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375818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Photo evidence linked at source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6472" y="41788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Coarse or precise location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7044" y="3803904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2CCC7"/>
                </a:solidFill>
                <a:latin typeface="Arial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4808" y="1847088"/>
            <a:ext cx="2606040" cy="448056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1783080"/>
            <a:ext cx="2606040" cy="448056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1783080"/>
            <a:ext cx="2606040" cy="566928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1856231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/>
              </a:rPr>
              <a:t>2  Inspection Record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21488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2625E"/>
                </a:solidFill>
                <a:latin typeface="Arial"/>
              </a:rPr>
              <a:t>Canonical structured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2496312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Asset hierarchy: Tank→Surface→Plate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2916936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Location: strake, bearing, X/Y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337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Findings: type, severity, 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375818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MFL source metadata &amp; attachment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1788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Completeness &amp; API 653 checks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5964" y="3803904"/>
            <a:ext cx="329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2CCC7"/>
                </a:solidFill>
                <a:latin typeface="Arial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53728" y="1847088"/>
            <a:ext cx="2606040" cy="448056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89720" y="1783080"/>
            <a:ext cx="260604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20" y="1783080"/>
            <a:ext cx="2606040" cy="56692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54312" y="1856231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3  Report Package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4312" y="2148840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EFE9"/>
                </a:solidFill>
                <a:latin typeface="Arial"/>
              </a:rPr>
              <a:t>Automated output assembly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54312" y="2496312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Shell / roof UT tables (auto-filled)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54312" y="2916936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Findings register + linked photos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54312" y="33375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Shell plate layout 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54312" y="375818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MFL section with reference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54312" y="41788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/>
              </a:rPr>
              <a:t>•  JSON + CSV export for CMMS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6400800"/>
            <a:ext cx="11137392" cy="12801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6409944"/>
            <a:ext cx="111373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LAIQ 3U  ·  Upskill People   ·   Uplift the Standard   ·   Uptime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Architecture  ·  S3</a:t>
            </a:r>
          </a:p>
        </p:txBody>
      </p:sp>
      <p:pic>
        <p:nvPicPr>
          <p:cNvPr id="71" name="Picture 70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Guided task-driven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Configure the tank once. Select in-scope surfaces. Work from a live Task Board that tracks completion.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Configure once  </a:t>
            </a:r>
            <a:r>
              <a:rPr sz="1150" b="0">
                <a:solidFill>
                  <a:srgbClr val="17201E"/>
                </a:solidFill>
                <a:latin typeface="Arial"/>
              </a:rPr>
              <a:t>tank geometry and references drive all later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Scope selection  </a:t>
            </a:r>
            <a:r>
              <a:rPr sz="1150" b="0">
                <a:solidFill>
                  <a:srgbClr val="17201E"/>
                </a:solidFill>
                <a:latin typeface="Arial"/>
              </a:rPr>
              <a:t>only surfaces in scope appear in the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Live Task Board  </a:t>
            </a:r>
            <a:r>
              <a:rPr sz="1150" b="0">
                <a:solidFill>
                  <a:srgbClr val="17201E"/>
                </a:solidFill>
                <a:latin typeface="Arial"/>
              </a:rPr>
              <a:t>progress, warnings, and completion counts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26664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75F5C"/>
                </a:solidFill>
                <a:latin typeface="Arial"/>
              </a:rPr>
              <a:t>Draft save/resume  </a:t>
            </a:r>
            <a:r>
              <a:rPr sz="1150" b="0">
                <a:solidFill>
                  <a:srgbClr val="17201E"/>
                </a:solidFill>
                <a:latin typeface="Arial"/>
              </a:rPr>
              <a:t>supports real-world field interruptions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4014216"/>
            <a:ext cx="6217920" cy="87782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950208"/>
            <a:ext cx="6217920" cy="877824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950208"/>
            <a:ext cx="64008" cy="87782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069080"/>
            <a:ext cx="5870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75F5C"/>
                </a:solidFill>
                <a:latin typeface="Arial"/>
              </a:rPr>
              <a:t>No second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52544"/>
            <a:ext cx="5833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7201E"/>
                </a:solidFill>
                <a:latin typeface="Arial"/>
              </a:rPr>
              <a:t>Everything captured in the Task Board flows directly into the report output — no manual transfer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8601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5943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_setup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95528"/>
            <a:ext cx="2427594" cy="523951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5920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654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5_tas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95528"/>
            <a:ext cx="2427594" cy="52395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1  ·  S4</a:t>
            </a:r>
          </a:p>
        </p:txBody>
      </p:sp>
      <p:pic>
        <p:nvPicPr>
          <p:cNvPr id="27" name="Picture 26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Structured UT data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Each surface task captures readings in exactly the structure the report needs. Nothing is re-entered.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5897880" cy="4572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9568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Entry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568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Output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40864"/>
            <a:ext cx="5897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4140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Strake × N/E/S/W × 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140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thickness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98064"/>
            <a:ext cx="5897880" cy="457200"/>
          </a:xfrm>
          <a:prstGeom prst="rect">
            <a:avLst/>
          </a:prstGeom>
          <a:solidFill>
            <a:srgbClr val="F4F7F6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712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28712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Plate × A–E readings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8712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thickness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55264"/>
            <a:ext cx="5897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284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Nozzles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3284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12/3/6/9 o'clock + pad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33284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Shell nozzle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12464"/>
            <a:ext cx="5897880" cy="457200"/>
          </a:xfrm>
          <a:prstGeom prst="rect">
            <a:avLst/>
          </a:prstGeom>
          <a:solidFill>
            <a:srgbClr val="F4F7F6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7856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Nozzles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37856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N/E/S/W + pad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7856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/>
              </a:rPr>
              <a:t>Roof nozzle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69664"/>
            <a:ext cx="5897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4281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Bottom MFL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4288" y="424281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Import report 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242816"/>
            <a:ext cx="189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/>
              </a:rPr>
              <a:t>MFL section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" y="4782312"/>
            <a:ext cx="5897880" cy="9875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718304"/>
            <a:ext cx="5897880" cy="987552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828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10235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17201E"/>
                </a:solidFill>
                <a:latin typeface="Arial"/>
              </a:rPr>
              <a:t>UT readings arrive in the report already mapped to the right table section. The inspector does not rebuild the structure from handwritten notes.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8601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5943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7_shellut_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95528"/>
            <a:ext cx="2427594" cy="523951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95920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97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654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11_roof_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95528"/>
            <a:ext cx="2427594" cy="5239512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2  ·  S5</a:t>
            </a:r>
          </a:p>
        </p:txBody>
      </p:sp>
      <p:pic>
        <p:nvPicPr>
          <p:cNvPr id="46" name="Picture 45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FIELD CAPTURE  · 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In-context finding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When something is found during a UT task, the inspector documents it there and then — not later from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11095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1 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1911095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Take photo — auto-linked to the active UT task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042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682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2  Annotate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3682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Circle, arrow, or label the visible anomaly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614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254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3  Type + 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8254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Crack, corrosion, deformation, or weld concern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18688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826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4 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2826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Strake, bearing, and UT context already pre-filled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75887"/>
            <a:ext cx="530352" cy="40233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398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5  Measurements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37398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Add pit depth, crack length, or custom 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33087"/>
            <a:ext cx="530352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970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6  Save &amp;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4197096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Back to UT task with zero duplicate entry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" y="4800600"/>
            <a:ext cx="6446520" cy="84124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36592"/>
            <a:ext cx="6446520" cy="841248"/>
          </a:xfrm>
          <a:prstGeom prst="rect">
            <a:avLst/>
          </a:prstGeom>
          <a:solidFill>
            <a:srgbClr val="FDF0E0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36592"/>
            <a:ext cx="64008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84632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Linked at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02352"/>
            <a:ext cx="6035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17201E"/>
                </a:solidFill>
                <a:latin typeface="Arial"/>
              </a:rPr>
              <a:t>Each finding is permanently associated with its UT task row — it appears in the Findings Register with full evidence context, no separate entry required.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348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082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08_shell_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795528"/>
            <a:ext cx="2427594" cy="523951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3  ·  S6</a:t>
            </a:r>
          </a:p>
        </p:txBody>
      </p:sp>
      <p:pic>
        <p:nvPicPr>
          <p:cNvPr id="37" name="Picture 36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FIELD CAPTURE  · 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Location intelligence by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The right level of mapping for each surface — from coarse UT position to precise repeatable coordinates.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911095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47088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38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938528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Strake + compass direction for coarse UT. Tap-on-canvas for precise plate coordinates.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2752344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88336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88336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797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779776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Plate-based entry for routine UT readings across ring and section.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3593592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529584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21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Shell nozzles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621024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Course + clock position before readings — linked to shell location.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" y="4434840"/>
            <a:ext cx="6236208" cy="694944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370832"/>
            <a:ext cx="62362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370832"/>
            <a:ext cx="64008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4622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/>
              </a:rPr>
              <a:t>Roof nozzles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4462272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Roof map registration before N/E/S/W + pad measurements.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" y="5385816"/>
            <a:ext cx="6236208" cy="102412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321808"/>
            <a:ext cx="6236208" cy="1024128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413248"/>
            <a:ext cx="5870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Why precise location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687568"/>
            <a:ext cx="58704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17201E"/>
                </a:solidFill>
                <a:latin typeface="Arial"/>
              </a:rPr>
              <a:t>Most reports record location as prose: "near the third strake, north side." That cannot be mapped, trended, or reliably returned to in the next inspection cycle. A repeatable coordinate can.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601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5943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9_shell_layou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95528"/>
            <a:ext cx="2427594" cy="523951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592056" y="768096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685800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65470" y="722376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10b_shell_map_mar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95528"/>
            <a:ext cx="2427594" cy="523951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Field Capture Step 4  ·  S7</a:t>
            </a:r>
          </a:p>
        </p:txBody>
      </p:sp>
      <p:pic>
        <p:nvPicPr>
          <p:cNvPr id="42" name="Picture 41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OUTPUT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What the customer gets at the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The value is not just the capture flow. It is the inspection package that is ready for review, handover, and downstream 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892807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29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UT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12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Shell, roof, and nozzle readings structured for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1064" y="1892807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77056" y="1828800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77056" y="1828800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9936" y="1929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Findings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2212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Type, severity, measurement, and linked photo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2862072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798064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798064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8986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Location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182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Coarse UT position or precise shell coordinate per finding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41064" y="2862072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77056" y="2798064"/>
            <a:ext cx="3035808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77056" y="2798064"/>
            <a:ext cx="64008" cy="80467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6" y="28986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MFL Section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182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Contractor reference and attachment context 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" y="3831336"/>
            <a:ext cx="3035808" cy="8046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767328"/>
            <a:ext cx="3035808" cy="804672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767328"/>
            <a:ext cx="64008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867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Arial"/>
              </a:rPr>
              <a:t>Structured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151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/>
              </a:rPr>
              <a:t>JSON + CSV for CMMS, analytics, or digital twin ingestion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4856" y="795528"/>
            <a:ext cx="2519034" cy="54406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713232"/>
            <a:ext cx="2519034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08270" y="749808"/>
            <a:ext cx="1007613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13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822960"/>
            <a:ext cx="2427594" cy="523951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58368" y="5138928"/>
            <a:ext cx="7726679" cy="77724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3036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EFE9"/>
                </a:solidFill>
                <a:latin typeface="Arial"/>
              </a:rPr>
              <a:t>Commercial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2928" y="523036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The inspector leaves site with structured inspection data — not disconnected notes and photos.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Output Value  ·  S8</a:t>
            </a:r>
          </a:p>
        </p:txBody>
      </p:sp>
      <p:pic>
        <p:nvPicPr>
          <p:cNvPr id="42" name="Picture 41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/>
              </a:rPr>
              <a:t>BUYER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Why it matters commercially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69164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Less admin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Reduce re-keying and post-site report reconstruction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69164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162763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2763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7556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Better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13055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Tie findings, photos, and location to the original UT task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324612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18211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18211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1012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Cleaner contractor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68503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Standard structure instead of multiple custom templates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3246120"/>
            <a:ext cx="5468112" cy="132588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3182112"/>
            <a:ext cx="5468112" cy="1325880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3182112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31012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/>
              </a:rPr>
              <a:t>Analytics-ready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68503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Structured output suitable for trend analysis and asset 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" y="4983480"/>
            <a:ext cx="11137392" cy="129844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919472"/>
            <a:ext cx="11137392" cy="1298448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19472"/>
            <a:ext cx="64008" cy="12984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0474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/>
              </a:rPr>
              <a:t>Positioning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21808"/>
            <a:ext cx="10789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/>
              </a:rPr>
              <a:t>Tank Inspection Copilot is not just a mobile form. It is a structured inspection workflow that improves how inspection data is captured, checked, handed over, and reused.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Buyer Value  ·  S9</a:t>
            </a:r>
          </a:p>
        </p:txBody>
      </p:sp>
      <p:pic>
        <p:nvPicPr>
          <p:cNvPr id="34" name="Picture 3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Why now — and who buys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69164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API 653 &amp; audit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More demand for clearer finding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Traceability across inspection cycles now 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169164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2763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3368" y="162763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755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Workforce knowledge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1305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Good practice must be encoded in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4963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Less dependence on inspector memory and personal templates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" y="333756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7355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27355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01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Digital asset initiatives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776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Operators want structured inspection data in CMMS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1422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PDF-only workflows slow analysis and reuse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6" y="3337560"/>
            <a:ext cx="5468112" cy="14447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8" y="3273552"/>
            <a:ext cx="5468112" cy="144475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73368" y="3273552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401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/>
              </a:rPr>
              <a:t>Mobile field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37764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Rugged tablets and phones are already field-standard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1422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▸  The missing layer is the structured workflow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" y="5230368"/>
            <a:ext cx="11137392" cy="1371600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66360"/>
            <a:ext cx="11137392" cy="1371600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852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/>
              </a:rPr>
              <a:t>Primary buyers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▸  Inspection companies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562356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Faster delivery and stronger data quality positioning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161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▸  Asset owners / operators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591616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Standard output across tanks and contractors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2087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▸  Inspection consultancies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620877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Move away from bespoke Excel reporting packs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Market Context  ·  S10</a:t>
            </a:r>
          </a:p>
        </p:txBody>
      </p:sp>
      <p:pic>
        <p:nvPicPr>
          <p:cNvPr id="42" name="Picture 41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Recommended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691640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0789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Pilot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031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1 tank type or 1 contractor inspection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691640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1627632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27632"/>
            <a:ext cx="64008" cy="10789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755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1031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2–4 field inspectors  +  1 report reviewer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2990088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926080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926080"/>
            <a:ext cx="64008" cy="10789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0540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Pilot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4015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Verify capture flow, output usability, and data completeness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990088"/>
            <a:ext cx="5468112" cy="10789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2926080"/>
            <a:ext cx="5468112" cy="107899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2926080"/>
            <a:ext cx="64008" cy="10789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0540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/>
              </a:rPr>
              <a:t>Success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4015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Less manual rework  ·  Clearer linked evidence  ·  Usable export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25696"/>
            <a:ext cx="11137392" cy="9875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5262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FE9"/>
                </a:solidFill>
                <a:latin typeface="Arial"/>
              </a:rPr>
              <a:t>Suggested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280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Run a controlled pilot on one inspection workflow, prove the output package is useful, then expand surface coverage and reporting depth from there.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" y="5660136"/>
            <a:ext cx="11137392" cy="749808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596128"/>
            <a:ext cx="11137392" cy="749808"/>
          </a:xfrm>
          <a:prstGeom prst="rect">
            <a:avLst/>
          </a:prstGeom>
          <a:solidFill>
            <a:srgbClr val="DCEFE9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15584"/>
            <a:ext cx="10863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F5C"/>
                </a:solidFill>
                <a:latin typeface="Arial"/>
              </a:rPr>
              <a:t>Tank Inspection Copilot turns inspection work into structured inspection data that is easier to check, easier to hand over, and easier to reuse.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Pilot Proposal  ·  S11</a:t>
            </a:r>
          </a:p>
        </p:txBody>
      </p:sp>
      <p:pic>
        <p:nvPicPr>
          <p:cNvPr id="35" name="Picture 34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/>
              </a:rPr>
              <a:t>FINAL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From captured data to report in one click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9966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/>
              </a:rPr>
              <a:t>Convert the structured inspection record into a report-ready document package — without rebuilding the story manually.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1911095"/>
            <a:ext cx="2150705" cy="46451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828800"/>
            <a:ext cx="2150705" cy="4645152"/>
          </a:xfrm>
          <a:prstGeom prst="rect">
            <a:avLst/>
          </a:prstGeom>
          <a:solidFill>
            <a:srgbClr val="FFFFFF"/>
          </a:solidFill>
          <a:ln w="9525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9883" y="1865376"/>
            <a:ext cx="860282" cy="54864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38528"/>
            <a:ext cx="2059265" cy="4443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767328" y="2816352"/>
            <a:ext cx="2121408" cy="1261872"/>
          </a:xfrm>
          <a:prstGeom prst="rect">
            <a:avLst/>
          </a:prstGeom>
          <a:solidFill>
            <a:srgbClr val="DCEFE9"/>
          </a:solidFill>
          <a:ln w="1270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9443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75F5C"/>
                </a:solidFill>
                <a:latin typeface="Arial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44368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  <a:latin typeface="Arial"/>
              </a:rPr>
              <a:t>Report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8328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 i="0">
                <a:solidFill>
                  <a:srgbClr val="17201E"/>
                </a:solidFill>
                <a:latin typeface="Arial"/>
              </a:rPr>
              <a:t>Normalise  ·  Map to template
Assemble draft  ·  Package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3236976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5F5C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36976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5F5C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1847088"/>
            <a:ext cx="4919472" cy="473659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783080"/>
            <a:ext cx="4919472" cy="473659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port_sample_shell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01952"/>
            <a:ext cx="4663440" cy="440740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73952" y="1901952"/>
            <a:ext cx="4663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3952" y="5961888"/>
            <a:ext cx="4663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81051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75F5C"/>
                </a:solidFill>
                <a:latin typeface="Arial"/>
              </a:rPr>
              <a:t>Sample report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UT tables: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1" y="65105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Auto-filled from shell, roof, and nozzle captured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7116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Linked evidence: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671169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Finding photos and context tied to each UT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91286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Location: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691286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Shell coordinates or coarse references flow into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71140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075F5C"/>
                </a:solidFill>
                <a:latin typeface="Arial"/>
              </a:rPr>
              <a:t>•  Handover ready: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711403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/>
              </a:rPr>
              <a:t>Clean review package for customer, operator, or consultant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55080"/>
            <a:ext cx="11137392" cy="2743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11137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LAIQ  ·  Tank Inspection Copilot  ·  Confidential  ·  April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C6E"/>
                </a:solidFill>
                <a:latin typeface="Arial"/>
              </a:rPr>
              <a:t>HARDWARE &amp;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5F5C"/>
                </a:solidFill>
                <a:latin typeface="Arial"/>
              </a:rPr>
              <a:t>Purpose-built hardware. Measurable business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34440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3182112" cy="5230368"/>
          </a:xfrm>
          <a:prstGeom prst="rect">
            <a:avLst/>
          </a:prstGeom>
          <a:solidFill>
            <a:srgbClr val="F4F7F6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63040"/>
            <a:ext cx="28712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Field reality — why a
smartphone is not enough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65960"/>
            <a:ext cx="2871216" cy="27432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112264"/>
            <a:ext cx="2871216" cy="9875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2048256"/>
            <a:ext cx="28712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2048256"/>
            <a:ext cx="54864" cy="9875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185416"/>
            <a:ext cx="365760" cy="365760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5798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7201E"/>
                </a:solidFill>
                <a:latin typeface="Arial"/>
              </a:rPr>
              <a:t>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12140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Sunlight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377440"/>
            <a:ext cx="21396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Consumer screens wash out
at &gt;80 klux. Inspectors
cannot see the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191256"/>
            <a:ext cx="2871216" cy="9875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127248"/>
            <a:ext cx="28712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3127248"/>
            <a:ext cx="54864" cy="9875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264408"/>
            <a:ext cx="365760" cy="365760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23697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7201E"/>
                </a:solidFill>
                <a:latin typeface="Arial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20040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ATEX Zone 1/2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456432"/>
            <a:ext cx="21396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Smartphones &amp; consumer
tablets are prohibited by law
in hazardous areas.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270248"/>
            <a:ext cx="2871216" cy="9875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4206240"/>
            <a:ext cx="28712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4206240"/>
            <a:ext cx="54864" cy="9875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4343400"/>
            <a:ext cx="365760" cy="365760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31596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7201E"/>
                </a:solidFill>
                <a:latin typeface="Arial"/>
              </a:rPr>
              <a:t>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279392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IP 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535424"/>
            <a:ext cx="21396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Rain, dust, chemicals —
IP54 minimum. Touch must
work with wet gloves.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349240"/>
            <a:ext cx="2871216" cy="98755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" y="5285232"/>
            <a:ext cx="28712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285232"/>
            <a:ext cx="54864" cy="9875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688" y="5422392"/>
            <a:ext cx="365760" cy="365760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3949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7201E"/>
                </a:solidFill>
                <a:latin typeface="Arial"/>
              </a:rPr>
              <a:t>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35838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Offline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614416"/>
            <a:ext cx="21396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/>
              </a:rPr>
              <a:t>No Wi-Fi or cellular on many
tank farms. Device must
work air-gapped.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05072" y="1353312"/>
            <a:ext cx="4224528" cy="5230368"/>
          </a:xfrm>
          <a:prstGeom prst="rect">
            <a:avLst/>
          </a:prstGeom>
          <a:solidFill>
            <a:srgbClr val="DCEFE9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05072" y="1353312"/>
            <a:ext cx="4224528" cy="4572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1426464"/>
            <a:ext cx="3913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Solution — Explosion-Proof ATEX / IECEx PDA Tablet</a:t>
            </a:r>
          </a:p>
        </p:txBody>
      </p:sp>
      <p:pic>
        <p:nvPicPr>
          <p:cNvPr id="41" name="Picture 40" descr="atex_pda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496" y="2011680"/>
            <a:ext cx="4185679" cy="235915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160520" y="4498848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•  ATEX / IECEx Zone 1 &amp; 2  ·  IP68  ·  –20 °C to +60 °C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4690872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•  1000 nit sunlight-readable  ·  glove-friendly touch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4882896"/>
            <a:ext cx="3913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•  100% offline — no network needed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5120640"/>
            <a:ext cx="42245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/>
              </a:rPr>
              <a:t>e.g. Ecom Tab-Ex 02  ·  Bartec ZONE 2  ·  Pepperl+Fuchs BM-T35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31821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/>
              </a:rPr>
              <a:t>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94192" y="1353312"/>
            <a:ext cx="3401568" cy="5230368"/>
          </a:xfrm>
          <a:prstGeom prst="rect">
            <a:avLst/>
          </a:prstGeom>
          <a:solidFill>
            <a:srgbClr val="DCEFE9"/>
          </a:solidFill>
          <a:ln w="635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0496" y="1444752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/>
              </a:rPr>
              <a:t>LAIQ outcomes — what customers measure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0496" y="1847088"/>
            <a:ext cx="3127248" cy="27432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19872" y="31821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/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2002536"/>
            <a:ext cx="1005840" cy="17190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85632" y="1938528"/>
            <a:ext cx="1005840" cy="171907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85632" y="1938528"/>
            <a:ext cx="1005840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58784" y="2011680"/>
            <a:ext cx="859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/>
              </a:rPr>
              <a:t>Inspection
Cycle 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2432304"/>
            <a:ext cx="8961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75F5C"/>
                </a:solidFill>
                <a:latin typeface="Arial"/>
              </a:rPr>
              <a:t>↓ 40–70%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85632" y="3703320"/>
            <a:ext cx="1005840" cy="27432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3785615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Re-keying eliminated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8784" y="4407407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Completeness check on site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58784" y="5029200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Report assembly automated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10344" y="2002536"/>
            <a:ext cx="1005840" cy="17190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1938528"/>
            <a:ext cx="1005840" cy="171907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46336" y="1938528"/>
            <a:ext cx="10058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19488" y="2011680"/>
            <a:ext cx="859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/>
              </a:rPr>
              <a:t>Data Loss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2432304"/>
            <a:ext cx="8961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C6E"/>
                </a:solidFill>
                <a:latin typeface="Arial"/>
              </a:rPr>
              <a:t>Zero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46336" y="3703320"/>
            <a:ext cx="1005840" cy="27432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19488" y="3785615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Offline-first — writes instantly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19488" y="4407407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No paper transcription errors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9488" y="5029200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Photos linked at capture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71048" y="2002536"/>
            <a:ext cx="1005840" cy="1719072"/>
          </a:xfrm>
          <a:prstGeom prst="rect">
            <a:avLst/>
          </a:prstGeom>
          <a:solidFill>
            <a:srgbClr val="C5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607040" y="1938528"/>
            <a:ext cx="1005840" cy="1719072"/>
          </a:xfrm>
          <a:prstGeom prst="rect">
            <a:avLst/>
          </a:prstGeom>
          <a:solidFill>
            <a:srgbClr val="F4F7F6"/>
          </a:solidFill>
          <a:ln w="7620">
            <a:solidFill>
              <a:srgbClr val="B2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07040" y="1938528"/>
            <a:ext cx="1005840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80192" y="2011680"/>
            <a:ext cx="859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/>
              </a:rPr>
              <a:t>Automated
Report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61904" y="2432304"/>
            <a:ext cx="8961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75F5C"/>
                </a:solidFill>
                <a:latin typeface="Arial"/>
              </a:rPr>
              <a:t>1-Click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07040" y="3703320"/>
            <a:ext cx="1005840" cy="27432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80192" y="3785615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Structured data → report draft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80192" y="4407407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UT tables auto-populated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80192" y="5029200"/>
            <a:ext cx="859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▸  Findings register pre-built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91472" y="1938528"/>
            <a:ext cx="54864" cy="457200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552176" y="1938528"/>
            <a:ext cx="54864" cy="4572000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368" y="6565392"/>
            <a:ext cx="11137392" cy="2377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2" y="6601968"/>
            <a:ext cx="10954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LAIQ  ·  Upskill People   ·   Uplift the Standard   ·   Uptime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6565392"/>
            <a:ext cx="11137392" cy="36576"/>
          </a:xfrm>
          <a:prstGeom prst="rect">
            <a:avLst/>
          </a:prstGeom>
          <a:solidFill>
            <a:srgbClr val="B2C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6611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B8B4"/>
                </a:solidFill>
                <a:latin typeface="Arial"/>
              </a:rPr>
              <a:t>Hardware &amp; Outcomes  ·  S13</a:t>
            </a:r>
          </a:p>
        </p:txBody>
      </p:sp>
      <p:pic>
        <p:nvPicPr>
          <p:cNvPr id="84" name="Picture 83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328" y="6547104"/>
            <a:ext cx="553743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