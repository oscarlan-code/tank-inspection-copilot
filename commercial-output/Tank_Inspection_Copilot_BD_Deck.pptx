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37160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7201E"/>
                </a:solidFill>
                <a:latin typeface="Arial"/>
              </a:rPr>
              <a:t>TANK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75F5C"/>
                </a:solidFill>
                <a:latin typeface="Arial"/>
              </a:rPr>
              <a:t>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46120"/>
            <a:ext cx="8229600" cy="2743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4015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2625E"/>
                </a:solidFill>
                <a:latin typeface="Arial"/>
              </a:rPr>
              <a:t>Field Capture  ·  Structured Data  ·  Report Generated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023360"/>
            <a:ext cx="7315200" cy="640080"/>
          </a:xfrm>
          <a:prstGeom prst="rect">
            <a:avLst/>
          </a:prstGeom>
          <a:solidFill>
            <a:srgbClr val="DCEFE9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4133087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75F5C"/>
                </a:solidFill>
                <a:latin typeface="Arial"/>
              </a:rPr>
              <a:t>LAIQ Mission — 3U:   Upskill People  ·  Uplift the Standard  ·  Uptime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625E"/>
                </a:solidFill>
                <a:latin typeface="Arial"/>
              </a:rPr>
              <a:t>Confidential  ·  April 2026</a:t>
            </a:r>
          </a:p>
        </p:txBody>
      </p:sp>
      <p:pic>
        <p:nvPicPr>
          <p:cNvPr id="11" name="Picture 10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4350" y="6336792"/>
            <a:ext cx="632849" cy="29260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9015984" y="621792"/>
            <a:ext cx="2582539" cy="5577840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61120" y="548640"/>
            <a:ext cx="2582539" cy="5577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5_task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696" y="630936"/>
            <a:ext cx="2509387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5F5C"/>
                </a:solidFill>
                <a:latin typeface="Arial"/>
              </a:rPr>
              <a:t>Inspectors leave site with notes — not a report.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430000" cy="274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788920" cy="1737360"/>
          </a:xfrm>
          <a:prstGeom prst="rect">
            <a:avLst/>
          </a:prstGeom>
          <a:solidFill>
            <a:srgbClr val="F4F7F6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78892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2704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67E22"/>
                </a:solidFill>
                <a:latin typeface="Arial"/>
              </a:rPr>
              <a:t>4–8 hrs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30552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re-keying field notes
into every report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1568" y="1417320"/>
            <a:ext cx="2788920" cy="1737360"/>
          </a:xfrm>
          <a:prstGeom prst="rect">
            <a:avLst/>
          </a:prstGeom>
          <a:solidFill>
            <a:srgbClr val="F4F7F6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417320"/>
            <a:ext cx="278892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52704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67E22"/>
                </a:solidFill>
                <a:latin typeface="Arial"/>
              </a:rPr>
              <a:t>1–3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130552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to write the report
after leaving site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45936" y="1417320"/>
            <a:ext cx="2788920" cy="1737360"/>
          </a:xfrm>
          <a:prstGeom prst="rect">
            <a:avLst/>
          </a:prstGeom>
          <a:solidFill>
            <a:srgbClr val="F4F7F6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45936" y="1417320"/>
            <a:ext cx="2788920" cy="54864"/>
          </a:xfrm>
          <a:prstGeom prst="rect">
            <a:avLst/>
          </a:prstGeom>
          <a:solidFill>
            <a:srgbClr val="C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3096" y="152704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2323"/>
                </a:solidFill>
                <a:latin typeface="Arial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130552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structured records linking
findings to UT rows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90304" y="1417320"/>
            <a:ext cx="2788920" cy="1737360"/>
          </a:xfrm>
          <a:prstGeom prst="rect">
            <a:avLst/>
          </a:prstGeom>
          <a:solidFill>
            <a:srgbClr val="F4F7F6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90304" y="1417320"/>
            <a:ext cx="278892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27464" y="152704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67E22"/>
                </a:solidFill>
                <a:latin typeface="Arial"/>
              </a:rPr>
              <a:t>3 PDFs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7464" y="2130552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shell + nozzle + MFL —
never unified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83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Arial"/>
              </a:rPr>
              <a:t>Root cause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49039"/>
            <a:ext cx="11247120" cy="274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822191"/>
            <a:ext cx="5669280" cy="429768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88620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201E"/>
                </a:solidFill>
                <a:latin typeface="Arial"/>
              </a:rPr>
              <a:t>▸  Paper &amp; clipboard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88620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re-keying adds errors and delay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822191"/>
            <a:ext cx="5669280" cy="429768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88620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201E"/>
                </a:solidFill>
                <a:latin typeface="Arial"/>
              </a:rPr>
              <a:t>▸  Findings de-coupled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88620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lost between field capture and final report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297679"/>
            <a:ext cx="5669280" cy="429768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436168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201E"/>
                </a:solidFill>
                <a:latin typeface="Arial"/>
              </a:rPr>
              <a:t>▸  Vague locations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36168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prose descriptions cannot be trended across cycles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297679"/>
            <a:ext cx="5669280" cy="429768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36168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201E"/>
                </a:solidFill>
                <a:latin typeface="Arial"/>
              </a:rPr>
              <a:t>▸  Incompatible formats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36168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every contractor submits a different template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773168"/>
            <a:ext cx="5669280" cy="429768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483717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201E"/>
                </a:solidFill>
                <a:latin typeface="Arial"/>
              </a:rPr>
              <a:t>▸  MFL in a silo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483717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floor data never linked to shell or roof findings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4773168"/>
            <a:ext cx="5669280" cy="429768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483717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201E"/>
                </a:solidFill>
                <a:latin typeface="Arial"/>
              </a:rPr>
              <a:t>▸  Report writing backlog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83717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inspector bandwidth consumed by admin, not field work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285232"/>
            <a:ext cx="11247120" cy="475488"/>
          </a:xfrm>
          <a:prstGeom prst="rect">
            <a:avLst/>
          </a:prstGeom>
          <a:solidFill>
            <a:srgbClr val="DCEFE9"/>
          </a:solidFill>
          <a:ln w="10160"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5376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5F5C"/>
                </a:solidFill>
                <a:latin typeface="Arial"/>
              </a:rPr>
              <a:t>Field capture and report generation are two completely separate workflows — that is the gap.</a:t>
            </a:r>
          </a:p>
        </p:txBody>
      </p:sp>
      <p:pic>
        <p:nvPicPr>
          <p:cNvPr id="44" name="Picture 43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4350" y="6336792"/>
            <a:ext cx="632849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5F5C"/>
                </a:solidFill>
                <a:latin typeface="Arial"/>
              </a:rPr>
              <a:t>Data-First Reporting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430000" cy="27432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Structured field capture driving automated, evidence-linked report generation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3730752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3730752" cy="5486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65376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75F5C"/>
                </a:solidFill>
                <a:latin typeface="Arial"/>
              </a:rPr>
              <a:t>1. Field Data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04288"/>
            <a:ext cx="3364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2625E"/>
                </a:solidFill>
                <a:latin typeface="Arial"/>
              </a:rPr>
              <a:t>Guided on-site capture via mobile 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97480"/>
            <a:ext cx="3364992" cy="27432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/>
              </a:rPr>
              <a:t>✓  Tank &amp; surface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09544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/>
              </a:rPr>
              <a:t>✓  Shell / roof / nozzle UT readings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30168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/>
              </a:rPr>
              <a:t>✓  In-context finding capture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/>
              </a:rPr>
              <a:t>✓  Precise plate location (tap-on-canvas)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71416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/>
              </a:rPr>
              <a:t>✓  Photo evidence — required before save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7952" y="347472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BD8D4"/>
                </a:solidFill>
                <a:latin typeface="Arial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0832" y="1737360"/>
            <a:ext cx="3730752" cy="4297680"/>
          </a:xfrm>
          <a:prstGeom prst="rect">
            <a:avLst/>
          </a:prstGeom>
          <a:solidFill>
            <a:srgbClr val="DCEFE9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0832" y="1737360"/>
            <a:ext cx="3730752" cy="5486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1865376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75F5C"/>
                </a:solidFill>
                <a:latin typeface="Arial"/>
              </a:rPr>
              <a:t>2. Structured Data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2304288"/>
            <a:ext cx="3364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2625E"/>
                </a:solidFill>
                <a:latin typeface="Arial"/>
              </a:rPr>
              <a:t>Every reading stored against its exact context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53712" y="2697480"/>
            <a:ext cx="3364992" cy="27432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2788920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/>
              </a:rPr>
              <a:t>✓  Asset hierarchy: Tank → Surface → Plate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209544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/>
              </a:rPr>
              <a:t>✓  Location: strake, bearing, X/Y, grid 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3630168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/>
              </a:rPr>
              <a:t>✓  Findings: type, severity, description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050791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/>
              </a:rPr>
              <a:t>✓  Evidence: photo linked to UT 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4471416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/>
              </a:rPr>
              <a:t>✓  Validation: API 650/653 consistency checks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3" y="347472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BD8D4"/>
                </a:solidFill>
                <a:latin typeface="Arial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84464" y="1737360"/>
            <a:ext cx="3730752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84464" y="1737360"/>
            <a:ext cx="3730752" cy="5486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67344" y="1865376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75F5C"/>
                </a:solidFill>
                <a:latin typeface="Arial"/>
              </a:rPr>
              <a:t>3. Generated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7344" y="2304288"/>
            <a:ext cx="3364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2625E"/>
                </a:solidFill>
                <a:latin typeface="Arial"/>
              </a:rPr>
              <a:t>Automated output — no re-keying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67344" y="2697480"/>
            <a:ext cx="3364992" cy="27432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67344" y="2788920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/>
              </a:rPr>
              <a:t>✓  Shell / roof UT thickness tables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67344" y="3209544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/>
              </a:rPr>
              <a:t>✓  Nozzle UT tables (clock positions)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3630168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/>
              </a:rPr>
              <a:t>✓  Findings register + linked photos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4050791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/>
              </a:rPr>
              <a:t>✓  Shell plate layout 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67344" y="4471416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/>
              </a:rPr>
              <a:t>✓  JSON + CSV export for CMMS / digital twin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172200"/>
            <a:ext cx="11430000" cy="27432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23620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75F5C"/>
                </a:solidFill>
                <a:latin typeface="Arial"/>
              </a:rPr>
              <a:t>The inspector never writes a report from scratch. They capture structured data in the field — the report generates itself.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solidFill>
            <a:srgbClr val="075F5C"/>
          </a:solidFill>
          <a:ln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528816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LAIQ 3U Mission:   Upskill People   ·   Uplift the Standard   ·   Uptime</a:t>
            </a:r>
          </a:p>
        </p:txBody>
      </p:sp>
      <p:pic>
        <p:nvPicPr>
          <p:cNvPr id="43" name="Picture 42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4350" y="6336792"/>
            <a:ext cx="632849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/>
              </a:rPr>
              <a:t>FIELD CAPTURE  · 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5F5C"/>
                </a:solidFill>
                <a:latin typeface="Arial"/>
              </a:rPr>
              <a:t>Guided Task-Driven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430000" cy="27432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The inspector configures the tank once, selects in-scope tasks, then works through a live Task 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6217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75F5C"/>
                </a:solidFill>
                <a:latin typeface="Arial"/>
              </a:rPr>
              <a:t>Configure once  </a:t>
            </a:r>
            <a:r>
              <a:rPr sz="1200">
                <a:solidFill>
                  <a:srgbClr val="17201E"/>
                </a:solidFill>
                <a:latin typeface="Arial"/>
              </a:rPr>
              <a:t>tank geometry drives all report header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13432"/>
            <a:ext cx="6217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75F5C"/>
                </a:solidFill>
                <a:latin typeface="Arial"/>
              </a:rPr>
              <a:t>Scope selection  </a:t>
            </a:r>
            <a:r>
              <a:rPr sz="1200">
                <a:solidFill>
                  <a:srgbClr val="17201E"/>
                </a:solidFill>
                <a:latin typeface="Arial"/>
              </a:rPr>
              <a:t>defines which UT tables appear in the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52344"/>
            <a:ext cx="6217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75F5C"/>
                </a:solidFill>
                <a:latin typeface="Arial"/>
              </a:rPr>
              <a:t>Live Task Board  </a:t>
            </a:r>
            <a:r>
              <a:rPr sz="1200">
                <a:solidFill>
                  <a:srgbClr val="17201E"/>
                </a:solidFill>
                <a:latin typeface="Arial"/>
              </a:rPr>
              <a:t>shows completion — nothing is missed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91256"/>
            <a:ext cx="6217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75F5C"/>
                </a:solidFill>
                <a:latin typeface="Arial"/>
              </a:rPr>
              <a:t>Draft save / resume  </a:t>
            </a:r>
            <a:r>
              <a:rPr sz="1200">
                <a:solidFill>
                  <a:srgbClr val="17201E"/>
                </a:solidFill>
                <a:latin typeface="Arial"/>
              </a:rPr>
              <a:t>works across sessions, no data lost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9983" y="758952"/>
            <a:ext cx="2455529" cy="5303520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685800"/>
            <a:ext cx="2455529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768096"/>
            <a:ext cx="2382377" cy="513892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9290304" y="758952"/>
            <a:ext cx="2455529" cy="5303520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35440" y="685800"/>
            <a:ext cx="2455529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3_setup_fil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015" y="768096"/>
            <a:ext cx="2382377" cy="5138928"/>
          </a:xfrm>
          <a:prstGeom prst="rect">
            <a:avLst/>
          </a:prstGeom>
        </p:spPr>
      </p:pic>
      <p:pic>
        <p:nvPicPr>
          <p:cNvPr id="17" name="Picture 16" descr="laiq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4350" y="6336792"/>
            <a:ext cx="632849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/>
              </a:rPr>
              <a:t>FIELD CAPTURE  · 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5F5C"/>
                </a:solidFill>
                <a:latin typeface="Arial"/>
              </a:rPr>
              <a:t>Structured UT Data Capture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430000" cy="27432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Every UT reading tagged to its exact surface, course, and position — feeds report tables directly.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01952"/>
            <a:ext cx="5577840" cy="43891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96596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Entry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965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Report section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40864"/>
            <a:ext cx="55778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048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Shell 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40487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Strake × N/E/S/W × 5 readings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4048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Shell Plate Thickness 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79776"/>
            <a:ext cx="5577840" cy="438912"/>
          </a:xfrm>
          <a:prstGeom prst="rect">
            <a:avLst/>
          </a:prstGeom>
          <a:solidFill>
            <a:srgbClr val="F4F7F6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84378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Roof 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84378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Plate × A–E readings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84378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Roof Plate Thickness Table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18688"/>
            <a:ext cx="55778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28269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Shell Nozzles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328269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12 / 3 / 6 / 9 o'clock + pad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28269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Shell Nozzle Thickness Table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657600"/>
            <a:ext cx="5577840" cy="438912"/>
          </a:xfrm>
          <a:prstGeom prst="rect">
            <a:avLst/>
          </a:prstGeom>
          <a:solidFill>
            <a:srgbClr val="F4F7F6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72160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Roof Nozzles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3721608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N / E / S / W + pad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72160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Roof Nozzle Thickness Table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096512"/>
            <a:ext cx="55778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16052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Bottom MFL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416052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Import contractor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41605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MFL section (attachment)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9983" y="758952"/>
            <a:ext cx="2455529" cy="5303520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75120" y="685800"/>
            <a:ext cx="2455529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7_shellut_rea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768096"/>
            <a:ext cx="2382377" cy="5138928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9290304" y="758952"/>
            <a:ext cx="2455529" cy="5303520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35440" y="685800"/>
            <a:ext cx="2455529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11_roof_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015" y="768096"/>
            <a:ext cx="2382377" cy="5138928"/>
          </a:xfrm>
          <a:prstGeom prst="rect">
            <a:avLst/>
          </a:prstGeom>
        </p:spPr>
      </p:pic>
      <p:pic>
        <p:nvPicPr>
          <p:cNvPr id="37" name="Picture 36" descr="laiq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4350" y="6336792"/>
            <a:ext cx="632849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  <a:latin typeface="Arial"/>
              </a:rPr>
              <a:t>FIELD CAPTURE  · 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5F5C"/>
                </a:solidFill>
                <a:latin typeface="Arial"/>
              </a:rPr>
              <a:t>In-Context Finding Capture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430000" cy="274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Tap 'Add Finding Here' mid-task — strake, bearing &amp; UT context pre-filled automatically.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347472" cy="38404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11095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29384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/>
              </a:rPr>
              <a:t>Photo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929384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Take photo → auto-linked to active UT row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13432"/>
            <a:ext cx="347472" cy="38404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50008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36829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/>
              </a:rPr>
              <a:t>Annotate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368296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Draw arrow, circle, or text on photo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52344"/>
            <a:ext cx="347472" cy="38404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788920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807208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/>
              </a:rPr>
              <a:t>Type &amp; severity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807208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Crack / Corrosion / Deformation / etc.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191256"/>
            <a:ext cx="347472" cy="38404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227832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246120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/>
              </a:rPr>
              <a:t>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246120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Strake + bearing auto-filled from context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630168"/>
            <a:ext cx="347472" cy="38404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666744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685031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/>
              </a:rPr>
              <a:t>Measurements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685031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Pit depth, crack length, or custom field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069079"/>
            <a:ext cx="347472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105655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123943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/>
              </a:rPr>
              <a:t>Report entry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4123943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Finding + photo + location → report ready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24544" y="758952"/>
            <a:ext cx="2455529" cy="5303520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69680" y="685800"/>
            <a:ext cx="2455529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8_shell_fi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6255" y="768096"/>
            <a:ext cx="2382377" cy="5138928"/>
          </a:xfrm>
          <a:prstGeom prst="rect">
            <a:avLst/>
          </a:prstGeom>
        </p:spPr>
      </p:pic>
      <p:pic>
        <p:nvPicPr>
          <p:cNvPr id="34" name="Picture 33" descr="laiq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4350" y="6336792"/>
            <a:ext cx="632849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/>
              </a:rPr>
              <a:t>FIELD CAPTURE  · 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5F5C"/>
                </a:solidFill>
                <a:latin typeface="Arial"/>
              </a:rPr>
              <a:t>Precise Shell Location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430000" cy="27432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Tap-on-canvas unwrapped shell map → repeatable plate coordinate stored in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6035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75F5C"/>
                </a:solidFill>
                <a:latin typeface="Arial"/>
              </a:rPr>
              <a:t>Plate geometry  </a:t>
            </a:r>
            <a:r>
              <a:rPr sz="1200">
                <a:solidFill>
                  <a:srgbClr val="17201E"/>
                </a:solidFill>
                <a:latin typeface="Arial"/>
              </a:rPr>
              <a:t>configured once per inspection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13432"/>
            <a:ext cx="6035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75F5C"/>
                </a:solidFill>
                <a:latin typeface="Arial"/>
              </a:rPr>
              <a:t>Tap-to-mark  </a:t>
            </a:r>
            <a:r>
              <a:rPr sz="1200">
                <a:solidFill>
                  <a:srgbClr val="17201E"/>
                </a:solidFill>
                <a:latin typeface="Arial"/>
              </a:rPr>
              <a:t>SVG unwrapped shell canvas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52344"/>
            <a:ext cx="6035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75F5C"/>
                </a:solidFill>
                <a:latin typeface="Arial"/>
              </a:rPr>
              <a:t>Manual fallback  </a:t>
            </a:r>
            <a:r>
              <a:rPr sz="1200">
                <a:solidFill>
                  <a:srgbClr val="17201E"/>
                </a:solidFill>
                <a:latin typeface="Arial"/>
              </a:rPr>
              <a:t>X/Y or plate/seam reference also supported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91256"/>
            <a:ext cx="6035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75F5C"/>
                </a:solidFill>
                <a:latin typeface="Arial"/>
              </a:rPr>
              <a:t>Coordinate →  </a:t>
            </a:r>
            <a:r>
              <a:rPr sz="1200">
                <a:solidFill>
                  <a:srgbClr val="17201E"/>
                </a:solidFill>
                <a:latin typeface="Arial"/>
              </a:rPr>
              <a:t>Shell Plate Layout section in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6035040" cy="1280160"/>
          </a:xfrm>
          <a:prstGeom prst="rect">
            <a:avLst/>
          </a:prstGeom>
          <a:solidFill>
            <a:srgbClr val="DCEFE9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87705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5F5C"/>
                </a:solidFill>
                <a:latin typeface="Arial"/>
              </a:rPr>
              <a:t>Why this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224528"/>
            <a:ext cx="5669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/>
              </a:rPr>
              <a:t>Most reports record location as prose: "near the third strake, north side." That cannot be mapped, trended, or returned to. A precise coordinate can.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9983" y="758952"/>
            <a:ext cx="2455529" cy="5303520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685800"/>
            <a:ext cx="2455529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9_shell_layout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768096"/>
            <a:ext cx="2382377" cy="513892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9290304" y="758952"/>
            <a:ext cx="2455529" cy="5303520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685800"/>
            <a:ext cx="2455529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0b_shell_map_mar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015" y="768096"/>
            <a:ext cx="2382377" cy="5138928"/>
          </a:xfrm>
          <a:prstGeom prst="rect">
            <a:avLst/>
          </a:prstGeom>
        </p:spPr>
      </p:pic>
      <p:pic>
        <p:nvPicPr>
          <p:cNvPr id="20" name="Picture 19" descr="laiq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4350" y="6336792"/>
            <a:ext cx="632849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/>
              </a:rPr>
              <a:t>FIELD CAPTURE  ·  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5F5C"/>
                </a:solidFill>
                <a:latin typeface="Arial"/>
              </a:rPr>
              <a:t>Pre-Export Review — Completeness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430000" cy="27432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Gaps surfaced on-site while the inspector can still fix them — not discovered during report writing.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6035040" cy="448056"/>
          </a:xfrm>
          <a:prstGeom prst="rect">
            <a:avLst/>
          </a:prstGeom>
          <a:solidFill>
            <a:srgbClr val="F4F7F6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64008" cy="448056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75F5C"/>
                </a:solidFill>
                <a:latin typeface="Arial"/>
              </a:rPr>
              <a:t>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96596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/>
              </a:rPr>
              <a:t>All shell readings complete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77439"/>
            <a:ext cx="6035040" cy="448056"/>
          </a:xfrm>
          <a:prstGeom prst="rect">
            <a:avLst/>
          </a:prstGeom>
          <a:solidFill>
            <a:srgbClr val="F4F7F6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377439"/>
            <a:ext cx="64008" cy="448056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68879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75F5C"/>
                </a:solidFill>
                <a:latin typeface="Arial"/>
              </a:rPr>
              <a:t>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468879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/>
              </a:rPr>
              <a:t>All in-scope nozzles measured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80360"/>
            <a:ext cx="6035040" cy="448056"/>
          </a:xfrm>
          <a:prstGeom prst="rect">
            <a:avLst/>
          </a:prstGeom>
          <a:solidFill>
            <a:srgbClr val="F4F7F6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64008" cy="44805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97180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Arial"/>
              </a:rPr>
              <a:t>Warning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297180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/>
              </a:rPr>
              <a:t>2 findings missing photo 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83280"/>
            <a:ext cx="6035040" cy="448056"/>
          </a:xfrm>
          <a:prstGeom prst="rect">
            <a:avLst/>
          </a:prstGeom>
          <a:solidFill>
            <a:srgbClr val="F4F7F6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383280"/>
            <a:ext cx="64008" cy="44805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47472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Arial"/>
              </a:rPr>
              <a:t>Warning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4747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/>
              </a:rPr>
              <a:t>Roof UT: 3 plates not yet entered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886200"/>
            <a:ext cx="6035040" cy="448056"/>
          </a:xfrm>
          <a:prstGeom prst="rect">
            <a:avLst/>
          </a:prstGeom>
          <a:solidFill>
            <a:srgbClr val="F4F7F6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886200"/>
            <a:ext cx="64008" cy="448056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977639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75F5C"/>
                </a:solidFill>
                <a:latin typeface="Arial"/>
              </a:rPr>
              <a:t>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3977639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/>
              </a:rPr>
              <a:t>MFL report attached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389120"/>
            <a:ext cx="6035040" cy="448056"/>
          </a:xfrm>
          <a:prstGeom prst="rect">
            <a:avLst/>
          </a:prstGeom>
          <a:solidFill>
            <a:srgbClr val="F4F7F6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389120"/>
            <a:ext cx="64008" cy="448056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480559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  <a:latin typeface="Arial"/>
              </a:rPr>
              <a:t>Info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4480559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/>
              </a:rPr>
              <a:t>Precise location pending for 1 finding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965192"/>
            <a:ext cx="6035040" cy="457200"/>
          </a:xfrm>
          <a:prstGeom prst="rect">
            <a:avLst/>
          </a:prstGeom>
          <a:solidFill>
            <a:srgbClr val="DCEFE9"/>
          </a:solidFill>
          <a:ln w="8890"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5663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5F5C"/>
                </a:solidFill>
                <a:latin typeface="Arial"/>
              </a:rPr>
              <a:t>Fix on site = no surprises during report generation.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24544" y="758952"/>
            <a:ext cx="2455529" cy="5303520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69680" y="685800"/>
            <a:ext cx="2455529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12_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6255" y="768096"/>
            <a:ext cx="2382377" cy="5138928"/>
          </a:xfrm>
          <a:prstGeom prst="rect">
            <a:avLst/>
          </a:prstGeom>
        </p:spPr>
      </p:pic>
      <p:pic>
        <p:nvPicPr>
          <p:cNvPr id="36" name="Picture 35" descr="laiq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4350" y="6336792"/>
            <a:ext cx="632849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/>
              </a:rPr>
              <a:t>REPORT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5F5C"/>
                </a:solidFill>
                <a:latin typeface="Arial"/>
              </a:rPr>
              <a:t>Structured Export — Report Ready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430000" cy="27432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Every field captures maps directly to a report section.  No re-keying.  No reconstruction from memory.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9235440" cy="42062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92807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Report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892807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Source in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1892807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Format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49424"/>
            <a:ext cx="92354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13432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Tank / Client Header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313432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Inspection Setup fields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1343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JSON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670048"/>
            <a:ext cx="9235440" cy="420624"/>
          </a:xfrm>
          <a:prstGeom prst="rect">
            <a:avLst/>
          </a:prstGeom>
          <a:solidFill>
            <a:srgbClr val="F4F7F6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734056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Shell Plate Thickness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2734056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Shell UT (strake × bearing)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73405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CSV + JSON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090672"/>
            <a:ext cx="92354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154680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Roof Plate Thickness 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3154680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Roof UT (plate × A–E)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154680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CSV + JSON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511296"/>
            <a:ext cx="9235440" cy="420624"/>
          </a:xfrm>
          <a:prstGeom prst="rect">
            <a:avLst/>
          </a:prstGeom>
          <a:solidFill>
            <a:srgbClr val="F4F7F6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575304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Shell Nozzle UT 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3575304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Shell nozzle (12/3/6/9)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575304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CSV + JSON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931920"/>
            <a:ext cx="92354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995928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Roof Nozzle UT 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3995928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Roof nozzle (N/E/S/W)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995928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CSV + JSON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352544"/>
            <a:ext cx="9235440" cy="420624"/>
          </a:xfrm>
          <a:prstGeom prst="rect">
            <a:avLst/>
          </a:prstGeom>
          <a:solidFill>
            <a:srgbClr val="F4F7F6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416552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Findings Register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4416552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Type, severity, location, photo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41655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JSON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773168"/>
            <a:ext cx="92354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837176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Shell Plate Layout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7639" y="4837176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Precise shell coordinates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83717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JSON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193792"/>
            <a:ext cx="9235440" cy="420624"/>
          </a:xfrm>
          <a:prstGeom prst="rect">
            <a:avLst/>
          </a:prstGeom>
          <a:solidFill>
            <a:srgbClr val="F4F7F6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257800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MFL Section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77639" y="5257800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Contractor, reference, coverage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5257800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JSON + attachment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13264" y="758952"/>
            <a:ext cx="2455529" cy="5303520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058400" y="685800"/>
            <a:ext cx="2455529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13_ex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976" y="768096"/>
            <a:ext cx="2382377" cy="5138928"/>
          </a:xfrm>
          <a:prstGeom prst="rect">
            <a:avLst/>
          </a:prstGeom>
        </p:spPr>
      </p:pic>
      <p:pic>
        <p:nvPicPr>
          <p:cNvPr id="46" name="Picture 45" descr="laiq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4350" y="6336792"/>
            <a:ext cx="632849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  <a:latin typeface="Arial"/>
              </a:rPr>
              <a:t>MARKET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5F5C"/>
                </a:solidFill>
                <a:latin typeface="Arial"/>
              </a:rPr>
              <a:t>Why Now — and Who Buys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430000" cy="274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669280" cy="1627632"/>
          </a:xfrm>
          <a:prstGeom prst="rect">
            <a:avLst/>
          </a:prstGeom>
          <a:solidFill>
            <a:srgbClr val="F4F7F6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64008" cy="16276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270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1E"/>
                </a:solidFill>
                <a:latin typeface="Arial"/>
              </a:rPr>
              <a:t>API 653 scrutiny tightening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▸  Regulators want structured finding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6829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▸  Traceability across cycles — PDFs not sufficient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5669280" cy="1627632"/>
          </a:xfrm>
          <a:prstGeom prst="rect">
            <a:avLst/>
          </a:prstGeom>
          <a:solidFill>
            <a:srgbClr val="F4F7F6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417320"/>
            <a:ext cx="64008" cy="16276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5270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1E"/>
                </a:solidFill>
                <a:latin typeface="Arial"/>
              </a:rPr>
              <a:t>Inspection workforce attrition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9659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▸  Experienced inspectors are retiring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36829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▸  Guided tools encode good practice into the workflow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46120"/>
            <a:ext cx="5669280" cy="1627632"/>
          </a:xfrm>
          <a:prstGeom prst="rect">
            <a:avLst/>
          </a:prstGeom>
          <a:solidFill>
            <a:srgbClr val="F4F7F6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246120"/>
            <a:ext cx="64008" cy="16276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558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1E"/>
                </a:solidFill>
                <a:latin typeface="Arial"/>
              </a:rPr>
              <a:t>CMMS &amp; digital twin demand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9475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▸  Asset platforms need structured inspection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9709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▸  Most data still arrives as PDFs — that gap is the opportunity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5669280" cy="1627632"/>
          </a:xfrm>
          <a:prstGeom prst="rect">
            <a:avLst/>
          </a:prstGeom>
          <a:solidFill>
            <a:srgbClr val="F4F7F6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3246120"/>
            <a:ext cx="64008" cy="16276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3558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1E"/>
                </a:solidFill>
                <a:latin typeface="Arial"/>
              </a:rPr>
              <a:t>Mobile hardware is 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79475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▸  Rugged tablets / IP67 phones are now field standard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19709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▸  Only barrier left: a workflow that matched the field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120640"/>
            <a:ext cx="11247120" cy="1508760"/>
          </a:xfrm>
          <a:prstGeom prst="rect">
            <a:avLst/>
          </a:prstGeom>
          <a:solidFill>
            <a:srgbClr val="DCEFE9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1937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75F5C"/>
                </a:solidFill>
                <a:latin typeface="Arial"/>
              </a:rPr>
              <a:t>Who buys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577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/>
              </a:rPr>
              <a:t>▸  Independent inspection companies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7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Reduce report turnaround  ·  Differentiate on data 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5577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/>
              </a:rPr>
              <a:t>▸  Oil &amp; gas operators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Standardise across sites  ·  Enable trend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01675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/>
              </a:rPr>
              <a:t>▸  Inspection consultancies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47287" y="60167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Replace bespoke Excel templates with a supported product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601675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/>
              </a:rPr>
              <a:t>▸  Certification bodies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7" y="60167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Audit-ready traceability  ·  Structured finding evidence</a:t>
            </a:r>
          </a:p>
        </p:txBody>
      </p:sp>
      <p:pic>
        <p:nvPicPr>
          <p:cNvPr id="36" name="Picture 35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4350" y="6336792"/>
            <a:ext cx="632849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37160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/>
              </a:rPr>
              <a:t>LET'S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5F5C"/>
                </a:solidFill>
                <a:latin typeface="Arial"/>
              </a:rPr>
              <a:t>Four questions to start the conversation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430000" cy="27432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247120" cy="1115568"/>
          </a:xfrm>
          <a:prstGeom prst="rect">
            <a:avLst/>
          </a:prstGeom>
          <a:solidFill>
            <a:srgbClr val="F4F7F6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64008" cy="111556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75F5C"/>
                </a:solidFill>
                <a:latin typeface="Arial"/>
              </a:rP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90472"/>
            <a:ext cx="9966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1E"/>
                </a:solidFill>
                <a:latin typeface="Arial"/>
              </a:rPr>
              <a:t>How many hours does your team spend writing the report after leaving site?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659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2625E"/>
                </a:solidFill>
                <a:latin typeface="Arial"/>
              </a:rPr>
              <a:t>Every hour saved on report writing is an hour back in the field or billable on the next job.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24328"/>
            <a:ext cx="11247120" cy="1115568"/>
          </a:xfrm>
          <a:prstGeom prst="rect">
            <a:avLst/>
          </a:prstGeom>
          <a:solidFill>
            <a:srgbClr val="F4F7F6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24328"/>
            <a:ext cx="64008" cy="111556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1576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75F5C"/>
                </a:solidFill>
                <a:latin typeface="Arial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697480"/>
            <a:ext cx="9966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1E"/>
                </a:solidFill>
                <a:latin typeface="Arial"/>
              </a:rPr>
              <a:t>Can you tell me exactly where that corrosion indication was in your 2021 inspection?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172968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2625E"/>
                </a:solidFill>
                <a:latin typeface="Arial"/>
              </a:rPr>
              <a:t>Precise, repeatable coordinates make cross-cycle trending possible.  Prose descriptions don't.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31336"/>
            <a:ext cx="11247120" cy="1115568"/>
          </a:xfrm>
          <a:prstGeom prst="rect">
            <a:avLst/>
          </a:prstGeom>
          <a:solidFill>
            <a:srgbClr val="F4F7F6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831336"/>
            <a:ext cx="64008" cy="111556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2277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75F5C"/>
                </a:solidFill>
                <a:latin typeface="Arial"/>
              </a:rP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904488"/>
            <a:ext cx="9966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1E"/>
                </a:solidFill>
                <a:latin typeface="Arial"/>
              </a:rPr>
              <a:t>How many Excel templates do your inspection contractors submit — and how long to normalise them?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79976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2625E"/>
                </a:solidFill>
                <a:latin typeface="Arial"/>
              </a:rPr>
              <a:t>One structured export format from every inspection = no normalisation before analysis.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038344"/>
            <a:ext cx="11247120" cy="1115568"/>
          </a:xfrm>
          <a:prstGeom prst="rect">
            <a:avLst/>
          </a:prstGeom>
          <a:solidFill>
            <a:srgbClr val="F4F7F6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038344"/>
            <a:ext cx="64008" cy="111556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129783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75F5C"/>
                </a:solidFill>
                <a:latin typeface="Arial"/>
              </a:rPr>
              <a:t>Q4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111496"/>
            <a:ext cx="9966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1E"/>
                </a:solidFill>
                <a:latin typeface="Arial"/>
              </a:rPr>
              <a:t>When your best inspector retires, where does their inspection knowledge live?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586983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2625E"/>
                </a:solidFill>
                <a:latin typeface="Arial"/>
              </a:rPr>
              <a:t>A guided workflow encodes good practice into the tool — not just the person holding the clipboard.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291072"/>
            <a:ext cx="11247120" cy="38404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36422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LAIQ  ·  Upskill People   ·   Uplift the Standard   ·   Uptime   ·   Tank Inspection Copilot</a:t>
            </a:r>
          </a:p>
        </p:txBody>
      </p:sp>
      <p:pic>
        <p:nvPicPr>
          <p:cNvPr id="29" name="Picture 28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4350" y="6336792"/>
            <a:ext cx="632849" cy="2926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